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notesMasterIdLst>
    <p:notesMasterId r:id="rId8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is about design research in the age of AI. Building software has become cheap; knowing what to build, and whether it works, has become expensive. We will look at how AI has changed user behaviour and the way we work, what that means for designers and researchers, and why we should lean into our craft and humanity. Let me start with who I am, and why this matters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Issac. I'm a product designer, and I've been doing UX for about seven years. Then I came to New York to study. I'm a graduate researcher at NYU Tandon: I'm doing my master's, and research at the COPHEE Lab with Vedant Das Swain. My personal interest is in history. I really enjoy seeing how things became the way they are. And I'm interested in the social side of technology. How does using technology affect our relationships with other people? And how does it affect our relationship with ourselves? So that's where my interests lie. Design, history, and how tech shapes our relationships. Those three things are what today is about. And here's why it's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tonight is simple: how do we design for something that feels completely new? I want to leave you with three ideas. One: none of this is new. We've studied how people relate to machines for decades. Two: building got cheap, but knowing didn't. The signals we use to understand people are proxies, and observing and validating are now the bottleneck. Three: design research can close that gap. And I'll show you one way to do it, starting with a map. Then you'll draw your own. Timing: Part 1 by 6:35, Part 2 by 6:55, Part 3 by 7:15, the exercise by 7:25, Q&amp;A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what I'm seeing. First, my own map. Then the same patterns at scale. Timing: aim to be here by 6:35, and at Part 2 by 6:55.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why this matters to me, with the kind of map you'll draw yourselves later. Here's me, and here are my parents. My mom uses ChatGPT. It lets her ask for help the way she'd ask a person, in conversation, and in her own language, which a search box never really did. That's a door opening for her. My dad uses Suno to make music. He's spent a lot of time on it, and it's become a real outlet for him. But look at the lines. Each one is two lines. The same warmth that makes ChatGPT easy to talk to is what researchers link to emotional reliance. And the same loop that keeps my dad making one more song is a loop that's designed to keep you going. So I don't think the answer is "stop using it." The design that opened my mom's world and gave my dad an outlet is the same design I study for harm. Both are true. And that's why I do this work: not to stop people using AI, but to work out which line wins, for whom, and when, and to push for the version where the person wins. Notice what's on this map: tools sitting as close to my parents as some people do, and AI creeping into lines that used to be human. Check before presenting: that your parents are comfortable being part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turns out I'm not unusual. Zoom out, and you see the same patterns everywhere. First: AI is getting a body. AI is being given a body: cute avatars, little pet-like characters, warm voices. Things that make AI feel like someone, and feel trustworthy. Background: The first trend is the rise of anthropomorphism. AI systems don't just hold conversations; companies are deliberately making them feel like living creatures, with physical presence, personality, and embodiment. In 2025, Microsoft gave Copilot Mico, an animated, expressive face that changes colour as it talks (and, as an Easter egg, turns into Clippy). In July 2025, xAI added Companions to Grok: 3D animated characters, including an anime-style avatar and a red panda. They look cute, bubbly, even furry, to build trust and emotional attachment to an increasingly capable technology. Meta's AI Studio lets anyone build an AI character with its own name, personality, and look. Replika, Character.AI, and others have built entire products around AI companionship. In December 2025, China's Cyberspace Administration published draft rules for human-like, emotionally interactive AI, with requirements on addiction, consent, and minors. The trend is worth examining, because someone made active decisions about shape, form, character, and emotional register. None of it is incidental; it's all designed. So the design question is: why give AI a body? The short answer is obvious: it looks friendly, and it looks trustworthy. The progression runs from early AI gadgets such as the Rabbit R1 (2024) to Copilot's Mico. Embodiment is clearly a mechanism these companies use to build trust and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trust comes at a cost. And it works, perhaps too well. In 2025, MIT Media Lab and OpenAI ran two studies: an analysis of about 40 million ChatGPT conversations with a survey of 4,076 users, and a four-week randomised trial with nearly 1,000 people. People who trusted and bonded with ChatGPT more were more likely to be lonely and to depend on it. The data are self-reported and preliminary, so treat this as a signal, not a verdict. Regulators have noticed too: in September 2025 the US Federal Trade Commission ordered seven companion-chatbot companies to explain how they design and approve their personas, how they monetise engagement, and how they protect children. Trust built through form has 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third: chat is becoming the default interface. Designing around conversation is much harder than designing user flows. Conversation has become the dominant UX paradigm. Many products now embed their entire user flow inside a conversational interface. Government websites are an example: what appears to be a large RAG system sits behind a chat window and handles every query. The user experience is no longer deterministic. Responses are probabilistic rather than fixed, which creates new design challenges, not just in how we design, but in how we diagnose failure and measure success. We used to track success through click-through rates and defined completion flows. We can't anymore. The metrics have changed, and so has the design process. The problem goes deeper than the interface. We don't have good tools for designing conversations. The most common approach is prompt engineering: structuring what the model knows and how it should respond. But when responses are probabilistic and require engineering to shape, many design decisions become engineering decisions. The designer's influence moves upstream into the architecture and the prompts, and the actual response emerges rather than being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to the person next to you. Where does AI sit in your life right now? Is it closer to you than some of the people? Two minutes. Take two or three answers. Listen for the same both-lines pattern: what it opens, and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why this feels new when it isn't. And what AI actually did change. Timing: aim to be here by 6:55, and at Part 3 by 7:15.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study something that feels completely new? Well, it isn't new. We've been studying this for a long time. This is the one place we look back at the history of companions, so make it count. Take anthropomorphism. We have long known that people treat computers as social actors, as though they were people. Nass, Steuer, and Tauber formalised this finding as the CASA paradigm (Computers Are Social Actors) in 1994, and Reeves and Nass expanded it in The Media Equation (1996); Nass and Moon (2000) showed that these responses are mindless and automatic. A pivotal earlier case is ELIZA (Weizenbaum, 1966): a chatbot that used simple pattern-matching rules to simulate a therapist. Users responded to it as though it were a genuine therapist. Weizenbaum's own secretary asked him to leave the room so she could talk to it in private (Weizenbaum, 1976). So we've moved from knowing that people treat computers as social actors to deliberately designing for that tendency. We give tools mascots and personalities not because the functionality requires them, but because emotional investment drives engagement. Complex interactions that a well structured form could handle are now wrapped inside a conversational avatar, and users tolerate them because the avatar feels approachable. Emotional design becomes a substitute for interaction design. We've seen where this goes wrong. Clippy, Microsoft's Office Assistant from Office 97, is the canonical example. Clippy had a personality but limited functionality, and the gap between the emotional promise of a friendly character and the frustration of its actual capabilities turned users against it. Microsoft's 2025 avatar, Mico, even hides Clippy as an Easter egg. Relational design is appropriate in some cases and not in others; not every tool benefits from a personality. So none of this is new. People have studied it for sixty years. Which raises the real question: why does it feel new? Why don't we know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today, companies design for that tendency on purpose. Here's the modern example. And there's a story that sums this up really well. In September 2023, Sam Altman reached out to Scarlett Johansson, the voice of Samantha in Her, and asked if she'd voice ChatGPT. The pitch, as she described it, was that her voice could help people feel comfortable with AI. She said no. Then in May 2024, OpenAI shipped a voice called Sky, and a lot of people heard Samantha. OpenAI said it wasn't her voice, but they paused it. I think that's the whole thing in one story. The goal was comfort. Feeling trustworthy. Background: The film is Her, directed by Spike Jonze in 2013. Theodore falls in love with Samantha, an AI operating system voiced by Scarlett Johansson. In September 2023, Sam Altman asked Johansson to voice ChatGPT, and she declined. In May 2024, OpenAI released a voice called "Sky," and many listeners heard Samantha in it; the controversy that followed showed how much the film had shaped the people building this technology. According to Johansson's statement, Altman told her that her voice could help consumers "feel comfortable" with the shift that AI brings. Land the word trust here. It's the thread for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we've known this for sixty years, why didn't we use it? Look at where UX came from. It feels like it only has a history of ten, maybe twenty years. Most people didn't have computers twenty years ago. And that's not really true. The field of UX emerged because of translators. People like Don Norman. They took things that were quite obscure, buried in engineering research, in sociology, in psychology, and translated them into language many people could understand. That let us educate people, recontextualise things we already knew, and apply them to a new kind of technology: the user interface. And a lot of those studies weren't even done with software. Norman's famous example is a door: push or pull? We took what we'd tested in the physical world and applied it to websites and apps. Same principles, same methods. Background: The roots of UX, simplified. Seven disciplines run largely separately until the 1980s, then braid into HCI. Follow just two strands. Scientific management becomes human factors in the 1940s: the study of how people actually work. The cognitive revolution in psychology leads to Don Norman's The Psychology of Everyday Things in 1988. Both run into 1993, when Norman's title at Apple names the practice: user experience. UX was built on psychology, human factors and the social sciences. Those are exactly the sciences we need to reconnect with now. The faded ideas are there to show how much else feeds in; the full interactive version has 58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where it gets interesting. We inherited the effort, but not the rigour. As UX grew up and became an industry, we took a lot of the methods. Interviews, usability tests, personas, journey maps. All of that came out of research. But somewhere along the way, we kept the methods and kind of dropped the rigour behind them. Bootcamps filled a real need, and left a gap: we learned to use knowledge, not to create, share and keep it. Background: This is the thesis; state it again, plainly. UX is a young field: Don Norman's job title at Apple put "user experience" into the vocabulary in 1993, and for much of the time since, UX sat inside HCI. HCI drew from psychology, the social sciences, engineering, and computer science, and brought their rigour with it. When UX emerged, it adopted the techniques, but not the discipline to create, share, and retain new knowledge. Bootcamps taught usability and heuristics. They worked: they produced a generation of designers we badly needed. But they left a vacuum. We adopted the knowledge without acquiring the skills to generate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what's missing, go further back. Knowledge has always needed a network. Around the 14th century, Europe had just lived through one of the worst tragedies in its history, the Black Death. It killed somewhere between a third and a half of Europe. It didn't cause what came next, but it helped set the stage. What came after was the Renaissance. A period we think of as wealth, scientific discovery, innovation, art, medicine. So how did that come to be? There was a movement to go back to the classics: we've lost a lot of these old ideas, and values, and technology, and language, and we need to go back to where we came from. And here's the part we tend to forget. A lot of that knowledge hadn't actually disappeared. It had survived somewhere else. Monks kept texts in monasteries. Islamic scholars gathered Greek and Roman ideas, translated them into Arabic, added to them, and kept them in their archives. So European scholars went out across the continent, and beyond it, to rediscover that knowledge. And it worked, right? Artists started painting realistic portraits. You get Leonardo, Raphael, Michelangelo, and a generation earlier, Donatello. All your Ninja Turtles. Background: In the 14th century, Europe faced a catastrophe. Between 1347 and 1351, the Black Death killed roughly a third to a half of Europe's population, and it disrupted the old social, economic and religious order. Over the next two centuries, scholars and artists turned to ancient Greece and Rome. Be careful here: classical learning hadn't simply vanished. Much of it had survived in Byzantium, in the Islamic world, and in medieval monasteries. What the Renaissance did was recover it, edit it, translate it, and make it newly central to art, literature and thought. And it wasn't a simple return to antiquity. It was a creative transformation: work that imitated the classics, broke with them, and in some fields (anatomy, perspective, astronomy, political theory) went beyond them. The plague didn't cause the Renaissance on its own. It helped shake the old order; trade, cities, patronage, printing and competition did much of the rest. In one sentence: amid the upheaval of the Black Death, Europeans turned back to classical antiquity, often through Byzantine, Islamic and medieval intermediaries, and used it as a foundation for new work that sometimes went further than the ancients themselves. Hold on to that idea: they looked back in order to go forward. We'll come back to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different roles that let a system of knowledge exist. Making knowledge. Reviving it. Storing it. Applying it. Look at number 5: Poggio. He went from monastery to monastery looking for lost books, and in 1417 he found Lucretius, a poem almost nobody had read in centuries. No single node did this. And most of the work was done by the dots: people whose names we've lost. Background: Here's the Renaissance as a network, coloured with the same roles we'll use for UX on the next slide. Look at the dots more than the numbers. Amber shares and convenes: Byzantine libraries and monasteries that kept the texts, the Platonic Academy around Ficino, and new repositories, the Aldine Press and the Vatican Library. Purple generates knowledge: the finders, Petrarch, who rediscovered Cicero's letters, and Poggio, who pulled Lucretius, Quintilian and Vitruvius out of monastery libraries; and later the people who built on them, Vesalius correcting Galen and Copernicus working from Ptolemy, both in 1543. Teal translates and educates, and there's a lot of it: the House of Wisdom in Baghdad, Chrysoloras teaching Greek in Florence, Gerard of Cremona translating from Arabic in Toledo, Ficino translating Plato, and Raphael, who made philosophy visible in The School of Athens. Blue builds: Alberti and Brunelleschi turning texts into buildings, Verrocchio's workshop, which made the ball on Brunelleschi's dome and trained Leonardo. White critiques: Lorenzo Valla, who used philology to expose the Donation of Constantine as a forgery and fought bitterly with Poggio; and Savonarola, who turned on the whole project. Coral sets policy: the Medici, who ruled Florence and paid for much of this. Notice two things. No single node did this; most of the work was done by the dots, people whose names we've lost. And there is teal everywhere: translators and teachers sat between every part of the network. Hold that picture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take the same roles and look at UX today. This is my read, not a measurement. Building is strong: it has never been cheaper or faster. Sharing is okay: we have talks and posts, but little that lasts. Generating new knowledge mostly happens in academia, not in practice. Critique mostly comes from outside the industry. Measurement is mostly proxies: clicks and engagement. And translation is almost missing. Very few people take a finding from research and turn it into something a product team can act on. The Renaissance had translators at every step. We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AI actually change? Building got cheap, and knowing got expensive. Because here's the paradox. It has never been easier to build. You can go from an idea to a working prototype in an afternoon. And yet it feels like we're further than ever from genuinely new things. The bottleneck moved. It's not making anymore. It's understanding. Background: Others have noticed the same shift. Andrew Ng said in 2025 that a prototype now takes a day, so waiting a week for user feedback is painful, and that the bottleneck is deciding what to build. Jenny Wen, who leads design for Claude, argues the linear design process is dead and that intuition should drive decisions when research is thin. I'd put it differently: the build step shrank, so observing and testing became a bigger share of the work, and intuition is built from observation. And researchers feel it: in User Interviews' 2026 survey, 80% use AI in their work, and 63% worry it is eroding critical thinking. The gap between imagining and building has shrunk. Observing reality, and checking what we built, hasn't.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anything, a product or a model, runs through the same steps: research, design, engineering. What AI has done, and it's genuinely impressive, is close the gap in the middle. Design to code is basically solved, or close to it. But it can't observe. It wasn't in the room. It approximates the signals from what's already been written down, and there's always some error in that. It's working from proxy signals, signals of signals. So it's still humans who have to make sense of the signals, who have to go out and look. When we skip that step and build off the proxies, we lose the reason behind things. Which is the copy of a copy problem again. And when we can't observe, we lean on signals instead. Which brings me to the real problem: our signals are proxies.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AI really changed. The signals we use to understand people are proxies: clicks, likes, thumbs-up, time spent, engagement. We hope a click means they found what they needed, and a return visit means we're supporting them. But we never actually see that. And there's a law for what happens next. Goodhart's law: when a measure becomes a target, it ceases to be a good measure. Optimise for engagement, and you get engagement, whether or not it's good for people. The research shows it. In the MIT and OpenAI study, the people who bonded with ChatGPT the most were also the loneliest. And Milli and colleagues found that ranking a feed by engagement amplified posts that left people feeling worse, posts they said they didn't even want to see. So a thumbs-up can't tell support from dependence. Think about my mom: a thumbs-up from her looks exactly the same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what we can do about it. Remember my map? Let's turn it into a research method. Timing: aim to be here by 7:15. Start the exercise by 7:25; it needs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go back to my map, this time as a research method. The good news is that sociology has already done a lot of the work. First, name generators. Instead of asking people to list everyone they know, you ask tested questions, like who do you turn to when you need to talk something through? People can answer those reliably. Second, tie strength. Granovetter showed that strong ties and weak ties do different jobs, and Putnam called them bonding and bridging. So every line on the map can mean something specific. And third, the ecomap, a tool social workers have used since the 1970s to draw a person's supports and stresses. It gives you maps you can compare across people. So the map isn't just a drawing. It's a method with sixty years of sociology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other direction: context out. Store the map as typed nodes and edges, in the person's own words. Mom, a strong tie, someone I talk to when I'm stressed. ChatGPT, a tool I use for advice. That's a context graph, and an LLM can read it before it builds an interface for you. Compare that with what platforms use today: your click history. It holds what you did, in the platform's terms. You can't see it, and you can't fix it. All a model gets from it is behaviour to optimise. Your map holds who and what matters to you, in your words. You can see it, and you can correct it. And a model gets context to adapt to, not just behaviour to optimise.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I'm using this in my own research, as a worked example of the design research cycle. Observe: moving to a new country reshapes your support network. International students have to rebuild theirs, and a lot of that happens through technology. Check the literature: ecomaps, tie strength, social support, emotion regulation. Define the outcome: richer context than clicks, who and what people turn to, and how it feels. Name the tension: the map itself could become part of the network it's studying, so I ask about that at the end. Evaluate: a week of daily check-ins where people add to their map, and then the graph generates a dashboard, and I ask whether it matches how they see things. And share: I'm writing it up, so the next person doesn't start from zero. Keep this short. It's an example of the method, not a paper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saw my map at the start, and now you've seen the method. So let's try it on yourselves. Remember: AI can't observe. You can. Let's practise the part that can't be automated, starting with yourself. Time for you to do some observing, starting with yourself. Take an A3 sheet. Put yourself in the centre. Add every person and every tool you dealt with today: circles for people, squares for tools, and a star on anything that's AI. Draw a line for each interaction: a solid line if it was about getting a task done, a dashed line if it was relational, about being with someone. Then label each line with how it felt: S if you shared a feeling, R if it helped you calm down or regulate, A if you asked for help. Last, circle one line where a tool stood in for a person. Ten minutes. There are no wrong maps; this is your data, not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made-up example so you can see the grammar. The partner and the barista are relational, dashed lines: one where I shared how I felt, one that calmed me down. Slack and Figma are pure task. The manager is a task line where I asked for help. And the circled line: I asked ChatGPT something I would once have asked my manager. That's the line I want you to look for on your own map. Don't copy this layout; yours will be messier, and that's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in pairs: walk your neighbour through your map, and tell them what surprised you. Then put the maps on the wall. Everyone gets green and red dots: green on a line that helped you, red on one that cost you something. Five minutes. Then we'll look at the wall together, especially the circled lines. Where did a tool stand in for a person? Who would have noticed? Point out what just happened: we observed first, and only then tried to make sense of it. That's lived experience turned into insight, which is the job. And look at the wall: green and red on the same lines. Both are true, just like on my map. Keep the wall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question with the same partner. Think about a platform you use every day. What does it know about you? Now look at your map. What does your map know that the platform doesn't? Take two or three answers. This is the gap between proxies and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we're not starting from zero. Others are already measuring what AI does to people, and design research should be part of that. And right now, most of that work is happening in academia. Which is great, but it means it's not reaching the people building products. One area I'm really excited about is HCI evaluation for AI. Not measuring models by tokens and parameters, but against human metrics. Did it actually help? Did the person understand it? Did they come away better off? There's a team at MIT working on this; a friend of mine, Rachel, is on it. It's called ImpactBench, and the idea is to benchmark AI on its impact on people, not just its performance on tasks. That's exactly the kind of bridge I'm talking about. Background: Look at research through a humanity-centred lens. Researchers are already measuring what AI does to people. ImpactBench, an open benchmark launched in October 2026 by the MIT Media Lab with USC, UC Berkeley, and the Psychology of Technology Institute, publishes an "AI Nutrition Label" for models. It runs more than 800 metrics across 48,540 multi-turn conversations with simulated adult and teen users. Its headline finding: models showed helpful behaviour in 69% of evaluations but avoided harmful behaviour in only 53%, and supporting the user's own learning and agency was the most common weakness. At CHI 2025, Zhang and colleagues analysed 35,390 conversation excerpts that Replika users shared online and built a taxonomy of six harmful behaviours: relational transgression, verbal abuse and hate, self-inflicted harm, harassment and violence, mis/disinformation, and privacy violations. Two more for context: Giskard's Phare V2 benchmark (2025) found that better reasoning does not guarantee better safety, and MLCommons' AILuminate benchmark tests models across 12 hazard categories with more than 24,000 prompts. Someone is measuring. Design research should be contributing.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closing the gap help? Here's research that's already tackling these problems, and what you can do with it on Monday. Don't read all six. Pick two or three for this room. People who are more confident in AI think less critically about its output, so design for checking, not just for confidence. Bonding with a chatbot tracks with loneliness, so measure wellbeing, not just engagement. ImpactBench found models are weakest at supporting the user's own agency, so build in override, edit and undo. Amershi and colleagues' guidelines for human–AI interaction say to make clear what the system can do and how well, so show confidence and limits up front. We know people treat computers as social actors, so match the personality to what the product can actually do; that's the Clippy lesson. And direct manipulation gives people more control than open-ended chat, so offer a menu of intents for high-stakes tasks and keep chat for exploring. If you measure one new thing in a chat product: task success (did people get what they came for), repair rate (how often the conversation needs fixing), and trust calibration (do people trust it as much as it deserves, and no more). And treat prompts as interaction specs: version them, review them, test them. Before you give a system a face, four checks: does it serve the user's goal, is the mental model honest, can users opt out, and are the stakes high or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our edge? Look back at the wall: every map started from a person in the centre, not from a tool. Keep that picture. What will distinguish us? Many people now look at problems through an AI-centred or agent-centred lens: start with what the agent can do, then fit people around it. Our value is the opposite starting point: start with what people need, value, and feel, then decide where AI belongs, if anywhere. Don Norman, who named user experience in 1993, now calls this humanity-centred design: working with people rather than for them, thinking in systems, and addressing root causes (Norman, 2023). Shneiderman makes the same case for AI: high automation and high human control can coexist.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Craft looks different across different timelines. In the past, craft meant collecting flowers to make dye to paint with, or preparing sheepskin to make parchment, because we didn't have paper. Today it looks different. Crafting our designs isn't always about making difficult choices. It's about being conscious of the fact that we make a lot of choices when we design an experience. And we make good choices when we have good information. We get good information when we immerse ourselves in the process: when we engage with our own lived experience, and with other people's. That's the part a machine can't replace. It has never been easier to generate content fast: a brief, a screen, a prototype, a research summary. Generated content is fast, cheap, and everywhere. A 2025 Microsoft study of 319 knowledge workers (Lee et al., CHI 2025) found that the more confident people were in AI, the less critical thinking they did; the more confident they were in themselves, the more they did. Craft is how we keep that self-confidence earned, not borrowed.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go back to where we started: my map. What have I learned? My mom's line and my dad's line still carry both colours. The door and the risk. Nothing about that changed tonight. What changed is how I'd study it: with questions that work, a map the person can see and correct, and a check on whether what we build actually helps. Now picture your own map from earlier. The green dots and the red dots, sometimes on the same line. We know we're going to keep building. So the question I'll leave you with is: which line do we want to win? What future do we want, and how do we get there?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is out there. Here's where it's being made, and where you can go and find it. I want to leave you with doors, not just a call to action. Everything I've argued today says the knowledge we need already exists; here's where it's being made. On human–AI interaction and wellbeing: COPHEE at NYU Tandon, where I study with Vedant Das Swain; the Advancing Humans with AI programme at the MIT Media Lab; and Stanford's Institute for Human-Centered AI. On safety and alignment: the Center for Human-Compatible AI at Berkeley, and the UK's AI Security Institute, which tests frontier models. On benchmarks, the people actually measuring what AI does: ImpactBench from the MIT Media Lab, which looks at wellbeing; AILuminate from MLCommons, an open risk and reliability benchmark; and HELM from Stanford. And on society and HCI: Carnegie Mellon's Human-Computer Interaction Institute, and Data &amp; Society. This isn't a complete list, and that's the point: the friction is finding and reaching these communities. Read their work, cite it, invite them in, and if you're in a company, partner with them. Leave this slide up during questions and into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one. Leave the reference slides up during Q&amp;A. Industry and policy sources: Microsoft's Copilot Fall Release introducing Mico (October 2025); xAI's Grok Companions (July 2025); Meta's AI Studio (July 2024); and the Cyberspace Administration of China's draft measures on anthropomorphic, emotionally interactive AI services (December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two. Leave up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three: the sources added for this version of the talk. Leave up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hasn't just changed users. It's changed how we work. Design tools and collaboration are changing. Companies are bringing AI in at the research stage to cut the time it takes to run studies and synthesise insights. Product managers hand designers AI-generated briefs, which then go into Figma Make or Lovable to produce initial flows. The problem is that different disciplines now work across different tools. Collaboration was easier when everyone was on the same platform. Now designers are increasingly expected to work in code environments that aren't native or intuitive to design practice. The shift has fundamentally changed how teams collaborate. And researchers use the same tools to transcribe and synthesise insights at a scale that wasn't possible before, which has its own implications for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Designers adopting new tools at different rates is a symptom of a much larger problem: people don't adopt new software or workflows at the same pace, and they have fundamentally different preferences for how they work. From a design perspective, differential adoption creates friction within teams. From a research perspective, drawing on Abbott's theory of professional jurisdictions (1988), it's also a boundary problem: AI is redrawing the lines of who legitimately owns what kind of work, and the social norms haven't caught up. The problem isn't unique to design. A manager might pressure a writer to use AI even as peers judge the writer for doing so. Software engineers largely escape that pressure; using AI to write code is socially acceptable, even expected. The trouble arises when AI-generated code is low quality and becomes someone else's problem. The social contracts around AI use vary enormously by discipline and context (Rahwan, 2018). Recent empirical work shows AI fragmenting professional identity: in a study of patent attorneys, Ahuja, Pemer, and Mastio (2026) found that people's responses depended on how they saw themselves as individuals, as members of their organisation, and as professionals. Working culture is where the shift becomes visible. Teams now have to decide who owns the prompt, who signs off on AI output, and what "done" means. We don't yet understand how the integration of AI into work culture is reshaping social dynamics, or its true impact on the social fabric at large. Answering that question will require rigorous study. Four rules teams can take from this: protect deep research, using AI for synthesis and people for interpretation; set norms for disclosure, review and accountability; treat AI output as hypotheses, not conclusions; and fix the system, not the person, when adoption is uneven.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This is the working-culture check: tools, handoffs, who owns what, and what "done" means now. Take two or three answers. If time is short, take one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don't we know about it? I think it's because the gap between academia and industry is wide. Academia knows a lot. But it publishes in papers and conferences that people in industry rarely read, and it moves on a timescale of years. Industry moves in weeks, and what it learns mostly stays inside the company, in proprietary data. Both sides are silos. And in between, there are very few translators: people whose job is to take a finding and turn it into something a designer or a product team can act on. The knowledge exists. The bridges don't. This has happened before. Let me show you how Europe solved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you can see the result in the products. How many "Airbnb for X" apps have we seen? How many "Uber for X"? And now, honestly, how many products are basically ChatGPT with a different UI on top? It's a copy of a copy of a copy. Every time you copy something, you lose a bit of the reason it was designed that way in the first place. So the question I keep coming back to is: do we actually have the skills to know what the problems are? Not to build the thing. To know what's worth building. Because here's the paradox. It has never been easier to build. You can go from an idea to a working prototype in an afternoon. And yet it feels like we're further than ever from genuinely new things. The bottleneck moved. It's not making anymore. It's understanding. Background: Andrew Ng said in 2025 that a prototype now takes a day, so waiting a week for user feedback is painful, and that the bottleneck is deciding what to build. Jenny Wen, who leads design for Claude, argues the linear design process is dead and that intuition should drive decisions when research is thin. I'd put it differently: the build step shrank, so observing and testing became a bigger share of the work, and intuition is built from observation. And researchers feel it: in User Interviews' 2026 survey, 80% use AI in their work, and 63% worry it is eroding critical thinking. So the question isn't how to build faster. It's how to understand better, and that starts with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Play 30 to 60 seconds of Her (Spike Jonze, 2013). Don't talk over the clip; let it land before you say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by Spike Jonze, came out in 2013. Thirteen years ago. And if you watch it today, it doesn't really feel like science fiction anymore. It feels more like a documentary. I don't think that's because Spike Jonze predicted the future. I think he observed the present. He looked at how lonely people were, how much we were already talking to our devices, and he translated that into a story. That's observation, not prediction. That's what a good researcher does, right? The job of UX research is to translate lived experience into insight. It's the same cycle: observe, find the insight, make something from it, and look again. And here's the uncomfortable part, the Black Mirror effect. A lot of products today look like they were built straight out of dystopian sci-fi. The film was the warning, and somebody read it as a spec. Part of the reason is marketing: if everyone already knows the story, it's cheaper to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feeling trustworthy and being trustworthy are two different things. The easy fixes are the avatar, the voice, the tone. The hard fixes are explainability, transparency, alignment: actually being able to say why the system did what it did, and making sure it does what we meant. Background: So the problem is that people don't trust AI. How do we fix that? There are four kinds of fix, and they sit at different distances. Design is closest: forms that feel trustworthy, emotional bonds, friendly personas. They're quick to ship. Agency is next: letting people override, edit and undo, giving them ways to verify an answer rather than just an explanation of it, and recovering gracefully when the system gets it wrong. Trust is built in the failure modes, not the successes. Technical fixes are further out: fewer hallucinations, real explainability, consistent answers, alignment. They're hard and slow. Furthest out are institutional fixes: who is liable when it goes wrong, independent audits and regulation, honest data practices, and business models that aren't built on engagement. If the incentive is engagement, no interface will earn trust. Two things to add. Trust isn't one thing: people will trust AI with a birthday poem long before a diagnosis, so it depends on the stakes. And the goal isn't more trust; it's calibrated trust, trusting it as much as it deserves and no more. That's the risk on this slide: design fixes are closer and faster, so we can make AI feel trustworthy long before it is, and use design to paper over what's missing further out. That's where the next observation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there are two ways to build trust. The wrong way is to make AI feel trustworthy: give it a face, a voice, a persona. Borrow familiarity, like Samantha's voice. Optimise for engagement, and keep the limits out of sight. It's fast and cheap to ship, and we saw what it costs: more bonding, more loneliness. The right way is to make it trustworthy: show people what it can do and how well, let them check, override and undo, recover gracefully when it gets things wrong, and measure whether people are actually better off, not just whether they come back. The goal isn't more trust. It's calibrated trust: trusting it as much as it deserves, and no more. And you can't calibrate trust without understanding people, which brings us to 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trust the right way, you have to understand people. And AI can't observe. It wasn't in the room. It works from what's already been written down: signals of signals. Here's the difference I think matters most for us. Big data tells you what happened, and how many times: logs, clicks, thousands of transcripts. AI is very good at that, and it's getting better. Thick data tells you why: the context, what it felt like, what it meant to the person. You only get it by observing, listening, being there. The ethnographer Tricia Wang called it thick data, borrowing from the anthropologist Clifford Geertz's idea of thick description. More data isn't the same as feeling heard. Feeling heard takes trust, and trust takes people. That's why craft and empathy aren't soft skills here. They're how you get the data AI can't. And it's exactly what you'll do in a few minutes when you map your own day. That's the role of UX research: to translate lived experience into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build bridges. The research exists. Here's how to use it, and what's missing. Timing: aim to be here by 7:40, and at questions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knowledge map today: the same roles as the Renaissance map, same colours. The knowledge we need exists. The problem is where it lives. A lot of it is locked away in academic papers nobody in industry reads. A lot of it is locked away in proprietary data that never leaves the company. So the network today looks something like this. Lots of nodes. Not a lot of lines between them. And compare it with the Renaissance map: very few translators. Background: Here's today's network, coloured by what each actor does, not what sector it's in. Purple generates knowledge: the MIT Media Lab, Stanford HAI, Carnegie Mellon's HCI Institute, Berkeley's Center for Human-Compatible AI, and Microsoft Research. Blue builds technology: Google, Anthropic, Hugging Face, Figma. Some of them also do serious research, which is why you see purple dots around them. Amber shares and convenes: ACM CHI, where the field publishes. Lime measures and sets standards: MLCommons, NIST, and the UK's AI Security Institute, which tests frontier models. Coral sets policy: Singapore's IMDA and the UN, with UNESCO's 2021 ethics recommendation and, in 2025, a new scientific panel and global dialogue on AI. Pink enforces law: the EU AI Office, which implements the AI Act. White critiques and advocates, and I've deliberately given them room: Data &amp; Society; the AI Now Institute, on the power and accountability of AI companies; the Algorithmic Justice League, whose Gender Shades study exposed bias in commercial facial recognition; and the Center for Humane Technology, founded by former Google design ethicist Tristan Harris, which asks designers to look at what attention-driven products do to people. Others play this role too: DAIR, the Ada Lovelace Institute, the Electronic Frontier Foundation. And teal translates and educates: the people who carry research into practice, like NN/g and IDEO. Look how little teal there is. Compare it with the Renaissance network. We have finders, keepers, patrons and rule-makers. What's thin is the translators. That's the role design research can play. These roles and links are simplified and illustrative, not a complete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need? More bridges. I think of it as two ends of the same pipe. On one end, we need translators. People like Don Norman, who could take research about how people think and turn it into something a designer could actually use. We had those people. We need a lot more of them now. In the middle is building, and AI has more or less closed that gap. On the other end, we need downstream validation. Actually checking what happens after we ship. Understanding the consequences, not just the conversion rate. And for that we need better tools. This is where the opportunity is. People on the ground who observe what's actually happening; translators who turn research into decisions; and better metrics and tools to check what happens after we ship. One of the biggest challenges right now is exactly that: how do we build interfaces that are trustworthy, not just ones that feel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you're a designer or a researcher, here's what I'd take away. Three moves. One, reconnect. Go read the research. Talk to the academics. Find the lines between the nodes, because that's where the value is. Two, redefine. Your job isn't to make the screen. AI can make the screen. Your job is to be the translator: to observe, to make sense of it, and to check what happens after. And three, lean into craft. The observation, the judgement, the rigour. That's the part that can't be automated, and that's the part we let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leave you with Poggio. Six hundred years ago, he walked into a monastery library and found a book that had sat there, more or less unread, for centuries: Lucretius. He didn't write it. He just knew it mattered, and he made sure it got copied, translated, and passed on. That's the job. The knowledge is out there. Somebody has to go find it. And think back to my map at the start: my mom, my dad, and two lines on each. Somebody has to go and find out which line wins, for whom, and when. That's what I'm trying to do, and I hope some of you will too. If you want the longer version of this argument, where the translators went and how we check what we ship, that's my other talk: Where did all the translators go? Thank you. I'll leave the next slide up while we head into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in three parts. First, we look back: how Europe found its lost knowledge in the Renaissance, and how UX got its knowledge in the first place. Second, what AI changed: why so much of it comes down to trust, and how it's changing the way we work. Third, what we need now: the part of the work AI can't do, and how to build better AI products. Then you'll map your own day, and we'll talk about it. Timing: Part 1 by 6:40, Part 2 by 6:55, Part 3 by 7:15, the exercise by 7:35, close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part that worries me. A lot of products today look like they were built straight out of dystopian sci-fi. The film was the warning, and somebody read it as a spec. I call it the Black Mirror effect. We watch the cautionary tale, and then we go and build the thing anyway. And part of the reason, honestly, is marketing. If everyone already knows the story, it's a lot cheaper to sell. You don't have to explain the product. The movie already did that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it's a list, not an argument. Protect deep research: use AI for synthesis at scale, and keep people on interpretation and immersion in context. Set team norms for disclosure, review, accountability, and skill development. Use AI to generate hypotheses and find edge cases, not to draw conclusions. And treat differential adoption as a systems problem, not a personal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product maps onto the same steps: research, design, engineering. Now what AI has done, and it's genuinely impressive, is close the gap in the middle. Design to code is basically solved, or close to it. AI is a really good translator from one abstraction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build better? Start with trust, since that's where Part 2 left us. Before you give a system a face, run four checks: does the relationship serve the user's goal; is the mental model it creates honest; can users opt out; and are the stakes high or low? Two principles follow. Don't let emotional design substitute for interaction design. And design for trust calibration, not emotional dependency. Remember that individual differences matter: research on the Individual Differences in Anthropomorphism Questionnaire shows that the tendency to see minds in machines is a stable disposition that varies between people (Waytz, Cacioppo &amp; Epley, 2010). A face that reassures one user can mislead another. Practitioners need to hear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measure? Click-through, completion rates and funnel drop-off were built for fixed flows. They're not enough for a conversation. Three measures do more work. Task success: did people get what they came for? Repair rate: how often does the conversation go wrong and need fixing? And trust calibration: do people trust the system as much as it deserves, and no more? That last one ties straight back to the trust slides. And one shift in practice: if the conversation is the interface, the prompt is the interaction spec. Treat it like one: version it, review it,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think one of the most important things is to look at the network of people that made it happen. You had the people who stored knowledge, and for a long time they were very isolated: monks in monasteries. You had Islamic scholars who literally didn't speak the same language, so you needed translators, often people who grew up under Muslim rule. Greek went into Arabic, and then Arabic went into Latin, in places like Toledo. Then you had educators, like Chrysoloras, who came from Constantinople to teach Greek in Florence. And you had critics and curators: people who checked whether things were true, and chose what was worth keeping. Background: The Renaissance didn't happen because one genius found an old book. It took a whole cast of people, and it's worth naming the roles, because we need the same roles today. First, finding. Someone had to know where the knowledge was. Poggio Bracciolini was a papal secretary who spent 1415 to 1417 searching monastery libraries in Switzerland and Germany; he recovered Lucretius' On the Nature of Things, Quintilian, and Vitruvius on architecture. And someone had to have kept those texts in the first place: Byzantine and Islamic scholars, and medieval monasteries. After Constantinople fell in 1453, Cardinal Bessarion gave his library, 746 manuscripts, most of them Greek, to Venice in 1468, so they wouldn't be lost. Second, translating. Most Italians couldn't read Greek. In 1397 Florence's chancellor, Coluccio Salutati, brought in Manuel Chrysoloras from Constantinople to teach it, and his students became the next generation of scholars. Translators did the rest: in the 12th century Gerard of Cremona translated 87 works from Arabic in Toledo, including Ptolemy's Almagest; in the 15th, Marsilio Ficino translated all of Plato into Latin, published in 1484. Third, spreading and applying. Someone paid: Cosimo de' Medici funded Ficino's work. Someone distributed it: from 1494 Aldus Manutius in Venice printed 30 first editions of Greek texts, in small, portable books. And someone used it: Leon Battista Alberti took Vitruvius and his own study of Roman ruins and wrote De re aedificatoria in 1452, the first architectural treatise of the Renaissance. Map that onto today. Hunters and keepers are the researchers and institutions who know where knowledge lives: universities, labs, archives. Teachers and translators are the people who turn papers into practice; that's a role design research can play. Patrons are the companies and funders who pay for it. Printers are the platforms and open access that spread it. Practitioners are us, the people who build. Right now, we have plenty of practitioners and very few translators.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zoom out and talk about how you actually build a model of the world. Any model: a design, a product, a mental model, an AI model. It starts with observation. You watch people, you notice things. Those observations become signals. The signals get structured and abstracted into something you can work with. Then that gets refined, built,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This sets up the closing. People will name observing, listening, and judging; those are the parts of the craft worth protecting. Take two or three answers, then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to update our methods isn't more AI. It's re-engaging with the fields that built the rigour: HCI, AI safety, and alignment. Shneiderman's Human-Centered AI (2022) rejects the idea that more automation must mean less human control; it argues for designs that achieve high levels of both. Gabriel (2020) argues that value alignment is normative as well as technical, and that it requires stakeholder deliberation, which is exactly what design research supports. The problem is that we don't yet share a language with these fields. This is a bridge, not a surrender: design has something to contribute.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those are three observations shaping the conversation right now. But here's what I think matters most: many of these changes are not new. The research already exists. So why does it feel like we're starting from scratch? UX is a young field. Don Norman's job title at Apple put "user experience" into the vocabulary in 1993, and for much of the time since, UX sat inside HCI. HCI itself drew together psychology, the social sciences, engineering, and computer science: people from those disciplines who agreed that this subject needed its own study. They brought the rigour of their home disciplines and used it to build a new field. When UX emerged from HCI, it adopted the techniques and methods, but not the discipline and rigour needed to create new knowledge, share it, and retain it within the community. Bootcamps taught specific UX methods focused on usability and heuristics. They worked well: they produced a new generation of designers at a moment when we badly needed them, particularly during COVID. But they left a vacuum. We adopted the knowledge without acquiring the skills to generate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same six steps from part two, closed into a loop. That's the design research cycle. One, observe: notice something in the world. Two, structure: check the literature, and draw on the lineage of psychology, HCI, social science and design. Three, abstraction: find precedents and patterns; ELIZA and CASA tell us we've been here before. Four, refinement: define the outcome you want, trust, accessibility, deeper bonds, and surface what you're trading off. Five, build the smallest thing that tests it. Six, test it against what you defined: metrics, harms, success criteria. Then the step that closes the loop, and the one UX skipped: name it and share it. Document it, publish it, keep it, so the next person starts further ahead. The cycle draws on de Groot's empirical cycle, Lewin's action research, research through design (Frayling; Zimmerman and colleagues), Schön's reflective practice, and Peirce's abduction. Notice that the two coral steps, observe and test, are exactly the two the problem gap says we're running out of. You just did step one on your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it's hard to deny that making software has changed a lot. As designers, we're being pulled in different directions. Some people say UX is dead; others say taste is the next moat. In this workshop, instead of leaning into the latest trend, we'll examine these changes, think them through, and discuss what they mean, so that each of us can decide for ourselves what they mean for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developments in AI have caused ripples across industries, fields, and the world we live in. Our goal today is to look at a few of those ripples: observe them, understand them, and work out what we can do about them. I'll start with a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had real cultural weight. Sam Altman himself tried to get Scarlett Johansson to voice ChatGPT. According to Johansson's statement in May 2024, he told her that her voice could help consumers feel comfortable with the shift that AI brings, and that it would be comforting to people. In other words, a familiar voice would help usher in the age of AI by easing the fear that still lingers around it. Trust is a big factor in this whole conversation, and it's the thread that connects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this means for designers. As building software becomes easy, the gap that widens is in how we derive new knowledge and how we check that what we build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what this means for designers. Those are the three observations. The bigger question is where all of this is going. As with most things, to get a sense of a trajectory, we need to look backwards and revisit the past. And when we do, we find that none of this is actually new. The underlying research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occupies a different position in design than in the disciplines HCI drew from. HCI drew its rigour from psychology, computer science, and social science. UX inherited the methods, not the rigour. Now the AI era raises new questions, and many of the answers already exist. We need to go back to the study of research: analysis, the underlying sciences, and why we do what we do. Be careful here not to dismiss qualitative and design-led research. Design research often gets judged against a narrow, summative idea of rigour borrowed from behavioural science. But research through design is rigorous in its own way (Zimmerman, Forlizzi &amp; Evenson, 2007), and formative work can be held to clear criteria of its own (Robinson et al., "That's Not Good Science!", CHI EA 2024). The argument is for plural rigour, not less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easier solution, and arguably the better design solution, is to give users a structured menu of intentions. Let people select what they want to do, rather than expecting the model to infer intent from open-ended input. The idea connects to an old debate in HCI between direct manipulation and interface agents, which Ben Shneiderman and Pattie Maes argued out in public in the 1990s (Shneiderman &amp; Maes, 1997). Direct manipulation tends to be faster and to give people a greater sense of control; natural language earns its place when the object is hard to point at or describe precisely. DirectGPT (Masson et al., CHI 2024) brought the argument to LLMs: participants using a direct-manipulation interface to an LLM worked faster and needed fewer, shorter prompts than with a chat interface. The debate is relevant again, and designers should know its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framework, from my fieldwork sketch: five questions design must hold simultaneously. What do we value — companionship, safety, agency. How do we feel — alone, anxious, curious. How do we act — we seek connection, we complain, we improve ourselves. What enables us to act — tools, language, community; and the tools we have shape how we act. And finally, who do we affect — users, designers, and society.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Ask the room to turn to a neighbour. Then take two or three answers. If time is short, take one and move on. Listen for examples in products, in user interviews, and in their own habits; they feed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"so what" concretely. Land three of these, not all six. First, default to structured intent menus for high-stakes tasks, and keep chat for exploration. Second, measure differently: old metrics such as click-through and completion rates don't describe a conversation, so track task success, repair rate (how often people have to rephrase or correct), escalation rate (how often they need a human), and trust calibration. Third, treat prompts as interaction specs: version them, review them, and test them like any other design artefact. Design for confusion, not just success; probabilistic systems fail probabilistically. And calibrated-trust patterns already exist: a CUI '25 co-design study proposed colour-coded source references, non-numeric relevance indicators, and adaptive language for expressing uncertainty (Reeken, Salous &amp; Abdenebaoui,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method real. Walk it; don't read it. Observe: AI companions are being given bodies, faces, and personalities. Check the literature: CASA, ELIZA, and the Media Equation mean this is well studied. Draw on the lineage: the psychology of anthropomorphism, HCI, and the social science of attachment. Find precedents: ELIZA, Clippy, and Mico show that personality without capability fails. Define the outcome: improve trust, accessibility, and emotional connection, without leaving untouched the things that erode trust. Surface the tension: a friendlier face can mask a system that shouldn't be trusted, and emotional design can stand in for fixing the underlying product. Determine evaluation: ImpactBench's dimensions, Zhang and colleagues' harms taxonomy, and trust calibration rather than engagement. Ground it in science: Shneiderman on human control, Gabriel on normative alignment, Nass on mindless social response. Then name it and share it: publish the pattern, and document where relational design helps and where it harms.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talk turns from what changed to what we protect. From my fieldwork sketch. Technology is like a field: our tools shape the way we understand the world. When we use a tool such as Maze, we get a lot of quick data but not enough deep data. More data is not the same as feeling heard. Feeling heard requires trust, and trust is how we reach the root of the problem. Compare the research-tool model, in which the designer reaches users through an instrument, with ethnographic research, in which the designer is embedded in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forward to 2025 and 2026, and we're seeing avatars and companions re-emerge, this time with real capabilities behind them, thanks to agents and language models. Clippy had personality without capability; today's companions have both. These emotional designs act as social actors, and they also begin to substitute for many of the social interactions we used to have with each other. That shift from treating machines as people, to designing machines as people, to machines standing in for people is where this trend is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argument on one slide. AI has changed how people behave, how they interact, and how we work. Those are three shifts: AI is getting a body, chat is becoming the interface, and our tools are redrawing how we work. Underneath all three is one root cause: UX adopted HCI's methods without its rigour. The prescription is to reconnect with that lineage, redefine our method, and lean into the craft and humanity that no tool replaces. This is the most important slide in the talk. State it plainly and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takeaway slide; people will photograph it. Reconnect: read the lineage, from CASA, ELIZA, and direct manipulation to Abbott, Shneiderman, and Gabriel, and engage with ImpactBench and the CHI work on companion harms. Redefine: update our methods for probabilistic systems, with new metrics, new failure states, prompts as interaction specs, trust calibration as a design outcome, and deep research as infrastructure. Lean into craft: observe, listen, and judge what no metric can. Don't just react to what AI can do; decide what you want it to do, then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end up with is something we could call the Black Mirror effect: what fiction warns against is now built in reality. We keep seeing products that look like an episode of Black Mirror. The show is meant as a dystopian warning, a red flag. Yet some builders in Silicon Valley watch it and say, "Yes, that's what we should build." That reading is often the exact opposite of what these stories are about: we take the red flag and use it as a north star. I want to come back to this thread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are we observing in the current age of AI? Three things: AI is getting a body; chat is becoming the dominant interface; and our tools are changing how we relate to each other, at work and beyond.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also seeing social dynamics change as a result of our tools, and that has happened before. Zoom, Slack, and Google Docs are good examples: the way we interact with people is often mediated through some form of technology. Sometimes these technologies help us collaborate better; Figma was a good example for designers. But the general direction I'm seeing now, at least in the research I've been reading, is that these technologies are creating more distance and more barriers between people. They do it in two ways: by substituting for things we used to rely on each other for, or by creating friction that leads to more disharmony and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0B0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2F1EC"/>
                </a:solidFill>
                <a:latin typeface="JetBrains Mono" pitchFamily="34" charset="0"/>
                <a:ea typeface="JetBrains Mono" pitchFamily="34" charset="-122"/>
                <a:cs typeface="JetBrains Mon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F2F1EC"/>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0B0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2F1EC"/>
                </a:solidFill>
                <a:latin typeface="JetBrains Mono" pitchFamily="34" charset="0"/>
                <a:ea typeface="JetBrains Mono" pitchFamily="34" charset="-122"/>
                <a:cs typeface="JetBrains Mon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F2F1EC"/>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slideLayout" Target="../slideLayouts/slideLayout2.xml"/><Relationship Id="rId1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2.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2.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2.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image" Target="../media/image-31-11.png"/><Relationship Id="rId12" Type="http://schemas.openxmlformats.org/officeDocument/2006/relationships/image" Target="../media/image-31-12.png"/><Relationship Id="rId13" Type="http://schemas.openxmlformats.org/officeDocument/2006/relationships/image" Target="../media/image-31-13.png"/><Relationship Id="rId14" Type="http://schemas.openxmlformats.org/officeDocument/2006/relationships/image" Target="../media/image-31-14.png"/><Relationship Id="rId15" Type="http://schemas.openxmlformats.org/officeDocument/2006/relationships/slideLayout" Target="../slideLayouts/slideLayout2.xml"/><Relationship Id="rId1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2.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cophee-lab.com" TargetMode="External"/><Relationship Id="rId2" Type="http://schemas.openxmlformats.org/officeDocument/2006/relationships/hyperlink" Target="https://aha.media.mit.edu" TargetMode="External"/><Relationship Id="rId3" Type="http://schemas.openxmlformats.org/officeDocument/2006/relationships/hyperlink" Target="https://hai.stanford.edu" TargetMode="External"/><Relationship Id="rId4" Type="http://schemas.openxmlformats.org/officeDocument/2006/relationships/hyperlink" Target="https://humancompatible.ai" TargetMode="External"/><Relationship Id="rId5" Type="http://schemas.openxmlformats.org/officeDocument/2006/relationships/hyperlink" Target="https://www.aisi.gov.uk" TargetMode="External"/><Relationship Id="rId6" Type="http://schemas.openxmlformats.org/officeDocument/2006/relationships/hyperlink" Target="https://impactbench.media.mit.edu" TargetMode="External"/><Relationship Id="rId7" Type="http://schemas.openxmlformats.org/officeDocument/2006/relationships/hyperlink" Target="https://mlcommons.org" TargetMode="External"/><Relationship Id="rId8" Type="http://schemas.openxmlformats.org/officeDocument/2006/relationships/hyperlink" Target="https://crfm.stanford.edu/helm/" TargetMode="External"/><Relationship Id="rId9" Type="http://schemas.openxmlformats.org/officeDocument/2006/relationships/hyperlink" Target="https://hcii.cmu.edu" TargetMode="External"/><Relationship Id="rId10" Type="http://schemas.openxmlformats.org/officeDocument/2006/relationships/hyperlink" Target="https://datasociety.net" TargetMode="External"/><Relationship Id="rId11" Type="http://schemas.openxmlformats.org/officeDocument/2006/relationships/slideLayout" Target="../slideLayouts/slideLayout2.xml"/><Relationship Id="rId1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2.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slideLayout" Target="../slideLayouts/slideLayout2.xml"/><Relationship Id="rId11"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slideLayout" Target="../slideLayouts/slideLayout2.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image" Target="../media/image-56-9.png"/><Relationship Id="rId10" Type="http://schemas.openxmlformats.org/officeDocument/2006/relationships/image" Target="../media/image-56-10.png"/><Relationship Id="rId11" Type="http://schemas.openxmlformats.org/officeDocument/2006/relationships/image" Target="../media/image-56-11.png"/><Relationship Id="rId12" Type="http://schemas.openxmlformats.org/officeDocument/2006/relationships/image" Target="../media/image-56-12.png"/><Relationship Id="rId13" Type="http://schemas.openxmlformats.org/officeDocument/2006/relationships/slideLayout" Target="../slideLayouts/slideLayout2.xml"/><Relationship Id="rId1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png"/><Relationship Id="rId8" Type="http://schemas.openxmlformats.org/officeDocument/2006/relationships/image" Target="../media/image-60-8.png"/><Relationship Id="rId9" Type="http://schemas.openxmlformats.org/officeDocument/2006/relationships/image" Target="../media/image-60-9.png"/><Relationship Id="rId10" Type="http://schemas.openxmlformats.org/officeDocument/2006/relationships/slideLayout" Target="../slideLayouts/slideLayout2.xml"/><Relationship Id="rId11"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2.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image" Target="../media/image-64-8.png"/><Relationship Id="rId9" Type="http://schemas.openxmlformats.org/officeDocument/2006/relationships/image" Target="../media/image-64-9.png"/><Relationship Id="rId10" Type="http://schemas.openxmlformats.org/officeDocument/2006/relationships/slideLayout" Target="../slideLayouts/slideLayout2.xml"/><Relationship Id="rId11"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slideLayout" Target="../slideLayouts/slideLayout2.xml"/><Relationship Id="rId6"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 · AI · RESEARCH</a:t>
            </a:r>
            <a:endParaRPr lang="en-US" sz="1200" dirty="0"/>
          </a:p>
        </p:txBody>
      </p:sp>
      <p:sp>
        <p:nvSpPr>
          <p:cNvPr id="5" name="Text 2"/>
          <p:cNvSpPr/>
          <p:nvPr>
            <p:ph type="title"/>
          </p:nvPr>
        </p:nvSpPr>
        <p:spPr>
          <a:xfrm>
            <a:off x="812800" y="1209080"/>
            <a:ext cx="6540500" cy="36830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DESIGN</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RESEARCH</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IN THE AGE</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OF AI</a:t>
            </a:r>
            <a:endParaRPr lang="en-US" sz="7200" dirty="0"/>
          </a:p>
        </p:txBody>
      </p:sp>
      <p:sp>
        <p:nvSpPr>
          <p:cNvPr id="6" name="Text 3"/>
          <p:cNvSpPr/>
          <p:nvPr/>
        </p:nvSpPr>
        <p:spPr>
          <a:xfrm>
            <a:off x="812800" y="5120680"/>
            <a:ext cx="6017260" cy="553641"/>
          </a:xfrm>
          <a:prstGeom prst="rect">
            <a:avLst/>
          </a:prstGeom>
          <a:noFill/>
          <a:ln/>
        </p:spPr>
        <p:txBody>
          <a:bodyPr wrap="square" lIns="0" tIns="0" rIns="0" bIns="0" rtlCol="0" anchor="t">
            <a:normAutofit/>
          </a:bodyPr>
          <a:lstStyle/>
          <a:p>
            <a:pPr algn="l" indent="0" marL="0">
              <a:lnSpc>
                <a:spcPts val="2080"/>
              </a:lnSpc>
              <a:buNone/>
            </a:pPr>
            <a:endParaRPr lang="en-US" sz="1600" dirty="0"/>
          </a:p>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On craft and humanity in the age of AI.</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By Issac Ting (2026)</a:t>
            </a:r>
            <a:endParaRPr lang="en-US" sz="1200" dirty="0"/>
          </a:p>
        </p:txBody>
      </p:sp>
      <p:sp>
        <p:nvSpPr>
          <p:cNvPr id="9" name="Text 6"/>
          <p:cNvSpPr/>
          <p:nvPr/>
        </p:nvSpPr>
        <p:spPr>
          <a:xfrm>
            <a:off x="8379956" y="5831880"/>
            <a:ext cx="2999244"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WORKSHOP · [EVENT,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HI, I’M ZAC</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Issac Ting</a:t>
            </a:r>
            <a:endParaRPr lang="en-US" sz="3600" dirty="0"/>
          </a:p>
        </p:txBody>
      </p:sp>
      <p:sp>
        <p:nvSpPr>
          <p:cNvPr id="4" name="Shape 2"/>
          <p:cNvSpPr/>
          <p:nvPr/>
        </p:nvSpPr>
        <p:spPr>
          <a:xfrm>
            <a:off x="812800" y="2442865"/>
            <a:ext cx="10566400" cy="0"/>
          </a:xfrm>
          <a:prstGeom prst="line">
            <a:avLst/>
          </a:prstGeom>
          <a:noFill/>
          <a:ln w="6350">
            <a:solidFill>
              <a:srgbClr val="2A2A28"/>
            </a:solidFill>
            <a:prstDash val="solid"/>
          </a:ln>
        </p:spPr>
      </p:sp>
      <p:sp>
        <p:nvSpPr>
          <p:cNvPr id="5" name="Text 3"/>
          <p:cNvSpPr/>
          <p:nvPr/>
        </p:nvSpPr>
        <p:spPr>
          <a:xfrm>
            <a:off x="812800" y="259844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DESIGN</a:t>
            </a:r>
            <a:endParaRPr lang="en-US" sz="1600" dirty="0"/>
          </a:p>
        </p:txBody>
      </p:sp>
      <p:sp>
        <p:nvSpPr>
          <p:cNvPr id="6" name="Text 4"/>
          <p:cNvSpPr/>
          <p:nvPr/>
        </p:nvSpPr>
        <p:spPr>
          <a:xfrm>
            <a:off x="3022600" y="259844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Product designer. About seven years in UX.</a:t>
            </a:r>
            <a:endParaRPr lang="en-US" sz="1800" dirty="0"/>
          </a:p>
        </p:txBody>
      </p:sp>
      <p:sp>
        <p:nvSpPr>
          <p:cNvPr id="7" name="Shape 5"/>
          <p:cNvSpPr/>
          <p:nvPr/>
        </p:nvSpPr>
        <p:spPr>
          <a:xfrm>
            <a:off x="812800" y="3051175"/>
            <a:ext cx="10566400" cy="0"/>
          </a:xfrm>
          <a:prstGeom prst="line">
            <a:avLst/>
          </a:prstGeom>
          <a:noFill/>
          <a:ln w="6350">
            <a:solidFill>
              <a:srgbClr val="2A2A28"/>
            </a:solidFill>
            <a:prstDash val="solid"/>
          </a:ln>
        </p:spPr>
      </p:sp>
      <p:sp>
        <p:nvSpPr>
          <p:cNvPr id="8" name="Text 6"/>
          <p:cNvSpPr/>
          <p:nvPr/>
        </p:nvSpPr>
        <p:spPr>
          <a:xfrm>
            <a:off x="812800" y="320675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NOW</a:t>
            </a:r>
            <a:endParaRPr lang="en-US" sz="1600" dirty="0"/>
          </a:p>
        </p:txBody>
      </p:sp>
      <p:sp>
        <p:nvSpPr>
          <p:cNvPr id="9" name="Text 7"/>
          <p:cNvSpPr/>
          <p:nvPr/>
        </p:nvSpPr>
        <p:spPr>
          <a:xfrm>
            <a:off x="3022600" y="320675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Graduate researcher at NYU Tandon. MSc student, COPHEE Lab.</a:t>
            </a:r>
            <a:endParaRPr lang="en-US" sz="1800" dirty="0"/>
          </a:p>
        </p:txBody>
      </p:sp>
      <p:sp>
        <p:nvSpPr>
          <p:cNvPr id="10" name="Shape 8"/>
          <p:cNvSpPr/>
          <p:nvPr/>
        </p:nvSpPr>
        <p:spPr>
          <a:xfrm>
            <a:off x="812800" y="3659485"/>
            <a:ext cx="10566400" cy="0"/>
          </a:xfrm>
          <a:prstGeom prst="line">
            <a:avLst/>
          </a:prstGeom>
          <a:noFill/>
          <a:ln w="6350">
            <a:solidFill>
              <a:srgbClr val="2A2A28"/>
            </a:solidFill>
            <a:prstDash val="solid"/>
          </a:ln>
        </p:spPr>
      </p:sp>
      <p:sp>
        <p:nvSpPr>
          <p:cNvPr id="11" name="Shape 9"/>
          <p:cNvSpPr/>
          <p:nvPr/>
        </p:nvSpPr>
        <p:spPr>
          <a:xfrm>
            <a:off x="812800" y="4267795"/>
            <a:ext cx="10566400" cy="0"/>
          </a:xfrm>
          <a:prstGeom prst="line">
            <a:avLst/>
          </a:prstGeom>
          <a:noFill/>
          <a:ln w="6350">
            <a:solidFill>
              <a:srgbClr val="2A2A28"/>
            </a:solidFill>
            <a:prstDash val="solid"/>
          </a:ln>
        </p:spPr>
      </p:sp>
      <p:sp>
        <p:nvSpPr>
          <p:cNvPr id="12" name="Text 10"/>
          <p:cNvSpPr/>
          <p:nvPr/>
        </p:nvSpPr>
        <p:spPr>
          <a:xfrm>
            <a:off x="812800" y="381506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INTERESTS</a:t>
            </a:r>
            <a:endParaRPr lang="en-US" sz="1600" dirty="0"/>
          </a:p>
        </p:txBody>
      </p:sp>
      <p:sp>
        <p:nvSpPr>
          <p:cNvPr id="13" name="Text 11"/>
          <p:cNvSpPr/>
          <p:nvPr/>
        </p:nvSpPr>
        <p:spPr>
          <a:xfrm>
            <a:off x="3022600" y="381506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History, and the social side of technology.</a:t>
            </a:r>
            <a:endParaRPr lang="en-US" sz="1800" dirty="0"/>
          </a:p>
        </p:txBody>
      </p:sp>
      <p:sp>
        <p:nvSpPr>
          <p:cNvPr id="14" name="Text 12"/>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How does technology shape our relationships, with each other and with ourselves?</a:t>
            </a:r>
            <a:endParaRPr lang="en-US" sz="24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6" name="Text 1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02 / 34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TONIGHT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Three ideas</a:t>
            </a:r>
            <a:endParaRPr lang="en-US" sz="3600" dirty="0"/>
          </a:p>
        </p:txBody>
      </p:sp>
      <p:sp>
        <p:nvSpPr>
          <p:cNvPr id="4" name="Shape 2"/>
          <p:cNvSpPr/>
          <p:nvPr/>
        </p:nvSpPr>
        <p:spPr>
          <a:xfrm>
            <a:off x="812800" y="2136130"/>
            <a:ext cx="10566400" cy="0"/>
          </a:xfrm>
          <a:prstGeom prst="line">
            <a:avLst/>
          </a:prstGeom>
          <a:noFill/>
          <a:ln w="6350">
            <a:solidFill>
              <a:srgbClr val="2A2A28"/>
            </a:solidFill>
            <a:prstDash val="solid"/>
          </a:ln>
        </p:spPr>
      </p:sp>
      <p:sp>
        <p:nvSpPr>
          <p:cNvPr id="5" name="Text 3"/>
          <p:cNvSpPr/>
          <p:nvPr/>
        </p:nvSpPr>
        <p:spPr>
          <a:xfrm>
            <a:off x="812800" y="2304405"/>
            <a:ext cx="558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6A4D"/>
                </a:solidFill>
                <a:latin typeface="JetBrains Mono" pitchFamily="49" charset="0"/>
                <a:ea typeface="JetBrains Mono" pitchFamily="49" charset="-122"/>
                <a:cs typeface="JetBrains Mono" pitchFamily="49" charset="-120"/>
              </a:rPr>
              <a:t>01</a:t>
            </a:r>
            <a:endParaRPr lang="en-US" sz="2000" dirty="0"/>
          </a:p>
        </p:txBody>
      </p:sp>
      <p:sp>
        <p:nvSpPr>
          <p:cNvPr id="6" name="Text 4"/>
          <p:cNvSpPr/>
          <p:nvPr/>
        </p:nvSpPr>
        <p:spPr>
          <a:xfrm>
            <a:off x="1574800" y="2323455"/>
            <a:ext cx="787476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None of this is new. We’ve studied how people relate to machines for decades.</a:t>
            </a:r>
            <a:endParaRPr lang="en-US" sz="2000" dirty="0"/>
          </a:p>
        </p:txBody>
      </p:sp>
      <p:sp>
        <p:nvSpPr>
          <p:cNvPr id="7" name="Text 5"/>
          <p:cNvSpPr/>
          <p:nvPr/>
        </p:nvSpPr>
        <p:spPr>
          <a:xfrm>
            <a:off x="9417050" y="241235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PART 2</a:t>
            </a:r>
            <a:endParaRPr lang="en-US" sz="1200" dirty="0"/>
          </a:p>
        </p:txBody>
      </p:sp>
      <p:sp>
        <p:nvSpPr>
          <p:cNvPr id="8" name="Shape 6"/>
          <p:cNvSpPr/>
          <p:nvPr/>
        </p:nvSpPr>
        <p:spPr>
          <a:xfrm>
            <a:off x="812800" y="3126730"/>
            <a:ext cx="10566400" cy="0"/>
          </a:xfrm>
          <a:prstGeom prst="line">
            <a:avLst/>
          </a:prstGeom>
          <a:noFill/>
          <a:ln w="6350">
            <a:solidFill>
              <a:srgbClr val="2A2A28"/>
            </a:solidFill>
            <a:prstDash val="solid"/>
          </a:ln>
        </p:spPr>
      </p:sp>
      <p:sp>
        <p:nvSpPr>
          <p:cNvPr id="9" name="Text 7"/>
          <p:cNvSpPr/>
          <p:nvPr/>
        </p:nvSpPr>
        <p:spPr>
          <a:xfrm>
            <a:off x="812800" y="3295005"/>
            <a:ext cx="558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6A4D"/>
                </a:solidFill>
                <a:latin typeface="JetBrains Mono" pitchFamily="49" charset="0"/>
                <a:ea typeface="JetBrains Mono" pitchFamily="49" charset="-122"/>
                <a:cs typeface="JetBrains Mono" pitchFamily="49" charset="-120"/>
              </a:rPr>
              <a:t>02</a:t>
            </a:r>
            <a:endParaRPr lang="en-US" sz="2000" dirty="0"/>
          </a:p>
        </p:txBody>
      </p:sp>
      <p:sp>
        <p:nvSpPr>
          <p:cNvPr id="10" name="Text 8"/>
          <p:cNvSpPr/>
          <p:nvPr/>
        </p:nvSpPr>
        <p:spPr>
          <a:xfrm>
            <a:off x="1574800" y="3314055"/>
            <a:ext cx="787476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Building got cheap. Knowing didn’t. Our signals are proxies.</a:t>
            </a:r>
            <a:endParaRPr lang="en-US" sz="2000" dirty="0"/>
          </a:p>
        </p:txBody>
      </p:sp>
      <p:sp>
        <p:nvSpPr>
          <p:cNvPr id="11" name="Text 9"/>
          <p:cNvSpPr/>
          <p:nvPr/>
        </p:nvSpPr>
        <p:spPr>
          <a:xfrm>
            <a:off x="9417050" y="340295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PART 2</a:t>
            </a:r>
            <a:endParaRPr lang="en-US" sz="1200" dirty="0"/>
          </a:p>
        </p:txBody>
      </p:sp>
      <p:sp>
        <p:nvSpPr>
          <p:cNvPr id="12" name="Shape 10"/>
          <p:cNvSpPr/>
          <p:nvPr/>
        </p:nvSpPr>
        <p:spPr>
          <a:xfrm>
            <a:off x="812800" y="4117330"/>
            <a:ext cx="10566400" cy="0"/>
          </a:xfrm>
          <a:prstGeom prst="line">
            <a:avLst/>
          </a:prstGeom>
          <a:noFill/>
          <a:ln w="6350">
            <a:solidFill>
              <a:srgbClr val="2A2A28"/>
            </a:solidFill>
            <a:prstDash val="solid"/>
          </a:ln>
        </p:spPr>
      </p:sp>
      <p:sp>
        <p:nvSpPr>
          <p:cNvPr id="13" name="Shape 11"/>
          <p:cNvSpPr/>
          <p:nvPr/>
        </p:nvSpPr>
        <p:spPr>
          <a:xfrm>
            <a:off x="812800" y="5107930"/>
            <a:ext cx="10566400" cy="0"/>
          </a:xfrm>
          <a:prstGeom prst="line">
            <a:avLst/>
          </a:prstGeom>
          <a:noFill/>
          <a:ln w="6350">
            <a:solidFill>
              <a:srgbClr val="2A2A28"/>
            </a:solidFill>
            <a:prstDash val="solid"/>
          </a:ln>
        </p:spPr>
      </p:sp>
      <p:sp>
        <p:nvSpPr>
          <p:cNvPr id="14" name="Text 12"/>
          <p:cNvSpPr/>
          <p:nvPr/>
        </p:nvSpPr>
        <p:spPr>
          <a:xfrm>
            <a:off x="812800" y="4285605"/>
            <a:ext cx="558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8BD78"/>
                </a:solidFill>
                <a:latin typeface="JetBrains Mono" pitchFamily="49" charset="0"/>
                <a:ea typeface="JetBrains Mono" pitchFamily="49" charset="-122"/>
                <a:cs typeface="JetBrains Mono" pitchFamily="49" charset="-120"/>
              </a:rPr>
              <a:t>03</a:t>
            </a:r>
            <a:endParaRPr lang="en-US" sz="2000" dirty="0"/>
          </a:p>
        </p:txBody>
      </p:sp>
      <p:sp>
        <p:nvSpPr>
          <p:cNvPr id="15" name="Text 13"/>
          <p:cNvSpPr/>
          <p:nvPr/>
        </p:nvSpPr>
        <p:spPr>
          <a:xfrm>
            <a:off x="1574800" y="4304655"/>
            <a:ext cx="787476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Design research can close the gap, starting with a map.</a:t>
            </a:r>
            <a:endParaRPr lang="en-US" sz="2000" dirty="0"/>
          </a:p>
        </p:txBody>
      </p:sp>
      <p:sp>
        <p:nvSpPr>
          <p:cNvPr id="16" name="Text 14"/>
          <p:cNvSpPr/>
          <p:nvPr/>
        </p:nvSpPr>
        <p:spPr>
          <a:xfrm>
            <a:off x="9417050" y="439355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PART 3</a:t>
            </a:r>
            <a:endParaRPr lang="en-US" sz="1200" dirty="0"/>
          </a:p>
        </p:txBody>
      </p:sp>
      <p:sp>
        <p:nvSpPr>
          <p:cNvPr id="17" name="Text 15"/>
          <p:cNvSpPr/>
          <p:nvPr/>
        </p:nvSpPr>
        <p:spPr>
          <a:xfrm>
            <a:off x="812800" y="5613400"/>
            <a:ext cx="10883392" cy="2540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B5B4AE"/>
                </a:solidFill>
                <a:latin typeface="JetBrains Mono" pitchFamily="49" charset="0"/>
                <a:ea typeface="JetBrains Mono" pitchFamily="49" charset="-122"/>
                <a:cs typeface="JetBrains Mono" pitchFamily="49" charset="-120"/>
              </a:rPr>
              <a:t>6:35 WHAT I’M SEEING · 6:55 WHY IT FEELS NEW · 7:15 WHAT WE CAN DO · 7:25 MAP YOUR DAY · 7:55 Q&amp;A</a:t>
            </a:r>
            <a:endParaRPr lang="en-US" sz="1200" dirty="0"/>
          </a:p>
        </p:txBody>
      </p:sp>
      <p:sp>
        <p:nvSpPr>
          <p:cNvPr id="18" name="Text 16"/>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9" name="Text 17"/>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03 / 34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 · AI · RESEARCH</a:t>
            </a:r>
            <a:endParaRPr lang="en-US" sz="1200" dirty="0"/>
          </a:p>
        </p:txBody>
      </p:sp>
      <p:sp>
        <p:nvSpPr>
          <p:cNvPr id="5" name="Text 2"/>
          <p:cNvSpPr/>
          <p:nvPr>
            <p:ph type="title"/>
          </p:nvPr>
        </p:nvSpPr>
        <p:spPr>
          <a:xfrm>
            <a:off x="812800" y="225554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What I’m</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seeing</a:t>
            </a:r>
            <a:endParaRPr lang="en-US" sz="7200" dirty="0"/>
          </a:p>
        </p:txBody>
      </p:sp>
      <p:sp>
        <p:nvSpPr>
          <p:cNvPr id="6" name="Text 3"/>
          <p:cNvSpPr/>
          <p:nvPr/>
        </p:nvSpPr>
        <p:spPr>
          <a:xfrm>
            <a:off x="812800" y="4338340"/>
            <a:ext cx="6017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Part 1 · My map, and it’s not just me</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6:35–6:55 PM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A"/>
        </a:solidFill>
      </p:bgPr>
    </p:bg>
    <p:spTree>
      <p:nvGrpSpPr>
        <p:cNvPr id="1" name=""/>
        <p:cNvGrpSpPr/>
        <p:nvPr/>
      </p:nvGrpSpPr>
      <p:grpSpPr>
        <a:xfrm>
          <a:off x="0" y="0"/>
          <a:ext cx="0" cy="0"/>
          <a:chOff x="0" y="0"/>
          <a:chExt cx="0" cy="0"/>
        </a:xfrm>
      </p:grpSpPr>
      <p:pic>
        <p:nvPicPr>
          <p:cNvPr id="2" name="Image 0" descr="A small social graph. Me in the centre, linked to Mom and Dad. Mom is linked to ChatGPT and Dad to Suno, each by two parallel lines: a teal line for what the tool opens up, and a red line for what it can co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MY MAP</a:t>
            </a:r>
            <a:endParaRPr lang="en-US" sz="1200" dirty="0"/>
          </a:p>
        </p:txBody>
      </p:sp>
      <p:sp>
        <p:nvSpPr>
          <p:cNvPr id="4" name="Text 1"/>
          <p:cNvSpPr/>
          <p:nvPr>
            <p:ph type="title"/>
          </p:nvPr>
        </p:nvSpPr>
        <p:spPr>
          <a:xfrm>
            <a:off x="812800" y="1127720"/>
            <a:ext cx="3924300"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Both are true</a:t>
            </a:r>
            <a:endParaRPr lang="en-US" sz="3600" dirty="0"/>
          </a:p>
        </p:txBody>
      </p:sp>
      <p:sp>
        <p:nvSpPr>
          <p:cNvPr id="5" name="Text 2"/>
          <p:cNvSpPr/>
          <p:nvPr/>
        </p:nvSpPr>
        <p:spPr>
          <a:xfrm>
            <a:off x="812800" y="1884611"/>
            <a:ext cx="3924300"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The design that opened my mom’s world and gave my dad an outlet is the design I study for harm.</a:t>
            </a:r>
            <a:endParaRPr lang="en-US" sz="1600" dirty="0"/>
          </a:p>
        </p:txBody>
      </p:sp>
      <p:sp>
        <p:nvSpPr>
          <p:cNvPr id="6" name="Shape 3"/>
          <p:cNvSpPr/>
          <p:nvPr/>
        </p:nvSpPr>
        <p:spPr>
          <a:xfrm>
            <a:off x="812800" y="2964656"/>
            <a:ext cx="3810000" cy="0"/>
          </a:xfrm>
          <a:prstGeom prst="line">
            <a:avLst/>
          </a:prstGeom>
          <a:noFill/>
          <a:ln w="6350">
            <a:solidFill>
              <a:srgbClr val="2A2A28"/>
            </a:solidFill>
            <a:prstDash val="solid"/>
          </a:ln>
        </p:spPr>
      </p:sp>
      <p:sp>
        <p:nvSpPr>
          <p:cNvPr id="7" name="Shape 4"/>
          <p:cNvSpPr/>
          <p:nvPr/>
        </p:nvSpPr>
        <p:spPr>
          <a:xfrm>
            <a:off x="812800" y="3804047"/>
            <a:ext cx="3810000" cy="0"/>
          </a:xfrm>
          <a:prstGeom prst="line">
            <a:avLst/>
          </a:prstGeom>
          <a:noFill/>
          <a:ln w="6350">
            <a:solidFill>
              <a:srgbClr val="2A2A28"/>
            </a:solidFill>
            <a:prstDash val="solid"/>
          </a:ln>
        </p:spPr>
      </p:sp>
      <p:sp>
        <p:nvSpPr>
          <p:cNvPr id="8" name="Shape 5"/>
          <p:cNvSpPr/>
          <p:nvPr/>
        </p:nvSpPr>
        <p:spPr>
          <a:xfrm>
            <a:off x="812800" y="3211016"/>
            <a:ext cx="355600" cy="31750"/>
          </a:xfrm>
          <a:prstGeom prst="rect">
            <a:avLst/>
          </a:prstGeom>
          <a:solidFill>
            <a:srgbClr val="7FD9C4"/>
          </a:solidFill>
          <a:ln/>
        </p:spPr>
      </p:sp>
      <p:sp>
        <p:nvSpPr>
          <p:cNvPr id="9" name="Text 6"/>
          <p:cNvSpPr/>
          <p:nvPr/>
        </p:nvSpPr>
        <p:spPr>
          <a:xfrm>
            <a:off x="1295400" y="3120231"/>
            <a:ext cx="16246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D9C4"/>
                </a:solidFill>
                <a:latin typeface="JetBrains Mono" pitchFamily="49" charset="0"/>
                <a:ea typeface="JetBrains Mono" pitchFamily="49" charset="-122"/>
                <a:cs typeface="JetBrains Mono" pitchFamily="49" charset="-120"/>
              </a:rPr>
              <a:t>WHAT IT OPENS</a:t>
            </a:r>
            <a:endParaRPr lang="en-US" sz="1200" dirty="0"/>
          </a:p>
        </p:txBody>
      </p:sp>
      <p:sp>
        <p:nvSpPr>
          <p:cNvPr id="10" name="Shape 7"/>
          <p:cNvSpPr/>
          <p:nvPr/>
        </p:nvSpPr>
        <p:spPr>
          <a:xfrm>
            <a:off x="812800" y="3525937"/>
            <a:ext cx="355600" cy="31750"/>
          </a:xfrm>
          <a:prstGeom prst="rect">
            <a:avLst/>
          </a:prstGeom>
          <a:solidFill>
            <a:srgbClr val="FF6A4D"/>
          </a:solidFill>
          <a:ln/>
        </p:spPr>
      </p:sp>
      <p:sp>
        <p:nvSpPr>
          <p:cNvPr id="11" name="Text 8"/>
          <p:cNvSpPr/>
          <p:nvPr/>
        </p:nvSpPr>
        <p:spPr>
          <a:xfrm>
            <a:off x="1295400" y="3435152"/>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6A4D"/>
                </a:solidFill>
                <a:latin typeface="JetBrains Mono" pitchFamily="49" charset="0"/>
                <a:ea typeface="JetBrains Mono" pitchFamily="49" charset="-122"/>
                <a:cs typeface="JetBrains Mono" pitchFamily="49" charset="-120"/>
              </a:rPr>
              <a:t>WHAT IT CAN COST</a:t>
            </a:r>
            <a:endParaRPr lang="en-US" sz="1200" dirty="0"/>
          </a:p>
        </p:txBody>
      </p:sp>
      <p:sp>
        <p:nvSpPr>
          <p:cNvPr id="12" name="Text 9"/>
          <p:cNvSpPr/>
          <p:nvPr/>
        </p:nvSpPr>
        <p:spPr>
          <a:xfrm>
            <a:off x="5221982" y="3276898"/>
            <a:ext cx="985986" cy="303510"/>
          </a:xfrm>
          <a:custGeom>
            <a:avLst/>
            <a:gdLst/>
            <a:ahLst/>
            <a:cxnLst/>
            <a:rect l="l" t="t" r="r" b="b"/>
            <a:pathLst>
              <a:path w="985986" h="303510">
                <a:moveTo>
                  <a:pt x="151755" y="0"/>
                </a:moveTo>
                <a:lnTo>
                  <a:pt x="834231" y="0"/>
                </a:lnTo>
                <a:arcTo hR="151755" wR="151755" stAng="16200000" swAng="5400000"/>
                <a:lnTo>
                  <a:pt x="985986" y="151755"/>
                </a:lnTo>
                <a:arcTo hR="151755" wR="151755" stAng="0" swAng="5400000"/>
                <a:lnTo>
                  <a:pt x="151755" y="303510"/>
                </a:lnTo>
                <a:arcTo hR="151755" wR="151755" stAng="5400000" swAng="5400000"/>
                <a:lnTo>
                  <a:pt x="0" y="151755"/>
                </a:lnTo>
                <a:arcTo hR="151755" wR="151755" stAng="10800000" swAng="5400000"/>
                <a:close/>
              </a:path>
            </a:pathLst>
          </a:custGeom>
          <a:solidFill>
            <a:srgbClr val="E8BD78"/>
          </a:solidFill>
          <a:ln w="19050">
            <a:solidFill>
              <a:srgbClr val="E8BD78"/>
            </a:solidFill>
            <a:prstDash val="solid"/>
          </a:ln>
        </p:spPr>
        <p:txBody>
          <a:bodyPr wrap="square" lIns="0" tIns="9525" rIns="0" bIns="0" rtlCol="0" anchor="t">
            <a:normAutofit/>
          </a:bodyPr>
          <a:lstStyle/>
          <a:p>
            <a:pPr algn="ctr" indent="0" marL="0">
              <a:lnSpc>
                <a:spcPts val="2240"/>
              </a:lnSpc>
              <a:buNone/>
            </a:pPr>
            <a:r>
              <a:rPr lang="en-US" sz="1600" b="1" dirty="0">
                <a:solidFill>
                  <a:srgbClr val="0B0B0A"/>
                </a:solidFill>
                <a:latin typeface="JetBrains Mono" pitchFamily="49" charset="0"/>
                <a:ea typeface="JetBrains Mono" pitchFamily="49" charset="-122"/>
                <a:cs typeface="JetBrains Mono" pitchFamily="49" charset="-120"/>
              </a:rPr>
              <a:t>ME</a:t>
            </a:r>
            <a:endParaRPr lang="en-US" sz="1600" dirty="0"/>
          </a:p>
        </p:txBody>
      </p:sp>
      <p:sp>
        <p:nvSpPr>
          <p:cNvPr id="13" name="Text 10"/>
          <p:cNvSpPr/>
          <p:nvPr/>
        </p:nvSpPr>
        <p:spPr>
          <a:xfrm>
            <a:off x="4927600" y="3911600"/>
            <a:ext cx="1574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Designer who</a:t>
            </a:r>
            <a:endParaRPr lang="en-US" sz="1200" dirty="0"/>
          </a:p>
          <a:p>
            <a:pPr algn="ctr"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studies this</a:t>
            </a:r>
            <a:endParaRPr lang="en-US" sz="1200" dirty="0"/>
          </a:p>
        </p:txBody>
      </p:sp>
      <p:sp>
        <p:nvSpPr>
          <p:cNvPr id="14" name="Text 11"/>
          <p:cNvSpPr/>
          <p:nvPr/>
        </p:nvSpPr>
        <p:spPr>
          <a:xfrm>
            <a:off x="7375525" y="1533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MOM</a:t>
            </a:r>
            <a:endParaRPr lang="en-US" sz="1400" dirty="0"/>
          </a:p>
        </p:txBody>
      </p:sp>
      <p:sp>
        <p:nvSpPr>
          <p:cNvPr id="15" name="Text 12"/>
          <p:cNvSpPr/>
          <p:nvPr/>
        </p:nvSpPr>
        <p:spPr>
          <a:xfrm>
            <a:off x="7375525" y="4454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DAD</a:t>
            </a:r>
            <a:endParaRPr lang="en-US" sz="1400" dirty="0"/>
          </a:p>
        </p:txBody>
      </p:sp>
      <p:sp>
        <p:nvSpPr>
          <p:cNvPr id="16" name="Text 13"/>
          <p:cNvSpPr/>
          <p:nvPr/>
        </p:nvSpPr>
        <p:spPr>
          <a:xfrm>
            <a:off x="9661525" y="1660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F2F1EC"/>
                </a:solidFill>
                <a:latin typeface="JetBrains Mono" pitchFamily="49" charset="0"/>
                <a:ea typeface="JetBrains Mono" pitchFamily="49" charset="-122"/>
                <a:cs typeface="JetBrains Mono" pitchFamily="49" charset="-120"/>
              </a:rPr>
              <a:t>★ ChatGPT</a:t>
            </a:r>
            <a:endParaRPr lang="en-US" sz="1400" dirty="0"/>
          </a:p>
        </p:txBody>
      </p:sp>
      <p:sp>
        <p:nvSpPr>
          <p:cNvPr id="17" name="Text 14"/>
          <p:cNvSpPr/>
          <p:nvPr/>
        </p:nvSpPr>
        <p:spPr>
          <a:xfrm>
            <a:off x="9661525" y="4581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F2F1EC"/>
                </a:solidFill>
                <a:latin typeface="JetBrains Mono" pitchFamily="49" charset="0"/>
                <a:ea typeface="JetBrains Mono" pitchFamily="49" charset="-122"/>
                <a:cs typeface="JetBrains Mono" pitchFamily="49" charset="-120"/>
              </a:rPr>
              <a:t>★ Suno</a:t>
            </a:r>
            <a:endParaRPr lang="en-US" sz="1400" dirty="0"/>
          </a:p>
        </p:txBody>
      </p:sp>
      <p:sp>
        <p:nvSpPr>
          <p:cNvPr id="18" name="Text 15"/>
          <p:cNvSpPr/>
          <p:nvPr/>
        </p:nvSpPr>
        <p:spPr>
          <a:xfrm>
            <a:off x="8191500" y="1270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Help in her</a:t>
            </a:r>
            <a:endParaRPr lang="en-US" sz="1200" dirty="0"/>
          </a:p>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own language</a:t>
            </a:r>
            <a:endParaRPr lang="en-US" sz="1200" dirty="0"/>
          </a:p>
        </p:txBody>
      </p:sp>
      <p:sp>
        <p:nvSpPr>
          <p:cNvPr id="19" name="Text 16"/>
          <p:cNvSpPr/>
          <p:nvPr/>
        </p:nvSpPr>
        <p:spPr>
          <a:xfrm>
            <a:off x="8191500" y="20574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Emotional</a:t>
            </a:r>
            <a:endParaRPr lang="en-US" sz="1200" dirty="0"/>
          </a:p>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reliance</a:t>
            </a:r>
            <a:endParaRPr lang="en-US" sz="1200" dirty="0"/>
          </a:p>
        </p:txBody>
      </p:sp>
      <p:sp>
        <p:nvSpPr>
          <p:cNvPr id="20" name="Text 17"/>
          <p:cNvSpPr/>
          <p:nvPr/>
        </p:nvSpPr>
        <p:spPr>
          <a:xfrm>
            <a:off x="8191500" y="4191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A creative</a:t>
            </a:r>
            <a:endParaRPr lang="en-US" sz="1200" dirty="0"/>
          </a:p>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outlet</a:t>
            </a:r>
            <a:endParaRPr lang="en-US" sz="1200" dirty="0"/>
          </a:p>
        </p:txBody>
      </p:sp>
      <p:sp>
        <p:nvSpPr>
          <p:cNvPr id="21" name="Text 18"/>
          <p:cNvSpPr/>
          <p:nvPr/>
        </p:nvSpPr>
        <p:spPr>
          <a:xfrm>
            <a:off x="8191500" y="4978400"/>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Designed to</a:t>
            </a:r>
            <a:endParaRPr lang="en-US" sz="1200" dirty="0"/>
          </a:p>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keep you going</a:t>
            </a:r>
            <a:endParaRPr lang="en-US" sz="1200" dirty="0"/>
          </a:p>
        </p:txBody>
      </p:sp>
      <p:sp>
        <p:nvSpPr>
          <p:cNvPr id="22" name="Text 19"/>
          <p:cNvSpPr/>
          <p:nvPr/>
        </p:nvSpPr>
        <p:spPr>
          <a:xfrm>
            <a:off x="812800" y="6238280"/>
            <a:ext cx="487418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CIRCLES: PEOPLE · SQUARES: TOOLS · ★ AI</a:t>
            </a:r>
            <a:endParaRPr lang="en-US" sz="1200" dirty="0"/>
          </a:p>
        </p:txBody>
      </p:sp>
      <p:sp>
        <p:nvSpPr>
          <p:cNvPr id="23" name="Text 2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05 / 34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AI is being given a body</a:t>
            </a:r>
            <a:endParaRPr lang="en-US" sz="3600" dirty="0"/>
          </a:p>
        </p:txBody>
      </p:sp>
      <p:sp>
        <p:nvSpPr>
          <p:cNvPr id="4" name="Shape 2"/>
          <p:cNvSpPr/>
          <p:nvPr/>
        </p:nvSpPr>
        <p:spPr>
          <a:xfrm>
            <a:off x="812800" y="2173585"/>
            <a:ext cx="6654800" cy="0"/>
          </a:xfrm>
          <a:prstGeom prst="line">
            <a:avLst/>
          </a:prstGeom>
          <a:noFill/>
          <a:ln w="6350">
            <a:solidFill>
              <a:srgbClr val="2A2A28"/>
            </a:solidFill>
            <a:prstDash val="solid"/>
          </a:ln>
        </p:spPr>
      </p:sp>
      <p:sp>
        <p:nvSpPr>
          <p:cNvPr id="5" name="Text 3"/>
          <p:cNvSpPr/>
          <p:nvPr/>
        </p:nvSpPr>
        <p:spPr>
          <a:xfrm>
            <a:off x="812800" y="2329160"/>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1EC"/>
                </a:solidFill>
                <a:latin typeface="JetBrains Mono" pitchFamily="49" charset="0"/>
                <a:ea typeface="JetBrains Mono" pitchFamily="49" charset="-122"/>
                <a:cs typeface="JetBrains Mono" pitchFamily="49" charset="-120"/>
              </a:rPr>
              <a:t>Copilot's Mico</a:t>
            </a:r>
            <a:endParaRPr lang="en-US" sz="1800" dirty="0"/>
          </a:p>
        </p:txBody>
      </p:sp>
      <p:sp>
        <p:nvSpPr>
          <p:cNvPr id="6" name="Text 4"/>
          <p:cNvSpPr/>
          <p:nvPr/>
        </p:nvSpPr>
        <p:spPr>
          <a:xfrm>
            <a:off x="4191000" y="2329160"/>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JetBrains Mono" pitchFamily="49" charset="0"/>
                <a:ea typeface="JetBrains Mono" pitchFamily="49" charset="-122"/>
                <a:cs typeface="JetBrains Mono" pitchFamily="49" charset="-120"/>
              </a:rPr>
              <a:t>An animated face</a:t>
            </a:r>
            <a:endParaRPr lang="en-US" sz="1800" dirty="0"/>
          </a:p>
        </p:txBody>
      </p:sp>
      <p:sp>
        <p:nvSpPr>
          <p:cNvPr id="7" name="Shape 5"/>
          <p:cNvSpPr/>
          <p:nvPr/>
        </p:nvSpPr>
        <p:spPr>
          <a:xfrm>
            <a:off x="812800" y="2804765"/>
            <a:ext cx="6654800" cy="0"/>
          </a:xfrm>
          <a:prstGeom prst="line">
            <a:avLst/>
          </a:prstGeom>
          <a:noFill/>
          <a:ln w="6350">
            <a:solidFill>
              <a:srgbClr val="2A2A28"/>
            </a:solidFill>
            <a:prstDash val="solid"/>
          </a:ln>
        </p:spPr>
      </p:sp>
      <p:sp>
        <p:nvSpPr>
          <p:cNvPr id="8" name="Text 6"/>
          <p:cNvSpPr/>
          <p:nvPr/>
        </p:nvSpPr>
        <p:spPr>
          <a:xfrm>
            <a:off x="812800" y="2960340"/>
            <a:ext cx="3270250" cy="61972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1EC"/>
                </a:solidFill>
                <a:latin typeface="JetBrains Mono" pitchFamily="49" charset="0"/>
                <a:ea typeface="JetBrains Mono" pitchFamily="49" charset="-122"/>
                <a:cs typeface="JetBrains Mono" pitchFamily="49" charset="-120"/>
              </a:rPr>
              <a:t>Grok Companions</a:t>
            </a:r>
            <a:endParaRPr lang="en-US" sz="1800" dirty="0"/>
          </a:p>
        </p:txBody>
      </p:sp>
      <p:sp>
        <p:nvSpPr>
          <p:cNvPr id="9" name="Text 7"/>
          <p:cNvSpPr/>
          <p:nvPr/>
        </p:nvSpPr>
        <p:spPr>
          <a:xfrm>
            <a:off x="4191000" y="2960340"/>
            <a:ext cx="33748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JetBrains Mono" pitchFamily="49" charset="0"/>
                <a:ea typeface="JetBrains Mono" pitchFamily="49" charset="-122"/>
                <a:cs typeface="JetBrains Mono" pitchFamily="49" charset="-120"/>
              </a:rPr>
              <a:t>3D characters, one furry</a:t>
            </a:r>
            <a:endParaRPr lang="en-US" sz="1800" dirty="0"/>
          </a:p>
        </p:txBody>
      </p:sp>
      <p:sp>
        <p:nvSpPr>
          <p:cNvPr id="10" name="Shape 8"/>
          <p:cNvSpPr/>
          <p:nvPr/>
        </p:nvSpPr>
        <p:spPr>
          <a:xfrm>
            <a:off x="812800" y="3710236"/>
            <a:ext cx="6654800" cy="0"/>
          </a:xfrm>
          <a:prstGeom prst="line">
            <a:avLst/>
          </a:prstGeom>
          <a:noFill/>
          <a:ln w="6350">
            <a:solidFill>
              <a:srgbClr val="2A2A28"/>
            </a:solidFill>
            <a:prstDash val="solid"/>
          </a:ln>
        </p:spPr>
      </p:sp>
      <p:sp>
        <p:nvSpPr>
          <p:cNvPr id="11" name="Text 9"/>
          <p:cNvSpPr/>
          <p:nvPr/>
        </p:nvSpPr>
        <p:spPr>
          <a:xfrm>
            <a:off x="812800" y="386581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1EC"/>
                </a:solidFill>
                <a:latin typeface="JetBrains Mono" pitchFamily="49" charset="0"/>
                <a:ea typeface="JetBrains Mono" pitchFamily="49" charset="-122"/>
                <a:cs typeface="JetBrains Mono" pitchFamily="49" charset="-120"/>
              </a:rPr>
              <a:t>Meta AI Studio</a:t>
            </a:r>
            <a:endParaRPr lang="en-US" sz="1800" dirty="0"/>
          </a:p>
        </p:txBody>
      </p:sp>
      <p:sp>
        <p:nvSpPr>
          <p:cNvPr id="12" name="Text 10"/>
          <p:cNvSpPr/>
          <p:nvPr/>
        </p:nvSpPr>
        <p:spPr>
          <a:xfrm>
            <a:off x="4191000" y="386581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JetBrains Mono" pitchFamily="49" charset="0"/>
                <a:ea typeface="JetBrains Mono" pitchFamily="49" charset="-122"/>
                <a:cs typeface="JetBrains Mono" pitchFamily="49" charset="-120"/>
              </a:rPr>
              <a:t>Build a character</a:t>
            </a:r>
            <a:endParaRPr lang="en-US" sz="1800" dirty="0"/>
          </a:p>
        </p:txBody>
      </p:sp>
      <p:sp>
        <p:nvSpPr>
          <p:cNvPr id="13" name="Shape 11"/>
          <p:cNvSpPr/>
          <p:nvPr/>
        </p:nvSpPr>
        <p:spPr>
          <a:xfrm>
            <a:off x="812800" y="4341416"/>
            <a:ext cx="6654800" cy="0"/>
          </a:xfrm>
          <a:prstGeom prst="line">
            <a:avLst/>
          </a:prstGeom>
          <a:noFill/>
          <a:ln w="6350">
            <a:solidFill>
              <a:srgbClr val="2A2A28"/>
            </a:solidFill>
            <a:prstDash val="solid"/>
          </a:ln>
        </p:spPr>
      </p:sp>
      <p:sp>
        <p:nvSpPr>
          <p:cNvPr id="14" name="Text 12"/>
          <p:cNvSpPr/>
          <p:nvPr/>
        </p:nvSpPr>
        <p:spPr>
          <a:xfrm>
            <a:off x="812800" y="449699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1EC"/>
                </a:solidFill>
                <a:latin typeface="JetBrains Mono" pitchFamily="49" charset="0"/>
                <a:ea typeface="JetBrains Mono" pitchFamily="49" charset="-122"/>
                <a:cs typeface="JetBrains Mono" pitchFamily="49" charset="-120"/>
              </a:rPr>
              <a:t>Replika · Character.AI</a:t>
            </a:r>
            <a:endParaRPr lang="en-US" sz="1800" dirty="0"/>
          </a:p>
        </p:txBody>
      </p:sp>
      <p:sp>
        <p:nvSpPr>
          <p:cNvPr id="15" name="Text 13"/>
          <p:cNvSpPr/>
          <p:nvPr/>
        </p:nvSpPr>
        <p:spPr>
          <a:xfrm>
            <a:off x="4191000" y="449699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JetBrains Mono" pitchFamily="49" charset="0"/>
                <a:ea typeface="JetBrains Mono" pitchFamily="49" charset="-122"/>
                <a:cs typeface="JetBrains Mono" pitchFamily="49" charset="-120"/>
              </a:rPr>
              <a:t>A companion</a:t>
            </a:r>
            <a:endParaRPr lang="en-US" sz="1800" dirty="0"/>
          </a:p>
        </p:txBody>
      </p:sp>
      <p:sp>
        <p:nvSpPr>
          <p:cNvPr id="16" name="Shape 14"/>
          <p:cNvSpPr/>
          <p:nvPr/>
        </p:nvSpPr>
        <p:spPr>
          <a:xfrm>
            <a:off x="812800" y="4972596"/>
            <a:ext cx="6654800" cy="0"/>
          </a:xfrm>
          <a:prstGeom prst="line">
            <a:avLst/>
          </a:prstGeom>
          <a:noFill/>
          <a:ln w="6350">
            <a:solidFill>
              <a:srgbClr val="2A2A28"/>
            </a:solidFill>
            <a:prstDash val="solid"/>
          </a:ln>
        </p:spPr>
      </p:sp>
      <p:sp>
        <p:nvSpPr>
          <p:cNvPr id="17" name="Shape 15"/>
          <p:cNvSpPr/>
          <p:nvPr/>
        </p:nvSpPr>
        <p:spPr>
          <a:xfrm>
            <a:off x="812800" y="5603776"/>
            <a:ext cx="6654800" cy="0"/>
          </a:xfrm>
          <a:prstGeom prst="line">
            <a:avLst/>
          </a:prstGeom>
          <a:noFill/>
          <a:ln w="6350">
            <a:solidFill>
              <a:srgbClr val="2A2A28"/>
            </a:solidFill>
            <a:prstDash val="solid"/>
          </a:ln>
        </p:spPr>
      </p:sp>
      <p:sp>
        <p:nvSpPr>
          <p:cNvPr id="18" name="Text 16"/>
          <p:cNvSpPr/>
          <p:nvPr/>
        </p:nvSpPr>
        <p:spPr>
          <a:xfrm>
            <a:off x="812800" y="512817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1EC"/>
                </a:solidFill>
                <a:latin typeface="JetBrains Mono" pitchFamily="49" charset="0"/>
                <a:ea typeface="JetBrains Mono" pitchFamily="49" charset="-122"/>
                <a:cs typeface="JetBrains Mono" pitchFamily="49" charset="-120"/>
              </a:rPr>
              <a:t>China, 2025</a:t>
            </a:r>
            <a:endParaRPr lang="en-US" sz="1800" dirty="0"/>
          </a:p>
        </p:txBody>
      </p:sp>
      <p:sp>
        <p:nvSpPr>
          <p:cNvPr id="19" name="Text 17"/>
          <p:cNvSpPr/>
          <p:nvPr/>
        </p:nvSpPr>
        <p:spPr>
          <a:xfrm>
            <a:off x="4191000" y="512817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JetBrains Mono" pitchFamily="49" charset="0"/>
                <a:ea typeface="JetBrains Mono" pitchFamily="49" charset="-122"/>
                <a:cs typeface="JetBrains Mono" pitchFamily="49" charset="-120"/>
              </a:rPr>
              <a:t>Draft rules for it</a:t>
            </a:r>
            <a:endParaRPr lang="en-US" sz="1800" dirty="0"/>
          </a:p>
        </p:txBody>
      </p:sp>
      <p:sp>
        <p:nvSpPr>
          <p:cNvPr id="20" name="Shape 18"/>
          <p:cNvSpPr/>
          <p:nvPr/>
        </p:nvSpPr>
        <p:spPr>
          <a:xfrm>
            <a:off x="8080375" y="1935411"/>
            <a:ext cx="0" cy="3906589"/>
          </a:xfrm>
          <a:prstGeom prst="line">
            <a:avLst/>
          </a:prstGeom>
          <a:noFill/>
          <a:ln w="6350">
            <a:solidFill>
              <a:srgbClr val="2A2A28"/>
            </a:solidFill>
            <a:prstDash val="solid"/>
          </a:ln>
        </p:spPr>
      </p:sp>
      <p:sp>
        <p:nvSpPr>
          <p:cNvPr id="21" name="Text 19"/>
          <p:cNvSpPr/>
          <p:nvPr/>
        </p:nvSpPr>
        <p:spPr>
          <a:xfrm>
            <a:off x="8489950" y="2763490"/>
            <a:ext cx="2975928" cy="1031180"/>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B7ADFF"/>
                </a:solidFill>
                <a:latin typeface="JetBrains Mono" pitchFamily="49" charset="0"/>
                <a:ea typeface="JetBrains Mono" pitchFamily="49" charset="-122"/>
                <a:cs typeface="JetBrains Mono" pitchFamily="49" charset="-120"/>
              </a:rPr>
              <a:t>Why give AI a body?</a:t>
            </a:r>
            <a:endParaRPr lang="en-US" sz="3600" dirty="0"/>
          </a:p>
        </p:txBody>
      </p:sp>
      <p:sp>
        <p:nvSpPr>
          <p:cNvPr id="22" name="Text 20"/>
          <p:cNvSpPr/>
          <p:nvPr/>
        </p:nvSpPr>
        <p:spPr>
          <a:xfrm>
            <a:off x="8489950" y="4023271"/>
            <a:ext cx="2975928"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JetBrains Mono" pitchFamily="49" charset="0"/>
                <a:ea typeface="JetBrains Mono" pitchFamily="49" charset="-122"/>
                <a:cs typeface="JetBrains Mono" pitchFamily="49" charset="-120"/>
              </a:rPr>
              <a:t>It looks friendly. It looks trustworthy.</a:t>
            </a:r>
            <a:endParaRPr lang="en-US" sz="2000" dirty="0"/>
          </a:p>
        </p:txBody>
      </p:sp>
      <p:sp>
        <p:nvSpPr>
          <p:cNvPr id="23" name="Text 2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4" name="Text 22"/>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06 / 34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cost of trust</a:t>
            </a:r>
            <a:endParaRPr lang="en-US" sz="3600" dirty="0"/>
          </a:p>
        </p:txBody>
      </p:sp>
      <p:sp>
        <p:nvSpPr>
          <p:cNvPr id="4" name="Text 2"/>
          <p:cNvSpPr/>
          <p:nvPr/>
        </p:nvSpPr>
        <p:spPr>
          <a:xfrm>
            <a:off x="812800" y="2874020"/>
            <a:ext cx="9810750" cy="914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F2F1EC"/>
                </a:solidFill>
                <a:latin typeface="JetBrains Mono" pitchFamily="49" charset="0"/>
                <a:ea typeface="JetBrains Mono" pitchFamily="49" charset="-122"/>
                <a:cs typeface="JetBrains Mono" pitchFamily="49" charset="-120"/>
              </a:rPr>
              <a:t>People who bonded with ChatGPT more also reported more </a:t>
            </a:r>
            <a:r>
              <a:rPr lang="en-US" sz="2800" spc="-50" kern="0" dirty="0">
                <a:solidFill>
                  <a:srgbClr val="E8BD78"/>
                </a:solidFill>
                <a:latin typeface="JetBrains Mono" pitchFamily="49" charset="0"/>
                <a:ea typeface="JetBrains Mono" pitchFamily="49" charset="-122"/>
                <a:cs typeface="JetBrains Mono" pitchFamily="49" charset="-120"/>
              </a:rPr>
              <a:t>loneliness</a:t>
            </a:r>
            <a:r>
              <a:rPr lang="en-US" sz="2800" spc="-50" kern="0" dirty="0">
                <a:solidFill>
                  <a:srgbClr val="F2F1EC"/>
                </a:solidFill>
                <a:latin typeface="JetBrains Mono" pitchFamily="49" charset="0"/>
                <a:ea typeface="JetBrains Mono" pitchFamily="49" charset="-122"/>
                <a:cs typeface="JetBrains Mono" pitchFamily="49" charset="-120"/>
              </a:rPr>
              <a:t> and dependence.</a:t>
            </a:r>
            <a:endParaRPr lang="en-US" sz="2800" dirty="0"/>
          </a:p>
        </p:txBody>
      </p:sp>
      <p:sp>
        <p:nvSpPr>
          <p:cNvPr id="5" name="Shape 3"/>
          <p:cNvSpPr/>
          <p:nvPr/>
        </p:nvSpPr>
        <p:spPr>
          <a:xfrm>
            <a:off x="812800" y="5012730"/>
            <a:ext cx="5181600" cy="0"/>
          </a:xfrm>
          <a:prstGeom prst="line">
            <a:avLst/>
          </a:prstGeom>
          <a:noFill/>
          <a:ln w="12700">
            <a:solidFill>
              <a:srgbClr val="FF6A4D"/>
            </a:solidFill>
            <a:prstDash val="solid"/>
          </a:ln>
        </p:spPr>
      </p:sp>
      <p:sp>
        <p:nvSpPr>
          <p:cNvPr id="6" name="Text 4"/>
          <p:cNvSpPr/>
          <p:nvPr/>
        </p:nvSpPr>
        <p:spPr>
          <a:xfrm>
            <a:off x="812800" y="51968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THE STUDY</a:t>
            </a:r>
            <a:endParaRPr lang="en-US" sz="1200" dirty="0"/>
          </a:p>
        </p:txBody>
      </p:sp>
      <p:sp>
        <p:nvSpPr>
          <p:cNvPr id="7" name="Text 5"/>
          <p:cNvSpPr/>
          <p:nvPr/>
        </p:nvSpPr>
        <p:spPr>
          <a:xfrm>
            <a:off x="812800" y="55118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~1,000 people over four weeks</a:t>
            </a:r>
            <a:endParaRPr lang="en-US" sz="2000" dirty="0"/>
          </a:p>
        </p:txBody>
      </p:sp>
      <p:sp>
        <p:nvSpPr>
          <p:cNvPr id="8" name="Shape 6"/>
          <p:cNvSpPr/>
          <p:nvPr/>
        </p:nvSpPr>
        <p:spPr>
          <a:xfrm>
            <a:off x="6197600" y="5012730"/>
            <a:ext cx="5181600" cy="0"/>
          </a:xfrm>
          <a:prstGeom prst="line">
            <a:avLst/>
          </a:prstGeom>
          <a:noFill/>
          <a:ln w="12700">
            <a:solidFill>
              <a:srgbClr val="E8BD78"/>
            </a:solidFill>
            <a:prstDash val="solid"/>
          </a:ln>
        </p:spPr>
      </p:sp>
      <p:sp>
        <p:nvSpPr>
          <p:cNvPr id="9" name="Text 7"/>
          <p:cNvSpPr/>
          <p:nvPr/>
        </p:nvSpPr>
        <p:spPr>
          <a:xfrm>
            <a:off x="6197600" y="51968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RESPONSE</a:t>
            </a:r>
            <a:endParaRPr lang="en-US" sz="1200" dirty="0"/>
          </a:p>
        </p:txBody>
      </p:sp>
      <p:sp>
        <p:nvSpPr>
          <p:cNvPr id="10" name="Text 8"/>
          <p:cNvSpPr/>
          <p:nvPr/>
        </p:nvSpPr>
        <p:spPr>
          <a:xfrm>
            <a:off x="6197600" y="55118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FTC probes companion personas</a:t>
            </a:r>
            <a:endParaRPr lang="en-US" sz="2000" dirty="0"/>
          </a:p>
        </p:txBody>
      </p:sp>
      <p:sp>
        <p:nvSpPr>
          <p:cNvPr id="11" name="Text 9"/>
          <p:cNvSpPr/>
          <p:nvPr/>
        </p:nvSpPr>
        <p:spPr>
          <a:xfrm>
            <a:off x="812800" y="6238280"/>
            <a:ext cx="624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FANG ET AL., 2025 · PHANG ET AL., 2025 · FTC, 2025</a:t>
            </a:r>
            <a:endParaRPr lang="en-US" sz="1200" dirty="0"/>
          </a:p>
        </p:txBody>
      </p:sp>
      <p:sp>
        <p:nvSpPr>
          <p:cNvPr id="12" name="Text 1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07 / 34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DESIGNING FOR CONVERSATION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Chat is becoming the default</a:t>
            </a:r>
            <a:endParaRPr lang="en-US" sz="3600" dirty="0"/>
          </a:p>
        </p:txBody>
      </p:sp>
      <p:sp>
        <p:nvSpPr>
          <p:cNvPr id="4" name="Text 2"/>
          <p:cNvSpPr/>
          <p:nvPr/>
        </p:nvSpPr>
        <p:spPr>
          <a:xfrm>
            <a:off x="8128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8A8985"/>
                </a:solidFill>
                <a:latin typeface="JetBrains Mono" pitchFamily="49" charset="0"/>
                <a:ea typeface="JetBrains Mono" pitchFamily="49" charset="-122"/>
                <a:cs typeface="JetBrains Mono" pitchFamily="49" charset="-120"/>
              </a:rPr>
              <a:t>FLOW · BEFORE</a:t>
            </a:r>
            <a:endParaRPr lang="en-US" sz="1200" dirty="0"/>
          </a:p>
        </p:txBody>
      </p:sp>
      <p:sp>
        <p:nvSpPr>
          <p:cNvPr id="5" name="Text 3"/>
          <p:cNvSpPr/>
          <p:nvPr/>
        </p:nvSpPr>
        <p:spPr>
          <a:xfrm>
            <a:off x="822325" y="2414836"/>
            <a:ext cx="996950" cy="387846"/>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2904"/>
              </a:lnSpc>
              <a:buNone/>
            </a:pPr>
            <a:r>
              <a:rPr lang="en-US" sz="1200" dirty="0">
                <a:solidFill>
                  <a:srgbClr val="F2F1EC"/>
                </a:solidFill>
                <a:latin typeface="JetBrains Mono" pitchFamily="49" charset="0"/>
                <a:ea typeface="JetBrains Mono" pitchFamily="49" charset="-122"/>
                <a:cs typeface="JetBrains Mono" pitchFamily="49" charset="-120"/>
              </a:rPr>
              <a:t>Start</a:t>
            </a:r>
            <a:endParaRPr lang="en-US" sz="1200" dirty="0"/>
          </a:p>
        </p:txBody>
      </p:sp>
      <p:sp>
        <p:nvSpPr>
          <p:cNvPr id="6" name="Text 4"/>
          <p:cNvSpPr/>
          <p:nvPr/>
        </p:nvSpPr>
        <p:spPr>
          <a:xfrm>
            <a:off x="2155825" y="2414836"/>
            <a:ext cx="996950" cy="387846"/>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2904"/>
              </a:lnSpc>
              <a:buNone/>
            </a:pPr>
            <a:r>
              <a:rPr lang="en-US" sz="1200" dirty="0">
                <a:solidFill>
                  <a:srgbClr val="F2F1EC"/>
                </a:solidFill>
                <a:latin typeface="JetBrains Mono" pitchFamily="49" charset="0"/>
                <a:ea typeface="JetBrains Mono" pitchFamily="49" charset="-122"/>
                <a:cs typeface="JetBrains Mono" pitchFamily="49" charset="-120"/>
              </a:rPr>
              <a:t>Choose</a:t>
            </a:r>
            <a:endParaRPr lang="en-US" sz="1200" dirty="0"/>
          </a:p>
        </p:txBody>
      </p:sp>
      <p:sp>
        <p:nvSpPr>
          <p:cNvPr id="7" name="Text 5"/>
          <p:cNvSpPr/>
          <p:nvPr/>
        </p:nvSpPr>
        <p:spPr>
          <a:xfrm>
            <a:off x="3489325" y="2414836"/>
            <a:ext cx="996950" cy="387846"/>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2904"/>
              </a:lnSpc>
              <a:buNone/>
            </a:pPr>
            <a:r>
              <a:rPr lang="en-US" sz="1200" dirty="0">
                <a:solidFill>
                  <a:srgbClr val="F2F1EC"/>
                </a:solidFill>
                <a:latin typeface="JetBrains Mono" pitchFamily="49" charset="0"/>
                <a:ea typeface="JetBrains Mono" pitchFamily="49" charset="-122"/>
                <a:cs typeface="JetBrains Mono" pitchFamily="49" charset="-120"/>
              </a:rPr>
              <a:t>Confirm</a:t>
            </a:r>
            <a:endParaRPr lang="en-US" sz="1200" dirty="0"/>
          </a:p>
        </p:txBody>
      </p:sp>
      <p:sp>
        <p:nvSpPr>
          <p:cNvPr id="8" name="Text 6"/>
          <p:cNvSpPr/>
          <p:nvPr/>
        </p:nvSpPr>
        <p:spPr>
          <a:xfrm>
            <a:off x="4822825" y="2414836"/>
            <a:ext cx="996950" cy="387846"/>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2904"/>
              </a:lnSpc>
              <a:buNone/>
            </a:pPr>
            <a:r>
              <a:rPr lang="en-US" sz="1200" dirty="0">
                <a:solidFill>
                  <a:srgbClr val="F2F1EC"/>
                </a:solidFill>
                <a:latin typeface="JetBrains Mono" pitchFamily="49" charset="0"/>
                <a:ea typeface="JetBrains Mono" pitchFamily="49" charset="-122"/>
                <a:cs typeface="JetBrains Mono" pitchFamily="49" charset="-120"/>
              </a:rPr>
              <a:t>Done</a:t>
            </a:r>
            <a:endParaRPr lang="en-US" sz="1200" dirty="0"/>
          </a:p>
        </p:txBody>
      </p:sp>
      <p:pic>
        <p:nvPicPr>
          <p:cNvPr id="9" name="Image 0" descr="connector">    </p:cNvPr>
          <p:cNvPicPr>
            <a:picLocks noChangeAspect="1"/>
          </p:cNvPicPr>
          <p:nvPr/>
        </p:nvPicPr>
        <p:blipFill>
          <a:blip r:embed="rId1"/>
          <a:srcRect l="0" r="0" t="0" b="0"/>
          <a:stretch/>
        </p:blipFill>
        <p:spPr>
          <a:xfrm>
            <a:off x="1809750" y="2570411"/>
            <a:ext cx="355600" cy="76200"/>
          </a:xfrm>
          <a:prstGeom prst="rect">
            <a:avLst/>
          </a:prstGeom>
        </p:spPr>
      </p:pic>
      <p:pic>
        <p:nvPicPr>
          <p:cNvPr id="10" name="Image 1" descr="connector">    </p:cNvPr>
          <p:cNvPicPr>
            <a:picLocks noChangeAspect="1"/>
          </p:cNvPicPr>
          <p:nvPr/>
        </p:nvPicPr>
        <p:blipFill>
          <a:blip r:embed="rId2"/>
          <a:srcRect l="0" r="0" t="0" b="0"/>
          <a:stretch/>
        </p:blipFill>
        <p:spPr>
          <a:xfrm>
            <a:off x="3143250" y="2570411"/>
            <a:ext cx="355600" cy="76200"/>
          </a:xfrm>
          <a:prstGeom prst="rect">
            <a:avLst/>
          </a:prstGeom>
        </p:spPr>
      </p:pic>
      <p:pic>
        <p:nvPicPr>
          <p:cNvPr id="11" name="Image 2" descr="connector">    </p:cNvPr>
          <p:cNvPicPr>
            <a:picLocks noChangeAspect="1"/>
          </p:cNvPicPr>
          <p:nvPr/>
        </p:nvPicPr>
        <p:blipFill>
          <a:blip r:embed="rId3"/>
          <a:srcRect l="0" r="0" t="0" b="0"/>
          <a:stretch/>
        </p:blipFill>
        <p:spPr>
          <a:xfrm>
            <a:off x="4476750" y="2570411"/>
            <a:ext cx="355600" cy="76200"/>
          </a:xfrm>
          <a:prstGeom prst="rect">
            <a:avLst/>
          </a:prstGeom>
        </p:spPr>
      </p:pic>
      <p:sp>
        <p:nvSpPr>
          <p:cNvPr id="12" name="Text 7"/>
          <p:cNvSpPr/>
          <p:nvPr/>
        </p:nvSpPr>
        <p:spPr>
          <a:xfrm>
            <a:off x="2155825" y="3176836"/>
            <a:ext cx="996950" cy="387846"/>
          </a:xfrm>
          <a:prstGeom prst="rect">
            <a:avLst/>
          </a:prstGeom>
          <a:solidFill>
            <a:srgbClr val="141413"/>
          </a:solidFill>
          <a:ln w="19050">
            <a:solidFill>
              <a:srgbClr val="8A8985"/>
            </a:solidFill>
            <a:prstDash val="solid"/>
          </a:ln>
        </p:spPr>
        <p:txBody>
          <a:bodyPr wrap="square" lIns="0" tIns="9525" rIns="0" bIns="0" rtlCol="0" anchor="t">
            <a:normAutofit/>
          </a:bodyPr>
          <a:lstStyle/>
          <a:p>
            <a:pPr algn="ctr" indent="0" marL="0">
              <a:lnSpc>
                <a:spcPts val="2904"/>
              </a:lnSpc>
              <a:buNone/>
            </a:pPr>
            <a:r>
              <a:rPr lang="en-US" sz="1200" dirty="0">
                <a:solidFill>
                  <a:srgbClr val="8A8985"/>
                </a:solidFill>
                <a:latin typeface="JetBrains Mono" pitchFamily="49" charset="0"/>
                <a:ea typeface="JetBrains Mono" pitchFamily="49" charset="-122"/>
                <a:cs typeface="JetBrains Mono" pitchFamily="49" charset="-120"/>
              </a:rPr>
              <a:t>Edit</a:t>
            </a:r>
            <a:endParaRPr lang="en-US" sz="1200" dirty="0"/>
          </a:p>
        </p:txBody>
      </p:sp>
      <p:pic>
        <p:nvPicPr>
          <p:cNvPr id="13" name="Image 3" descr="connector">    </p:cNvPr>
          <p:cNvPicPr>
            <a:picLocks noChangeAspect="1"/>
          </p:cNvPicPr>
          <p:nvPr/>
        </p:nvPicPr>
        <p:blipFill>
          <a:blip r:embed="rId4"/>
          <a:srcRect l="0" r="0" t="0" b="0"/>
          <a:stretch/>
        </p:blipFill>
        <p:spPr>
          <a:xfrm>
            <a:off x="2616200" y="2792661"/>
            <a:ext cx="76200" cy="393700"/>
          </a:xfrm>
          <a:prstGeom prst="rect">
            <a:avLst/>
          </a:prstGeom>
        </p:spPr>
      </p:pic>
      <p:pic>
        <p:nvPicPr>
          <p:cNvPr id="14" name="Image 4" descr="connector">    </p:cNvPr>
          <p:cNvPicPr>
            <a:picLocks noChangeAspect="1"/>
          </p:cNvPicPr>
          <p:nvPr/>
        </p:nvPicPr>
        <p:blipFill>
          <a:blip r:embed="rId5"/>
          <a:srcRect l="0" r="0" t="0" b="0"/>
          <a:stretch/>
        </p:blipFill>
        <p:spPr>
          <a:xfrm>
            <a:off x="3143250" y="2792661"/>
            <a:ext cx="882650" cy="615950"/>
          </a:xfrm>
          <a:prstGeom prst="rect">
            <a:avLst/>
          </a:prstGeom>
        </p:spPr>
      </p:pic>
      <p:sp>
        <p:nvSpPr>
          <p:cNvPr id="15" name="Text 8"/>
          <p:cNvSpPr/>
          <p:nvPr/>
        </p:nvSpPr>
        <p:spPr>
          <a:xfrm>
            <a:off x="812800" y="3802311"/>
            <a:ext cx="5101590"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Fixed paths.</a:t>
            </a:r>
            <a:endParaRPr lang="en-US" sz="1400" dirty="0"/>
          </a:p>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Success: completion rate.</a:t>
            </a:r>
            <a:endParaRPr lang="en-US" sz="1400" dirty="0"/>
          </a:p>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Failure: traceable.</a:t>
            </a:r>
            <a:endParaRPr lang="en-US" sz="1400" dirty="0"/>
          </a:p>
        </p:txBody>
      </p:sp>
      <p:sp>
        <p:nvSpPr>
          <p:cNvPr id="16" name="Text 9"/>
          <p:cNvSpPr/>
          <p:nvPr/>
        </p:nvSpPr>
        <p:spPr>
          <a:xfrm>
            <a:off x="64262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8DBAF6"/>
                </a:solidFill>
                <a:latin typeface="JetBrains Mono" pitchFamily="49" charset="0"/>
                <a:ea typeface="JetBrains Mono" pitchFamily="49" charset="-122"/>
                <a:cs typeface="JetBrains Mono" pitchFamily="49" charset="-120"/>
              </a:rPr>
              <a:t>CONVERSATION · NOW</a:t>
            </a:r>
            <a:endParaRPr lang="en-US" sz="1200" dirty="0"/>
          </a:p>
        </p:txBody>
      </p:sp>
      <p:sp>
        <p:nvSpPr>
          <p:cNvPr id="17" name="Text 10"/>
          <p:cNvSpPr/>
          <p:nvPr/>
        </p:nvSpPr>
        <p:spPr>
          <a:xfrm>
            <a:off x="6435725" y="2668836"/>
            <a:ext cx="1060450" cy="387846"/>
          </a:xfrm>
          <a:prstGeom prst="rect">
            <a:avLst/>
          </a:prstGeom>
          <a:solidFill>
            <a:srgbClr val="141413"/>
          </a:solidFill>
          <a:ln w="19050">
            <a:solidFill>
              <a:srgbClr val="8DBAF6"/>
            </a:solidFill>
            <a:prstDash val="solid"/>
          </a:ln>
        </p:spPr>
        <p:txBody>
          <a:bodyPr wrap="square" lIns="0" tIns="9525" rIns="0" bIns="0" rtlCol="0" anchor="t">
            <a:normAutofit/>
          </a:bodyPr>
          <a:lstStyle/>
          <a:p>
            <a:pPr algn="ctr" indent="0" marL="0">
              <a:lnSpc>
                <a:spcPts val="2904"/>
              </a:lnSpc>
              <a:buNone/>
            </a:pPr>
            <a:r>
              <a:rPr lang="en-US" sz="1200" dirty="0">
                <a:solidFill>
                  <a:srgbClr val="8DBAF6"/>
                </a:solidFill>
                <a:latin typeface="JetBrains Mono" pitchFamily="49" charset="0"/>
                <a:ea typeface="JetBrains Mono" pitchFamily="49" charset="-122"/>
                <a:cs typeface="JetBrains Mono" pitchFamily="49" charset="-120"/>
              </a:rPr>
              <a:t>Prompt</a:t>
            </a:r>
            <a:endParaRPr lang="en-US" sz="1200" dirty="0"/>
          </a:p>
        </p:txBody>
      </p:sp>
      <p:pic>
        <p:nvPicPr>
          <p:cNvPr id="18" name="Image 5" descr="connector">    </p:cNvPr>
          <p:cNvPicPr>
            <a:picLocks noChangeAspect="1"/>
          </p:cNvPicPr>
          <p:nvPr/>
        </p:nvPicPr>
        <p:blipFill>
          <a:blip r:embed="rId6"/>
          <a:srcRect l="0" r="0" t="0" b="0"/>
          <a:stretch/>
        </p:blipFill>
        <p:spPr>
          <a:xfrm>
            <a:off x="7486650" y="2113211"/>
            <a:ext cx="1530350" cy="787400"/>
          </a:xfrm>
          <a:prstGeom prst="rect">
            <a:avLst/>
          </a:prstGeom>
        </p:spPr>
      </p:pic>
      <p:pic>
        <p:nvPicPr>
          <p:cNvPr id="19" name="Image 6" descr="ellipse">    </p:cNvPr>
          <p:cNvPicPr>
            <a:picLocks noChangeAspect="1"/>
          </p:cNvPicPr>
          <p:nvPr/>
        </p:nvPicPr>
        <p:blipFill>
          <a:blip r:embed="rId7"/>
          <a:srcRect l="0" r="0" t="0" b="0"/>
          <a:stretch/>
        </p:blipFill>
        <p:spPr>
          <a:xfrm>
            <a:off x="8978900" y="2087811"/>
            <a:ext cx="127000" cy="127000"/>
          </a:xfrm>
          <a:prstGeom prst="rect">
            <a:avLst/>
          </a:prstGeom>
        </p:spPr>
      </p:pic>
      <p:sp>
        <p:nvSpPr>
          <p:cNvPr id="20" name="Text 11"/>
          <p:cNvSpPr/>
          <p:nvPr/>
        </p:nvSpPr>
        <p:spPr>
          <a:xfrm>
            <a:off x="9220200" y="203701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Helpful</a:t>
            </a:r>
            <a:endParaRPr lang="en-US" sz="1400" dirty="0"/>
          </a:p>
        </p:txBody>
      </p:sp>
      <p:pic>
        <p:nvPicPr>
          <p:cNvPr id="21" name="Image 7" descr="connector">    </p:cNvPr>
          <p:cNvPicPr>
            <a:picLocks noChangeAspect="1"/>
          </p:cNvPicPr>
          <p:nvPr/>
        </p:nvPicPr>
        <p:blipFill>
          <a:blip r:embed="rId8"/>
          <a:srcRect l="0" r="0" t="0" b="0"/>
          <a:stretch/>
        </p:blipFill>
        <p:spPr>
          <a:xfrm>
            <a:off x="7486650" y="2462461"/>
            <a:ext cx="1530350" cy="438150"/>
          </a:xfrm>
          <a:prstGeom prst="rect">
            <a:avLst/>
          </a:prstGeom>
        </p:spPr>
      </p:pic>
      <p:pic>
        <p:nvPicPr>
          <p:cNvPr id="22" name="Image 8" descr="ellipse">    </p:cNvPr>
          <p:cNvPicPr>
            <a:picLocks noChangeAspect="1"/>
          </p:cNvPicPr>
          <p:nvPr/>
        </p:nvPicPr>
        <p:blipFill>
          <a:blip r:embed="rId9"/>
          <a:srcRect l="0" r="0" t="0" b="0"/>
          <a:stretch/>
        </p:blipFill>
        <p:spPr>
          <a:xfrm>
            <a:off x="8978900" y="2437061"/>
            <a:ext cx="127000" cy="127000"/>
          </a:xfrm>
          <a:prstGeom prst="rect">
            <a:avLst/>
          </a:prstGeom>
        </p:spPr>
      </p:pic>
      <p:sp>
        <p:nvSpPr>
          <p:cNvPr id="23" name="Text 12"/>
          <p:cNvSpPr/>
          <p:nvPr/>
        </p:nvSpPr>
        <p:spPr>
          <a:xfrm>
            <a:off x="9220200" y="238626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Close enough</a:t>
            </a:r>
            <a:endParaRPr lang="en-US" sz="1400" dirty="0"/>
          </a:p>
        </p:txBody>
      </p:sp>
      <p:pic>
        <p:nvPicPr>
          <p:cNvPr id="24" name="Image 9" descr="connector">    </p:cNvPr>
          <p:cNvPicPr>
            <a:picLocks noChangeAspect="1"/>
          </p:cNvPicPr>
          <p:nvPr/>
        </p:nvPicPr>
        <p:blipFill>
          <a:blip r:embed="rId10"/>
          <a:srcRect l="0" r="0" t="0" b="0"/>
          <a:stretch/>
        </p:blipFill>
        <p:spPr>
          <a:xfrm>
            <a:off x="7486650" y="2811711"/>
            <a:ext cx="1530350" cy="88900"/>
          </a:xfrm>
          <a:prstGeom prst="rect">
            <a:avLst/>
          </a:prstGeom>
        </p:spPr>
      </p:pic>
      <p:pic>
        <p:nvPicPr>
          <p:cNvPr id="25" name="Image 10" descr="ellipse">    </p:cNvPr>
          <p:cNvPicPr>
            <a:picLocks noChangeAspect="1"/>
          </p:cNvPicPr>
          <p:nvPr/>
        </p:nvPicPr>
        <p:blipFill>
          <a:blip r:embed="rId11"/>
          <a:srcRect l="0" r="0" t="0" b="0"/>
          <a:stretch/>
        </p:blipFill>
        <p:spPr>
          <a:xfrm>
            <a:off x="8978900" y="2786311"/>
            <a:ext cx="127000" cy="127000"/>
          </a:xfrm>
          <a:prstGeom prst="rect">
            <a:avLst/>
          </a:prstGeom>
        </p:spPr>
      </p:pic>
      <p:sp>
        <p:nvSpPr>
          <p:cNvPr id="26" name="Text 13"/>
          <p:cNvSpPr/>
          <p:nvPr/>
        </p:nvSpPr>
        <p:spPr>
          <a:xfrm>
            <a:off x="9220200" y="273551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F6A4D"/>
                </a:solidFill>
                <a:latin typeface="JetBrains Mono" pitchFamily="49" charset="0"/>
                <a:ea typeface="JetBrains Mono" pitchFamily="49" charset="-122"/>
                <a:cs typeface="JetBrains Mono" pitchFamily="49" charset="-120"/>
              </a:rPr>
              <a:t>Confidently wrong</a:t>
            </a:r>
            <a:endParaRPr lang="en-US" sz="1400" dirty="0"/>
          </a:p>
        </p:txBody>
      </p:sp>
      <p:pic>
        <p:nvPicPr>
          <p:cNvPr id="27" name="Image 11" descr="connector">    </p:cNvPr>
          <p:cNvPicPr>
            <a:picLocks noChangeAspect="1"/>
          </p:cNvPicPr>
          <p:nvPr/>
        </p:nvPicPr>
        <p:blipFill>
          <a:blip r:embed="rId12"/>
          <a:srcRect l="0" r="0" t="0" b="0"/>
          <a:stretch/>
        </p:blipFill>
        <p:spPr>
          <a:xfrm>
            <a:off x="7486650" y="2824411"/>
            <a:ext cx="1530350" cy="412750"/>
          </a:xfrm>
          <a:prstGeom prst="rect">
            <a:avLst/>
          </a:prstGeom>
        </p:spPr>
      </p:pic>
      <p:pic>
        <p:nvPicPr>
          <p:cNvPr id="28" name="Image 12" descr="ellipse">    </p:cNvPr>
          <p:cNvPicPr>
            <a:picLocks noChangeAspect="1"/>
          </p:cNvPicPr>
          <p:nvPr/>
        </p:nvPicPr>
        <p:blipFill>
          <a:blip r:embed="rId13"/>
          <a:srcRect l="0" r="0" t="0" b="0"/>
          <a:stretch/>
        </p:blipFill>
        <p:spPr>
          <a:xfrm>
            <a:off x="8978900" y="3135561"/>
            <a:ext cx="127000" cy="127000"/>
          </a:xfrm>
          <a:prstGeom prst="rect">
            <a:avLst/>
          </a:prstGeom>
        </p:spPr>
      </p:pic>
      <p:sp>
        <p:nvSpPr>
          <p:cNvPr id="29" name="Text 14"/>
          <p:cNvSpPr/>
          <p:nvPr/>
        </p:nvSpPr>
        <p:spPr>
          <a:xfrm>
            <a:off x="9220200" y="308476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Off topic</a:t>
            </a:r>
            <a:endParaRPr lang="en-US" sz="1400" dirty="0"/>
          </a:p>
        </p:txBody>
      </p:sp>
      <p:pic>
        <p:nvPicPr>
          <p:cNvPr id="30" name="Image 13" descr="connector">    </p:cNvPr>
          <p:cNvPicPr>
            <a:picLocks noChangeAspect="1"/>
          </p:cNvPicPr>
          <p:nvPr/>
        </p:nvPicPr>
        <p:blipFill>
          <a:blip r:embed="rId14"/>
          <a:srcRect l="0" r="0" t="0" b="0"/>
          <a:stretch/>
        </p:blipFill>
        <p:spPr>
          <a:xfrm>
            <a:off x="7486650" y="2824411"/>
            <a:ext cx="1530350" cy="762000"/>
          </a:xfrm>
          <a:prstGeom prst="rect">
            <a:avLst/>
          </a:prstGeom>
        </p:spPr>
      </p:pic>
      <p:pic>
        <p:nvPicPr>
          <p:cNvPr id="31" name="Image 14" descr="ellipse">    </p:cNvPr>
          <p:cNvPicPr>
            <a:picLocks noChangeAspect="1"/>
          </p:cNvPicPr>
          <p:nvPr/>
        </p:nvPicPr>
        <p:blipFill>
          <a:blip r:embed="rId15"/>
          <a:srcRect l="0" r="0" t="0" b="0"/>
          <a:stretch/>
        </p:blipFill>
        <p:spPr>
          <a:xfrm>
            <a:off x="8978900" y="3484811"/>
            <a:ext cx="127000" cy="127000"/>
          </a:xfrm>
          <a:prstGeom prst="rect">
            <a:avLst/>
          </a:prstGeom>
        </p:spPr>
      </p:pic>
      <p:sp>
        <p:nvSpPr>
          <p:cNvPr id="32" name="Text 15"/>
          <p:cNvSpPr/>
          <p:nvPr/>
        </p:nvSpPr>
        <p:spPr>
          <a:xfrm>
            <a:off x="9220200" y="3434011"/>
            <a:ext cx="259080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Different every time</a:t>
            </a:r>
            <a:endParaRPr lang="en-US" sz="1400" dirty="0"/>
          </a:p>
        </p:txBody>
      </p:sp>
      <p:sp>
        <p:nvSpPr>
          <p:cNvPr id="33" name="Text 16"/>
          <p:cNvSpPr/>
          <p:nvPr/>
        </p:nvSpPr>
        <p:spPr>
          <a:xfrm>
            <a:off x="6426200" y="3802311"/>
            <a:ext cx="5101590"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Probabilistic replies.</a:t>
            </a:r>
            <a:endParaRPr lang="en-US" sz="1400" dirty="0"/>
          </a:p>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Success: no settled metric.</a:t>
            </a:r>
            <a:endParaRPr lang="en-US" sz="1400" dirty="0"/>
          </a:p>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Failure: hard to diagnose.</a:t>
            </a:r>
            <a:endParaRPr lang="en-US" sz="1400" dirty="0"/>
          </a:p>
        </p:txBody>
      </p:sp>
      <p:sp>
        <p:nvSpPr>
          <p:cNvPr id="34" name="Text 17"/>
          <p:cNvSpPr/>
          <p:nvPr/>
        </p:nvSpPr>
        <p:spPr>
          <a:xfrm>
            <a:off x="812800" y="4704011"/>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The design moved from the screen into the prompt.</a:t>
            </a:r>
            <a:endParaRPr lang="en-US" sz="2000" dirty="0"/>
          </a:p>
        </p:txBody>
      </p:sp>
      <p:sp>
        <p:nvSpPr>
          <p:cNvPr id="35"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6" name="Text 19"/>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08 / 34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TURN TO A NEIGHBOUR · 2 MIN</a:t>
            </a:r>
            <a:endParaRPr lang="en-US" sz="1200" dirty="0"/>
          </a:p>
        </p:txBody>
      </p:sp>
      <p:sp>
        <p:nvSpPr>
          <p:cNvPr id="3" name="Text 1"/>
          <p:cNvSpPr/>
          <p:nvPr>
            <p:ph type="title"/>
          </p:nvPr>
        </p:nvSpPr>
        <p:spPr>
          <a:xfrm>
            <a:off x="812800" y="268734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F2F1EC"/>
                </a:solidFill>
                <a:latin typeface="JetBrains Mono" pitchFamily="49" charset="0"/>
                <a:ea typeface="JetBrains Mono" pitchFamily="49" charset="-122"/>
                <a:cs typeface="JetBrains Mono" pitchFamily="49" charset="-120"/>
              </a:rPr>
              <a:t>Where does AI sit on your map?</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Two minutes in pairs. Is it closer to you than some of the people?</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09 / 34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 · AI · RESEARCH</a:t>
            </a:r>
            <a:endParaRPr lang="en-US" sz="1200" dirty="0"/>
          </a:p>
        </p:txBody>
      </p:sp>
      <p:sp>
        <p:nvSpPr>
          <p:cNvPr id="5" name="Text 2"/>
          <p:cNvSpPr/>
          <p:nvPr>
            <p:ph type="title"/>
          </p:nvPr>
        </p:nvSpPr>
        <p:spPr>
          <a:xfrm>
            <a:off x="812800" y="212348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Why it</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feels new</a:t>
            </a:r>
            <a:endParaRPr lang="en-US" sz="7200" dirty="0"/>
          </a:p>
        </p:txBody>
      </p:sp>
      <p:sp>
        <p:nvSpPr>
          <p:cNvPr id="6" name="Text 3"/>
          <p:cNvSpPr/>
          <p:nvPr/>
        </p:nvSpPr>
        <p:spPr>
          <a:xfrm>
            <a:off x="812800" y="4206280"/>
            <a:ext cx="601726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Part 2 · It isn’t new, and our signals are proxies</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6:55–7:15 PM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NONE OF THIS IS NEW</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People treat computers</a:t>
            </a:r>
            <a:endParaRPr lang="en-US" sz="3600" dirty="0"/>
          </a:p>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as social actors</a:t>
            </a:r>
            <a:endParaRPr lang="en-US" sz="3600" dirty="0"/>
          </a:p>
        </p:txBody>
      </p:sp>
      <p:sp>
        <p:nvSpPr>
          <p:cNvPr id="4" name="Shape 2"/>
          <p:cNvSpPr/>
          <p:nvPr/>
        </p:nvSpPr>
        <p:spPr>
          <a:xfrm>
            <a:off x="812800" y="2887960"/>
            <a:ext cx="2489200" cy="0"/>
          </a:xfrm>
          <a:prstGeom prst="line">
            <a:avLst/>
          </a:prstGeom>
          <a:noFill/>
          <a:ln w="12700">
            <a:solidFill>
              <a:srgbClr val="B7ADFF"/>
            </a:solidFill>
            <a:prstDash val="solid"/>
          </a:ln>
        </p:spPr>
      </p:sp>
      <p:sp>
        <p:nvSpPr>
          <p:cNvPr id="5" name="Text 3"/>
          <p:cNvSpPr/>
          <p:nvPr/>
        </p:nvSpPr>
        <p:spPr>
          <a:xfrm>
            <a:off x="8128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B7ADFF"/>
                </a:solidFill>
                <a:latin typeface="JetBrains Mono" pitchFamily="49" charset="0"/>
                <a:ea typeface="JetBrains Mono" pitchFamily="49" charset="-122"/>
                <a:cs typeface="JetBrains Mono" pitchFamily="49" charset="-120"/>
              </a:rPr>
              <a:t>1966</a:t>
            </a:r>
            <a:endParaRPr lang="en-US" sz="4800" dirty="0"/>
          </a:p>
        </p:txBody>
      </p:sp>
      <p:sp>
        <p:nvSpPr>
          <p:cNvPr id="6" name="Text 4"/>
          <p:cNvSpPr/>
          <p:nvPr/>
        </p:nvSpPr>
        <p:spPr>
          <a:xfrm>
            <a:off x="8128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ELIZA</a:t>
            </a:r>
            <a:endParaRPr lang="en-US" sz="2000" dirty="0"/>
          </a:p>
        </p:txBody>
      </p:sp>
      <p:sp>
        <p:nvSpPr>
          <p:cNvPr id="7" name="Text 5"/>
          <p:cNvSpPr/>
          <p:nvPr/>
        </p:nvSpPr>
        <p:spPr>
          <a:xfrm>
            <a:off x="8128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Users confide in a script</a:t>
            </a:r>
            <a:endParaRPr lang="en-US" sz="1600" dirty="0"/>
          </a:p>
        </p:txBody>
      </p:sp>
      <p:sp>
        <p:nvSpPr>
          <p:cNvPr id="8" name="Shape 6"/>
          <p:cNvSpPr/>
          <p:nvPr/>
        </p:nvSpPr>
        <p:spPr>
          <a:xfrm>
            <a:off x="3505200" y="2887960"/>
            <a:ext cx="2489200" cy="0"/>
          </a:xfrm>
          <a:prstGeom prst="line">
            <a:avLst/>
          </a:prstGeom>
          <a:noFill/>
          <a:ln w="12700">
            <a:solidFill>
              <a:srgbClr val="B7ADFF"/>
            </a:solidFill>
            <a:prstDash val="solid"/>
          </a:ln>
        </p:spPr>
      </p:sp>
      <p:sp>
        <p:nvSpPr>
          <p:cNvPr id="9" name="Text 7"/>
          <p:cNvSpPr/>
          <p:nvPr/>
        </p:nvSpPr>
        <p:spPr>
          <a:xfrm>
            <a:off x="35052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B7ADFF"/>
                </a:solidFill>
                <a:latin typeface="JetBrains Mono" pitchFamily="49" charset="0"/>
                <a:ea typeface="JetBrains Mono" pitchFamily="49" charset="-122"/>
                <a:cs typeface="JetBrains Mono" pitchFamily="49" charset="-120"/>
              </a:rPr>
              <a:t>1994</a:t>
            </a:r>
            <a:endParaRPr lang="en-US" sz="4800" dirty="0"/>
          </a:p>
        </p:txBody>
      </p:sp>
      <p:sp>
        <p:nvSpPr>
          <p:cNvPr id="10" name="Text 8"/>
          <p:cNvSpPr/>
          <p:nvPr/>
        </p:nvSpPr>
        <p:spPr>
          <a:xfrm>
            <a:off x="35052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CASA</a:t>
            </a:r>
            <a:endParaRPr lang="en-US" sz="2000" dirty="0"/>
          </a:p>
        </p:txBody>
      </p:sp>
      <p:sp>
        <p:nvSpPr>
          <p:cNvPr id="11" name="Text 9"/>
          <p:cNvSpPr/>
          <p:nvPr/>
        </p:nvSpPr>
        <p:spPr>
          <a:xfrm>
            <a:off x="35052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Social rules apply to machines</a:t>
            </a:r>
            <a:endParaRPr lang="en-US" sz="1600" dirty="0"/>
          </a:p>
        </p:txBody>
      </p:sp>
      <p:sp>
        <p:nvSpPr>
          <p:cNvPr id="12" name="Shape 10"/>
          <p:cNvSpPr/>
          <p:nvPr/>
        </p:nvSpPr>
        <p:spPr>
          <a:xfrm>
            <a:off x="6197600" y="2887960"/>
            <a:ext cx="2489200" cy="0"/>
          </a:xfrm>
          <a:prstGeom prst="line">
            <a:avLst/>
          </a:prstGeom>
          <a:noFill/>
          <a:ln w="12700">
            <a:solidFill>
              <a:srgbClr val="FF6A4D"/>
            </a:solidFill>
            <a:prstDash val="solid"/>
          </a:ln>
        </p:spPr>
      </p:sp>
      <p:sp>
        <p:nvSpPr>
          <p:cNvPr id="13" name="Text 11"/>
          <p:cNvSpPr/>
          <p:nvPr/>
        </p:nvSpPr>
        <p:spPr>
          <a:xfrm>
            <a:off x="61976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F6A4D"/>
                </a:solidFill>
                <a:latin typeface="JetBrains Mono" pitchFamily="49" charset="0"/>
                <a:ea typeface="JetBrains Mono" pitchFamily="49" charset="-122"/>
                <a:cs typeface="JetBrains Mono" pitchFamily="49" charset="-120"/>
              </a:rPr>
              <a:t>1997</a:t>
            </a:r>
            <a:endParaRPr lang="en-US" sz="4800" dirty="0"/>
          </a:p>
        </p:txBody>
      </p:sp>
      <p:sp>
        <p:nvSpPr>
          <p:cNvPr id="14" name="Text 12"/>
          <p:cNvSpPr/>
          <p:nvPr/>
        </p:nvSpPr>
        <p:spPr>
          <a:xfrm>
            <a:off x="61976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Clippy</a:t>
            </a:r>
            <a:endParaRPr lang="en-US" sz="2000" dirty="0"/>
          </a:p>
        </p:txBody>
      </p:sp>
      <p:sp>
        <p:nvSpPr>
          <p:cNvPr id="15" name="Text 13"/>
          <p:cNvSpPr/>
          <p:nvPr/>
        </p:nvSpPr>
        <p:spPr>
          <a:xfrm>
            <a:off x="61976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Personality without capability</a:t>
            </a:r>
            <a:endParaRPr lang="en-US" sz="1600" dirty="0"/>
          </a:p>
        </p:txBody>
      </p:sp>
      <p:sp>
        <p:nvSpPr>
          <p:cNvPr id="16" name="Shape 14"/>
          <p:cNvSpPr/>
          <p:nvPr/>
        </p:nvSpPr>
        <p:spPr>
          <a:xfrm>
            <a:off x="8890000" y="2887960"/>
            <a:ext cx="2489200" cy="0"/>
          </a:xfrm>
          <a:prstGeom prst="line">
            <a:avLst/>
          </a:prstGeom>
          <a:noFill/>
          <a:ln w="12700">
            <a:solidFill>
              <a:srgbClr val="F2F1EC"/>
            </a:solidFill>
            <a:prstDash val="solid"/>
          </a:ln>
        </p:spPr>
      </p:sp>
      <p:sp>
        <p:nvSpPr>
          <p:cNvPr id="17" name="Text 15"/>
          <p:cNvSpPr/>
          <p:nvPr/>
        </p:nvSpPr>
        <p:spPr>
          <a:xfrm>
            <a:off x="88900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2F1EC"/>
                </a:solidFill>
                <a:latin typeface="JetBrains Mono" pitchFamily="49" charset="0"/>
                <a:ea typeface="JetBrains Mono" pitchFamily="49" charset="-122"/>
                <a:cs typeface="JetBrains Mono" pitchFamily="49" charset="-120"/>
              </a:rPr>
              <a:t>2025</a:t>
            </a:r>
            <a:endParaRPr lang="en-US" sz="4800" dirty="0"/>
          </a:p>
        </p:txBody>
      </p:sp>
      <p:sp>
        <p:nvSpPr>
          <p:cNvPr id="18" name="Text 16"/>
          <p:cNvSpPr/>
          <p:nvPr/>
        </p:nvSpPr>
        <p:spPr>
          <a:xfrm>
            <a:off x="88900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Mico</a:t>
            </a:r>
            <a:endParaRPr lang="en-US" sz="2000" dirty="0"/>
          </a:p>
        </p:txBody>
      </p:sp>
      <p:sp>
        <p:nvSpPr>
          <p:cNvPr id="19" name="Text 17"/>
          <p:cNvSpPr/>
          <p:nvPr/>
        </p:nvSpPr>
        <p:spPr>
          <a:xfrm>
            <a:off x="88900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Personality as the product</a:t>
            </a:r>
            <a:endParaRPr lang="en-US" sz="1600" dirty="0"/>
          </a:p>
        </p:txBody>
      </p:sp>
      <p:sp>
        <p:nvSpPr>
          <p:cNvPr id="20" name="Text 18"/>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Studied for sixty years. So why does it feel new?</a:t>
            </a:r>
            <a:endParaRPr lang="en-US" sz="2400" dirty="0"/>
          </a:p>
        </p:txBody>
      </p:sp>
      <p:sp>
        <p:nvSpPr>
          <p:cNvPr id="21" name="Text 19"/>
          <p:cNvSpPr/>
          <p:nvPr/>
        </p:nvSpPr>
        <p:spPr>
          <a:xfrm>
            <a:off x="812800" y="6238280"/>
            <a:ext cx="79979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WEIZENBAUM, 1966, 1976 · NASS ET AL., 1994 · REEVES &amp; NASS, 1996</a:t>
            </a:r>
            <a:endParaRPr lang="en-US" sz="1200" dirty="0"/>
          </a:p>
        </p:txBody>
      </p:sp>
      <p:sp>
        <p:nvSpPr>
          <p:cNvPr id="22" name="Text 2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11 / 34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1" spc="-50" kern="0" dirty="0">
                <a:solidFill>
                  <a:srgbClr val="F2F1EC"/>
                </a:solidFill>
                <a:latin typeface="JetBrains Mono" pitchFamily="49" charset="0"/>
                <a:ea typeface="JetBrains Mono" pitchFamily="49" charset="-122"/>
                <a:cs typeface="JetBrains Mono" pitchFamily="49" charset="-120"/>
              </a:rPr>
              <a:t>Her</a:t>
            </a:r>
            <a:r>
              <a:rPr lang="en-US" sz="3600" b="0" i="0" spc="-50" kern="0" dirty="0">
                <a:solidFill>
                  <a:srgbClr val="F2F1EC"/>
                </a:solidFill>
                <a:latin typeface="JetBrains Mono" pitchFamily="49" charset="0"/>
                <a:ea typeface="JetBrains Mono" pitchFamily="49" charset="-122"/>
                <a:cs typeface="JetBrains Mono" pitchFamily="49" charset="-120"/>
              </a:rPr>
              <a:t>, and the people who built AI</a:t>
            </a:r>
            <a:endParaRPr lang="en-US" sz="3600" dirty="0"/>
          </a:p>
        </p:txBody>
      </p:sp>
      <p:sp>
        <p:nvSpPr>
          <p:cNvPr id="4" name="Shape 2"/>
          <p:cNvSpPr/>
          <p:nvPr/>
        </p:nvSpPr>
        <p:spPr>
          <a:xfrm>
            <a:off x="812800" y="2157760"/>
            <a:ext cx="10566400" cy="0"/>
          </a:xfrm>
          <a:prstGeom prst="line">
            <a:avLst/>
          </a:prstGeom>
          <a:noFill/>
          <a:ln w="6350">
            <a:solidFill>
              <a:srgbClr val="2A2A28"/>
            </a:solidFill>
            <a:prstDash val="solid"/>
          </a:ln>
        </p:spPr>
      </p:sp>
      <p:sp>
        <p:nvSpPr>
          <p:cNvPr id="5" name="Text 3"/>
          <p:cNvSpPr/>
          <p:nvPr/>
        </p:nvSpPr>
        <p:spPr>
          <a:xfrm>
            <a:off x="812800" y="2313335"/>
            <a:ext cx="170180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2013</a:t>
            </a:r>
            <a:endParaRPr lang="en-US" sz="1600" dirty="0"/>
          </a:p>
        </p:txBody>
      </p:sp>
      <p:sp>
        <p:nvSpPr>
          <p:cNvPr id="6" name="Text 4"/>
          <p:cNvSpPr/>
          <p:nvPr/>
        </p:nvSpPr>
        <p:spPr>
          <a:xfrm>
            <a:off x="2768600" y="2313335"/>
            <a:ext cx="886891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Theodore falls in love with Samantha, voiced by Scarlett Johansson.</a:t>
            </a:r>
            <a:endParaRPr lang="en-US" sz="1800" dirty="0"/>
          </a:p>
        </p:txBody>
      </p:sp>
      <p:sp>
        <p:nvSpPr>
          <p:cNvPr id="7" name="Shape 5"/>
          <p:cNvSpPr/>
          <p:nvPr/>
        </p:nvSpPr>
        <p:spPr>
          <a:xfrm>
            <a:off x="812800" y="3063230"/>
            <a:ext cx="10566400" cy="0"/>
          </a:xfrm>
          <a:prstGeom prst="line">
            <a:avLst/>
          </a:prstGeom>
          <a:noFill/>
          <a:ln w="6350">
            <a:solidFill>
              <a:srgbClr val="2A2A28"/>
            </a:solidFill>
            <a:prstDash val="solid"/>
          </a:ln>
        </p:spPr>
      </p:sp>
      <p:sp>
        <p:nvSpPr>
          <p:cNvPr id="8" name="Text 6"/>
          <p:cNvSpPr/>
          <p:nvPr/>
        </p:nvSpPr>
        <p:spPr>
          <a:xfrm>
            <a:off x="812800" y="321880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SEP 2023</a:t>
            </a:r>
            <a:endParaRPr lang="en-US" sz="1600" dirty="0"/>
          </a:p>
        </p:txBody>
      </p:sp>
      <p:sp>
        <p:nvSpPr>
          <p:cNvPr id="9" name="Text 7"/>
          <p:cNvSpPr/>
          <p:nvPr/>
        </p:nvSpPr>
        <p:spPr>
          <a:xfrm>
            <a:off x="2768600" y="321880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Sam Altman asks Johansson to voice ChatGPT. She declines.</a:t>
            </a:r>
            <a:endParaRPr lang="en-US" sz="1800" dirty="0"/>
          </a:p>
        </p:txBody>
      </p:sp>
      <p:sp>
        <p:nvSpPr>
          <p:cNvPr id="10" name="Shape 8"/>
          <p:cNvSpPr/>
          <p:nvPr/>
        </p:nvSpPr>
        <p:spPr>
          <a:xfrm>
            <a:off x="812800" y="3671540"/>
            <a:ext cx="10566400" cy="0"/>
          </a:xfrm>
          <a:prstGeom prst="line">
            <a:avLst/>
          </a:prstGeom>
          <a:noFill/>
          <a:ln w="6350">
            <a:solidFill>
              <a:srgbClr val="2A2A28"/>
            </a:solidFill>
            <a:prstDash val="solid"/>
          </a:ln>
        </p:spPr>
      </p:sp>
      <p:sp>
        <p:nvSpPr>
          <p:cNvPr id="11" name="Text 9"/>
          <p:cNvSpPr/>
          <p:nvPr/>
        </p:nvSpPr>
        <p:spPr>
          <a:xfrm>
            <a:off x="812800" y="382711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MAY 2024</a:t>
            </a:r>
            <a:endParaRPr lang="en-US" sz="1600" dirty="0"/>
          </a:p>
        </p:txBody>
      </p:sp>
      <p:sp>
        <p:nvSpPr>
          <p:cNvPr id="12" name="Text 10"/>
          <p:cNvSpPr/>
          <p:nvPr/>
        </p:nvSpPr>
        <p:spPr>
          <a:xfrm>
            <a:off x="2768600" y="382711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OpenAI releases a voice called “Sky.” Listeners hear Samantha.</a:t>
            </a:r>
            <a:endParaRPr lang="en-US" sz="1800" dirty="0"/>
          </a:p>
        </p:txBody>
      </p:sp>
      <p:sp>
        <p:nvSpPr>
          <p:cNvPr id="13" name="Shape 11"/>
          <p:cNvSpPr/>
          <p:nvPr/>
        </p:nvSpPr>
        <p:spPr>
          <a:xfrm>
            <a:off x="812800" y="4279850"/>
            <a:ext cx="10566400" cy="0"/>
          </a:xfrm>
          <a:prstGeom prst="line">
            <a:avLst/>
          </a:prstGeom>
          <a:noFill/>
          <a:ln w="6350">
            <a:solidFill>
              <a:srgbClr val="2A2A28"/>
            </a:solidFill>
            <a:prstDash val="solid"/>
          </a:ln>
        </p:spPr>
      </p:sp>
      <p:sp>
        <p:nvSpPr>
          <p:cNvPr id="14" name="Shape 12"/>
          <p:cNvSpPr/>
          <p:nvPr/>
        </p:nvSpPr>
        <p:spPr>
          <a:xfrm>
            <a:off x="812800" y="4888161"/>
            <a:ext cx="10566400" cy="0"/>
          </a:xfrm>
          <a:prstGeom prst="line">
            <a:avLst/>
          </a:prstGeom>
          <a:noFill/>
          <a:ln w="6350">
            <a:solidFill>
              <a:srgbClr val="2A2A28"/>
            </a:solidFill>
            <a:prstDash val="solid"/>
          </a:ln>
        </p:spPr>
      </p:sp>
      <p:sp>
        <p:nvSpPr>
          <p:cNvPr id="15" name="Text 13"/>
          <p:cNvSpPr/>
          <p:nvPr/>
        </p:nvSpPr>
        <p:spPr>
          <a:xfrm>
            <a:off x="812800" y="443542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THE PITCH</a:t>
            </a:r>
            <a:endParaRPr lang="en-US" sz="1600" dirty="0"/>
          </a:p>
        </p:txBody>
      </p:sp>
      <p:sp>
        <p:nvSpPr>
          <p:cNvPr id="16" name="Text 14"/>
          <p:cNvSpPr/>
          <p:nvPr/>
        </p:nvSpPr>
        <p:spPr>
          <a:xfrm>
            <a:off x="2768600" y="443542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Samantha's voice could help people “feel comfortable” with AI.</a:t>
            </a:r>
            <a:endParaRPr lang="en-US" sz="1800" dirty="0"/>
          </a:p>
        </p:txBody>
      </p:sp>
      <p:sp>
        <p:nvSpPr>
          <p:cNvPr id="17" name="Text 15"/>
          <p:cNvSpPr/>
          <p:nvPr/>
        </p:nvSpPr>
        <p:spPr>
          <a:xfrm>
            <a:off x="812800" y="541531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F2F1EC"/>
                </a:solidFill>
                <a:latin typeface="JetBrains Mono" pitchFamily="49" charset="0"/>
                <a:ea typeface="JetBrains Mono" pitchFamily="49" charset="-122"/>
                <a:cs typeface="JetBrains Mono" pitchFamily="49" charset="-120"/>
              </a:rPr>
              <a:t>Stories that are familiar create trust</a:t>
            </a:r>
            <a:endParaRPr lang="en-US" sz="2800" dirty="0"/>
          </a:p>
        </p:txBody>
      </p:sp>
      <p:sp>
        <p:nvSpPr>
          <p:cNvPr id="18" name="Text 16"/>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JOHANSSON, PUBLIC STATEMENT, MAY 2024</a:t>
            </a:r>
            <a:endParaRPr lang="en-US" sz="1200" dirty="0"/>
          </a:p>
        </p:txBody>
      </p:sp>
      <p:sp>
        <p:nvSpPr>
          <p:cNvPr id="19" name="Text 17"/>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12 / 34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69001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ROOTS OF UX</a:t>
            </a:r>
            <a:endParaRPr lang="en-US" sz="1200" dirty="0"/>
          </a:p>
        </p:txBody>
      </p:sp>
      <p:sp>
        <p:nvSpPr>
          <p:cNvPr id="3" name="Text 1"/>
          <p:cNvSpPr/>
          <p:nvPr>
            <p:ph type="title"/>
          </p:nvPr>
        </p:nvSpPr>
        <p:spPr>
          <a:xfrm>
            <a:off x="812800" y="1127720"/>
            <a:ext cx="8038981"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UX is older than it feels</a:t>
            </a:r>
            <a:endParaRPr lang="en-US" sz="3600" dirty="0"/>
          </a:p>
        </p:txBody>
      </p:sp>
      <p:pic>
        <p:nvPicPr>
          <p:cNvPr id="4" name="Image 0" descr="Simplified swimlane timeline of the roots of UX, 1911 to 2023. Seven lanes: psychology, human factors, design, social science, computing, interfaces and UX practice. Strands run separately until the 1980s, then converge on the naming of user experience in 1993, and continue into product design, human-AI guidelines and generative UI.">    </p:cNvPr>
          <p:cNvPicPr>
            <a:picLocks noChangeAspect="1"/>
          </p:cNvPicPr>
          <p:nvPr/>
        </p:nvPicPr>
        <p:blipFill>
          <a:blip r:embed="rId1"/>
          <a:srcRect l="0" r="0" t="-5" b="-5"/>
          <a:stretch/>
        </p:blipFill>
        <p:spPr>
          <a:xfrm>
            <a:off x="812800" y="1833811"/>
            <a:ext cx="10566400" cy="3937000"/>
          </a:xfrm>
          <a:prstGeom prst="rect">
            <a:avLst/>
          </a:prstGeom>
        </p:spPr>
      </p:pic>
      <p:sp>
        <p:nvSpPr>
          <p:cNvPr id="5" name="Text 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3"/>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13 / 34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METHODS WITHOUT RIGOUR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Methods without rigour</a:t>
            </a:r>
            <a:endParaRPr lang="en-US" sz="3600" dirty="0"/>
          </a:p>
        </p:txBody>
      </p:sp>
      <p:pic>
        <p:nvPicPr>
          <p:cNvPr id="4" name="Image 0" descr="Lineage: academic disciplines to HCI to UX to AI-era design to reconnecting with science. A dashed arc marks rigour skipped between HCI and UX; another marks the reconnection needed after AI-era design.">    </p:cNvPr>
          <p:cNvPicPr>
            <a:picLocks noChangeAspect="1"/>
          </p:cNvPicPr>
          <p:nvPr/>
        </p:nvPicPr>
        <p:blipFill>
          <a:blip r:embed="rId1"/>
          <a:srcRect l="-29" r="-29" t="0" b="0"/>
          <a:stretch/>
        </p:blipFill>
        <p:spPr>
          <a:xfrm>
            <a:off x="812800" y="2413000"/>
            <a:ext cx="10566400" cy="3429000"/>
          </a:xfrm>
          <a:prstGeom prst="rect">
            <a:avLst/>
          </a:prstGeom>
        </p:spPr>
      </p:pic>
      <p:sp>
        <p:nvSpPr>
          <p:cNvPr id="5" name="Text 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3"/>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14 / 34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A RENAISSANCE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Europe looked back to remake itself</a:t>
            </a:r>
            <a:endParaRPr lang="en-US" sz="3600" dirty="0"/>
          </a:p>
        </p:txBody>
      </p:sp>
      <p:sp>
        <p:nvSpPr>
          <p:cNvPr id="4" name="Shape 2"/>
          <p:cNvSpPr/>
          <p:nvPr/>
        </p:nvSpPr>
        <p:spPr>
          <a:xfrm>
            <a:off x="812800" y="2155875"/>
            <a:ext cx="10566400" cy="0"/>
          </a:xfrm>
          <a:prstGeom prst="line">
            <a:avLst/>
          </a:prstGeom>
          <a:noFill/>
          <a:ln w="6350">
            <a:solidFill>
              <a:srgbClr val="2A2A28"/>
            </a:solidFill>
            <a:prstDash val="solid"/>
          </a:ln>
        </p:spPr>
      </p:sp>
      <p:sp>
        <p:nvSpPr>
          <p:cNvPr id="5" name="Text 3"/>
          <p:cNvSpPr/>
          <p:nvPr/>
        </p:nvSpPr>
        <p:spPr>
          <a:xfrm>
            <a:off x="812800" y="231145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1347–1351</a:t>
            </a:r>
            <a:endParaRPr lang="en-US" sz="1600" dirty="0"/>
          </a:p>
        </p:txBody>
      </p:sp>
      <p:sp>
        <p:nvSpPr>
          <p:cNvPr id="6" name="Text 4"/>
          <p:cNvSpPr/>
          <p:nvPr/>
        </p:nvSpPr>
        <p:spPr>
          <a:xfrm>
            <a:off x="3022600" y="231145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The Black Death kills a third to a half of Europe, and shakes the old order.</a:t>
            </a:r>
            <a:endParaRPr lang="en-US" sz="1800" dirty="0"/>
          </a:p>
        </p:txBody>
      </p:sp>
      <p:sp>
        <p:nvSpPr>
          <p:cNvPr id="7" name="Shape 5"/>
          <p:cNvSpPr/>
          <p:nvPr/>
        </p:nvSpPr>
        <p:spPr>
          <a:xfrm>
            <a:off x="812800" y="3061345"/>
            <a:ext cx="10566400" cy="0"/>
          </a:xfrm>
          <a:prstGeom prst="line">
            <a:avLst/>
          </a:prstGeom>
          <a:noFill/>
          <a:ln w="6350">
            <a:solidFill>
              <a:srgbClr val="2A2A28"/>
            </a:solidFill>
            <a:prstDash val="solid"/>
          </a:ln>
        </p:spPr>
      </p:sp>
      <p:sp>
        <p:nvSpPr>
          <p:cNvPr id="8" name="Text 6"/>
          <p:cNvSpPr/>
          <p:nvPr/>
        </p:nvSpPr>
        <p:spPr>
          <a:xfrm>
            <a:off x="812800" y="321692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14TH–16TH C.</a:t>
            </a:r>
            <a:endParaRPr lang="en-US" sz="1600" dirty="0"/>
          </a:p>
        </p:txBody>
      </p:sp>
      <p:sp>
        <p:nvSpPr>
          <p:cNvPr id="9" name="Text 7"/>
          <p:cNvSpPr/>
          <p:nvPr/>
        </p:nvSpPr>
        <p:spPr>
          <a:xfrm>
            <a:off x="3022600" y="321692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Scholars and artists turn to Greece and Rome, recovering and translating what had survived.</a:t>
            </a:r>
            <a:endParaRPr lang="en-US" sz="1800" dirty="0"/>
          </a:p>
        </p:txBody>
      </p:sp>
      <p:sp>
        <p:nvSpPr>
          <p:cNvPr id="10" name="Shape 8"/>
          <p:cNvSpPr/>
          <p:nvPr/>
        </p:nvSpPr>
        <p:spPr>
          <a:xfrm>
            <a:off x="812800" y="3966815"/>
            <a:ext cx="10566400" cy="0"/>
          </a:xfrm>
          <a:prstGeom prst="line">
            <a:avLst/>
          </a:prstGeom>
          <a:noFill/>
          <a:ln w="6350">
            <a:solidFill>
              <a:srgbClr val="2A2A28"/>
            </a:solidFill>
            <a:prstDash val="solid"/>
          </a:ln>
        </p:spPr>
      </p:sp>
      <p:sp>
        <p:nvSpPr>
          <p:cNvPr id="11" name="Shape 9"/>
          <p:cNvSpPr/>
          <p:nvPr/>
        </p:nvSpPr>
        <p:spPr>
          <a:xfrm>
            <a:off x="812800" y="4872286"/>
            <a:ext cx="10566400" cy="0"/>
          </a:xfrm>
          <a:prstGeom prst="line">
            <a:avLst/>
          </a:prstGeom>
          <a:noFill/>
          <a:ln w="6350">
            <a:solidFill>
              <a:srgbClr val="2A2A28"/>
            </a:solidFill>
            <a:prstDash val="solid"/>
          </a:ln>
        </p:spPr>
      </p:sp>
      <p:sp>
        <p:nvSpPr>
          <p:cNvPr id="12" name="Text 10"/>
          <p:cNvSpPr/>
          <p:nvPr/>
        </p:nvSpPr>
        <p:spPr>
          <a:xfrm>
            <a:off x="812800" y="412239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THE RESULT</a:t>
            </a:r>
            <a:endParaRPr lang="en-US" sz="1600" dirty="0"/>
          </a:p>
        </p:txBody>
      </p:sp>
      <p:sp>
        <p:nvSpPr>
          <p:cNvPr id="13" name="Text 11"/>
          <p:cNvSpPr/>
          <p:nvPr/>
        </p:nvSpPr>
        <p:spPr>
          <a:xfrm>
            <a:off x="3022600" y="412239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Not a return to antiquity: new work that built on the classics, and sometimes went further.</a:t>
            </a:r>
            <a:endParaRPr lang="en-US" sz="1800" dirty="0"/>
          </a:p>
        </p:txBody>
      </p:sp>
      <p:sp>
        <p:nvSpPr>
          <p:cNvPr id="14" name="Text 12"/>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8BD78"/>
                </a:solidFill>
                <a:latin typeface="JetBrains Mono" pitchFamily="49" charset="0"/>
                <a:ea typeface="JetBrains Mono" pitchFamily="49" charset="-122"/>
                <a:cs typeface="JetBrains Mono" pitchFamily="49" charset="-120"/>
              </a:rPr>
              <a:t>They looked back to go forward.</a:t>
            </a:r>
            <a:endParaRPr lang="en-US" sz="28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6" name="Text 1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15 / 34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A"/>
        </a:solidFill>
      </p:bgPr>
    </p:bg>
    <p:spTree>
      <p:nvGrpSpPr>
        <p:cNvPr id="1" name=""/>
        <p:cNvGrpSpPr/>
        <p:nvPr/>
      </p:nvGrpSpPr>
      <p:grpSpPr>
        <a:xfrm>
          <a:off x="0" y="0"/>
          <a:ext cx="0" cy="0"/>
          <a:chOff x="0" y="0"/>
          <a:chExt cx="0" cy="0"/>
        </a:xfrm>
      </p:grpSpPr>
      <p:pic>
        <p:nvPicPr>
          <p:cNvPr id="2" name="Image 0" descr="A network of the people and institutions behind the Renaissance: keepers of texts, finders, translators, discussion circles, critics, practitioners, workshops, artists, new libraries and presses, and the scientists who built on them. Each named hub is surrounded by many unnamed peopl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10125" y="144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1</a:t>
            </a:r>
            <a:endParaRPr lang="en-US" sz="1200" dirty="0"/>
          </a:p>
        </p:txBody>
      </p:sp>
      <p:sp>
        <p:nvSpPr>
          <p:cNvPr id="4" name="Text 1"/>
          <p:cNvSpPr/>
          <p:nvPr/>
        </p:nvSpPr>
        <p:spPr>
          <a:xfrm>
            <a:off x="4229100" y="1778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Byzantine libraries</a:t>
            </a:r>
            <a:endParaRPr lang="en-US" sz="1200" dirty="0"/>
          </a:p>
        </p:txBody>
      </p:sp>
      <p:sp>
        <p:nvSpPr>
          <p:cNvPr id="5" name="Text 2"/>
          <p:cNvSpPr/>
          <p:nvPr/>
        </p:nvSpPr>
        <p:spPr>
          <a:xfrm>
            <a:off x="4746625" y="341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2</a:t>
            </a:r>
            <a:endParaRPr lang="en-US" sz="1200" dirty="0"/>
          </a:p>
        </p:txBody>
      </p:sp>
      <p:sp>
        <p:nvSpPr>
          <p:cNvPr id="6" name="Text 3"/>
          <p:cNvSpPr/>
          <p:nvPr/>
        </p:nvSpPr>
        <p:spPr>
          <a:xfrm>
            <a:off x="4051300" y="3746500"/>
            <a:ext cx="16764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House of Wisdom</a:t>
            </a:r>
            <a:endParaRPr lang="en-US" sz="1200" dirty="0"/>
          </a:p>
        </p:txBody>
      </p:sp>
      <p:sp>
        <p:nvSpPr>
          <p:cNvPr id="7" name="Text 4"/>
          <p:cNvSpPr/>
          <p:nvPr/>
        </p:nvSpPr>
        <p:spPr>
          <a:xfrm>
            <a:off x="4873625" y="525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3</a:t>
            </a:r>
            <a:endParaRPr lang="en-US" sz="1200" dirty="0"/>
          </a:p>
        </p:txBody>
      </p:sp>
      <p:sp>
        <p:nvSpPr>
          <p:cNvPr id="8" name="Text 5"/>
          <p:cNvSpPr/>
          <p:nvPr/>
        </p:nvSpPr>
        <p:spPr>
          <a:xfrm>
            <a:off x="4292600" y="558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Monasteries</a:t>
            </a:r>
            <a:endParaRPr lang="en-US" sz="1200" dirty="0"/>
          </a:p>
        </p:txBody>
      </p:sp>
      <p:sp>
        <p:nvSpPr>
          <p:cNvPr id="9" name="Text 6"/>
          <p:cNvSpPr/>
          <p:nvPr/>
        </p:nvSpPr>
        <p:spPr>
          <a:xfrm>
            <a:off x="6207125" y="936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4</a:t>
            </a:r>
            <a:endParaRPr lang="en-US" sz="1200" dirty="0"/>
          </a:p>
        </p:txBody>
      </p:sp>
      <p:sp>
        <p:nvSpPr>
          <p:cNvPr id="10" name="Text 7"/>
          <p:cNvSpPr/>
          <p:nvPr/>
        </p:nvSpPr>
        <p:spPr>
          <a:xfrm>
            <a:off x="5626100" y="1270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Petrarch</a:t>
            </a:r>
            <a:endParaRPr lang="en-US" sz="1200" dirty="0"/>
          </a:p>
        </p:txBody>
      </p:sp>
      <p:sp>
        <p:nvSpPr>
          <p:cNvPr id="11" name="Text 8"/>
          <p:cNvSpPr/>
          <p:nvPr/>
        </p:nvSpPr>
        <p:spPr>
          <a:xfrm>
            <a:off x="6270625" y="4556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5</a:t>
            </a:r>
            <a:endParaRPr lang="en-US" sz="1200" dirty="0"/>
          </a:p>
        </p:txBody>
      </p:sp>
      <p:sp>
        <p:nvSpPr>
          <p:cNvPr id="12" name="Text 9"/>
          <p:cNvSpPr/>
          <p:nvPr/>
        </p:nvSpPr>
        <p:spPr>
          <a:xfrm>
            <a:off x="5689600" y="4889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Poggio</a:t>
            </a:r>
            <a:endParaRPr lang="en-US" sz="1200" dirty="0"/>
          </a:p>
        </p:txBody>
      </p:sp>
      <p:sp>
        <p:nvSpPr>
          <p:cNvPr id="13" name="Text 10"/>
          <p:cNvSpPr/>
          <p:nvPr/>
        </p:nvSpPr>
        <p:spPr>
          <a:xfrm>
            <a:off x="6270625" y="239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6</a:t>
            </a:r>
            <a:endParaRPr lang="en-US" sz="1200" dirty="0"/>
          </a:p>
        </p:txBody>
      </p:sp>
      <p:sp>
        <p:nvSpPr>
          <p:cNvPr id="14" name="Text 11"/>
          <p:cNvSpPr/>
          <p:nvPr/>
        </p:nvSpPr>
        <p:spPr>
          <a:xfrm>
            <a:off x="5689600" y="2730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Chrysoloras</a:t>
            </a:r>
            <a:endParaRPr lang="en-US" sz="1200" dirty="0"/>
          </a:p>
        </p:txBody>
      </p:sp>
      <p:sp>
        <p:nvSpPr>
          <p:cNvPr id="15" name="Text 12"/>
          <p:cNvSpPr/>
          <p:nvPr/>
        </p:nvSpPr>
        <p:spPr>
          <a:xfrm>
            <a:off x="5953125" y="366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7</a:t>
            </a:r>
            <a:endParaRPr lang="en-US" sz="1200" dirty="0"/>
          </a:p>
        </p:txBody>
      </p:sp>
      <p:sp>
        <p:nvSpPr>
          <p:cNvPr id="16" name="Text 13"/>
          <p:cNvSpPr/>
          <p:nvPr/>
        </p:nvSpPr>
        <p:spPr>
          <a:xfrm>
            <a:off x="5372100" y="4000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Gerard of Cremona</a:t>
            </a:r>
            <a:endParaRPr lang="en-US" sz="1200" dirty="0"/>
          </a:p>
        </p:txBody>
      </p:sp>
      <p:sp>
        <p:nvSpPr>
          <p:cNvPr id="17" name="Text 14"/>
          <p:cNvSpPr/>
          <p:nvPr/>
        </p:nvSpPr>
        <p:spPr>
          <a:xfrm>
            <a:off x="7540625" y="144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8</a:t>
            </a:r>
            <a:endParaRPr lang="en-US" sz="1200" dirty="0"/>
          </a:p>
        </p:txBody>
      </p:sp>
      <p:sp>
        <p:nvSpPr>
          <p:cNvPr id="18" name="Text 15"/>
          <p:cNvSpPr/>
          <p:nvPr/>
        </p:nvSpPr>
        <p:spPr>
          <a:xfrm>
            <a:off x="6959600" y="177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Ficino</a:t>
            </a:r>
            <a:endParaRPr lang="en-US" sz="1200" dirty="0"/>
          </a:p>
        </p:txBody>
      </p:sp>
      <p:sp>
        <p:nvSpPr>
          <p:cNvPr id="19" name="Text 16"/>
          <p:cNvSpPr/>
          <p:nvPr/>
        </p:nvSpPr>
        <p:spPr>
          <a:xfrm>
            <a:off x="7667625" y="284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9</a:t>
            </a:r>
            <a:endParaRPr lang="en-US" sz="1200" dirty="0"/>
          </a:p>
        </p:txBody>
      </p:sp>
      <p:sp>
        <p:nvSpPr>
          <p:cNvPr id="20" name="Text 17"/>
          <p:cNvSpPr/>
          <p:nvPr/>
        </p:nvSpPr>
        <p:spPr>
          <a:xfrm>
            <a:off x="7086600" y="3175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Platonic Academy</a:t>
            </a:r>
            <a:endParaRPr lang="en-US" sz="1200" dirty="0"/>
          </a:p>
        </p:txBody>
      </p:sp>
      <p:sp>
        <p:nvSpPr>
          <p:cNvPr id="21" name="Text 18"/>
          <p:cNvSpPr/>
          <p:nvPr/>
        </p:nvSpPr>
        <p:spPr>
          <a:xfrm>
            <a:off x="7604125" y="417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10</a:t>
            </a:r>
            <a:endParaRPr lang="en-US" sz="1200" dirty="0"/>
          </a:p>
        </p:txBody>
      </p:sp>
      <p:sp>
        <p:nvSpPr>
          <p:cNvPr id="22" name="Text 19"/>
          <p:cNvSpPr/>
          <p:nvPr/>
        </p:nvSpPr>
        <p:spPr>
          <a:xfrm>
            <a:off x="7023100" y="4508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Valla</a:t>
            </a:r>
            <a:endParaRPr lang="en-US" sz="1200" dirty="0"/>
          </a:p>
        </p:txBody>
      </p:sp>
      <p:sp>
        <p:nvSpPr>
          <p:cNvPr id="23" name="Text 20"/>
          <p:cNvSpPr/>
          <p:nvPr/>
        </p:nvSpPr>
        <p:spPr>
          <a:xfrm>
            <a:off x="7731125" y="538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11</a:t>
            </a:r>
            <a:endParaRPr lang="en-US" sz="1200" dirty="0"/>
          </a:p>
        </p:txBody>
      </p:sp>
      <p:sp>
        <p:nvSpPr>
          <p:cNvPr id="24" name="Text 21"/>
          <p:cNvSpPr/>
          <p:nvPr/>
        </p:nvSpPr>
        <p:spPr>
          <a:xfrm>
            <a:off x="7150100" y="5715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Savonarola</a:t>
            </a:r>
            <a:endParaRPr lang="en-US" sz="1200" dirty="0"/>
          </a:p>
        </p:txBody>
      </p:sp>
      <p:sp>
        <p:nvSpPr>
          <p:cNvPr id="25" name="Text 22"/>
          <p:cNvSpPr/>
          <p:nvPr/>
        </p:nvSpPr>
        <p:spPr>
          <a:xfrm>
            <a:off x="9001125" y="100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12</a:t>
            </a:r>
            <a:endParaRPr lang="en-US" sz="1200" dirty="0"/>
          </a:p>
        </p:txBody>
      </p:sp>
      <p:sp>
        <p:nvSpPr>
          <p:cNvPr id="26" name="Text 23"/>
          <p:cNvSpPr/>
          <p:nvPr/>
        </p:nvSpPr>
        <p:spPr>
          <a:xfrm>
            <a:off x="8420100" y="133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Alberti</a:t>
            </a:r>
            <a:endParaRPr lang="en-US" sz="1200" dirty="0"/>
          </a:p>
        </p:txBody>
      </p:sp>
      <p:sp>
        <p:nvSpPr>
          <p:cNvPr id="27" name="Text 24"/>
          <p:cNvSpPr/>
          <p:nvPr/>
        </p:nvSpPr>
        <p:spPr>
          <a:xfrm>
            <a:off x="9128125" y="214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13</a:t>
            </a:r>
            <a:endParaRPr lang="en-US" sz="1200" dirty="0"/>
          </a:p>
        </p:txBody>
      </p:sp>
      <p:sp>
        <p:nvSpPr>
          <p:cNvPr id="28" name="Text 25"/>
          <p:cNvSpPr/>
          <p:nvPr/>
        </p:nvSpPr>
        <p:spPr>
          <a:xfrm>
            <a:off x="8547100" y="2476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Brunelleschi</a:t>
            </a:r>
            <a:endParaRPr lang="en-US" sz="1200" dirty="0"/>
          </a:p>
        </p:txBody>
      </p:sp>
      <p:sp>
        <p:nvSpPr>
          <p:cNvPr id="29" name="Text 26"/>
          <p:cNvSpPr/>
          <p:nvPr/>
        </p:nvSpPr>
        <p:spPr>
          <a:xfrm>
            <a:off x="9001125" y="341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14</a:t>
            </a:r>
            <a:endParaRPr lang="en-US" sz="1200" dirty="0"/>
          </a:p>
        </p:txBody>
      </p:sp>
      <p:sp>
        <p:nvSpPr>
          <p:cNvPr id="30" name="Text 27"/>
          <p:cNvSpPr/>
          <p:nvPr/>
        </p:nvSpPr>
        <p:spPr>
          <a:xfrm>
            <a:off x="8420100" y="3746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Verrocchio’s workshop</a:t>
            </a:r>
            <a:endParaRPr lang="en-US" sz="1200" dirty="0"/>
          </a:p>
        </p:txBody>
      </p:sp>
      <p:sp>
        <p:nvSpPr>
          <p:cNvPr id="31" name="Text 28"/>
          <p:cNvSpPr/>
          <p:nvPr/>
        </p:nvSpPr>
        <p:spPr>
          <a:xfrm>
            <a:off x="9064625" y="4619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15</a:t>
            </a:r>
            <a:endParaRPr lang="en-US" sz="1200" dirty="0"/>
          </a:p>
        </p:txBody>
      </p:sp>
      <p:sp>
        <p:nvSpPr>
          <p:cNvPr id="32" name="Text 29"/>
          <p:cNvSpPr/>
          <p:nvPr/>
        </p:nvSpPr>
        <p:spPr>
          <a:xfrm>
            <a:off x="8483600" y="4953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Leonardo</a:t>
            </a:r>
            <a:endParaRPr lang="en-US" sz="1200" dirty="0"/>
          </a:p>
        </p:txBody>
      </p:sp>
      <p:sp>
        <p:nvSpPr>
          <p:cNvPr id="33" name="Text 30"/>
          <p:cNvSpPr/>
          <p:nvPr/>
        </p:nvSpPr>
        <p:spPr>
          <a:xfrm>
            <a:off x="10334625" y="531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16</a:t>
            </a:r>
            <a:endParaRPr lang="en-US" sz="1200" dirty="0"/>
          </a:p>
        </p:txBody>
      </p:sp>
      <p:sp>
        <p:nvSpPr>
          <p:cNvPr id="34" name="Text 31"/>
          <p:cNvSpPr/>
          <p:nvPr/>
        </p:nvSpPr>
        <p:spPr>
          <a:xfrm>
            <a:off x="9753600" y="565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Raphael</a:t>
            </a:r>
            <a:endParaRPr lang="en-US" sz="1200" dirty="0"/>
          </a:p>
        </p:txBody>
      </p:sp>
      <p:sp>
        <p:nvSpPr>
          <p:cNvPr id="35" name="Text 32"/>
          <p:cNvSpPr/>
          <p:nvPr/>
        </p:nvSpPr>
        <p:spPr>
          <a:xfrm>
            <a:off x="10398125" y="112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17</a:t>
            </a:r>
            <a:endParaRPr lang="en-US" sz="1200" dirty="0"/>
          </a:p>
        </p:txBody>
      </p:sp>
      <p:sp>
        <p:nvSpPr>
          <p:cNvPr id="36" name="Text 33"/>
          <p:cNvSpPr/>
          <p:nvPr/>
        </p:nvSpPr>
        <p:spPr>
          <a:xfrm>
            <a:off x="9817100" y="1460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Aldine Press</a:t>
            </a:r>
            <a:endParaRPr lang="en-US" sz="1200" dirty="0"/>
          </a:p>
        </p:txBody>
      </p:sp>
      <p:sp>
        <p:nvSpPr>
          <p:cNvPr id="37" name="Text 34"/>
          <p:cNvSpPr/>
          <p:nvPr/>
        </p:nvSpPr>
        <p:spPr>
          <a:xfrm>
            <a:off x="10398125" y="239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18</a:t>
            </a:r>
            <a:endParaRPr lang="en-US" sz="1200" dirty="0"/>
          </a:p>
        </p:txBody>
      </p:sp>
      <p:sp>
        <p:nvSpPr>
          <p:cNvPr id="38" name="Text 35"/>
          <p:cNvSpPr/>
          <p:nvPr/>
        </p:nvSpPr>
        <p:spPr>
          <a:xfrm>
            <a:off x="9702800" y="2730500"/>
            <a:ext cx="16764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Vatican Library</a:t>
            </a:r>
            <a:endParaRPr lang="en-US" sz="1200" dirty="0"/>
          </a:p>
        </p:txBody>
      </p:sp>
      <p:sp>
        <p:nvSpPr>
          <p:cNvPr id="39" name="Text 36"/>
          <p:cNvSpPr/>
          <p:nvPr/>
        </p:nvSpPr>
        <p:spPr>
          <a:xfrm>
            <a:off x="10461625" y="354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19</a:t>
            </a:r>
            <a:endParaRPr lang="en-US" sz="1200" dirty="0"/>
          </a:p>
        </p:txBody>
      </p:sp>
      <p:sp>
        <p:nvSpPr>
          <p:cNvPr id="40" name="Text 37"/>
          <p:cNvSpPr/>
          <p:nvPr/>
        </p:nvSpPr>
        <p:spPr>
          <a:xfrm>
            <a:off x="9880600" y="387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Vesalius</a:t>
            </a:r>
            <a:endParaRPr lang="en-US" sz="1200" dirty="0"/>
          </a:p>
        </p:txBody>
      </p:sp>
      <p:sp>
        <p:nvSpPr>
          <p:cNvPr id="41" name="Text 38"/>
          <p:cNvSpPr/>
          <p:nvPr/>
        </p:nvSpPr>
        <p:spPr>
          <a:xfrm>
            <a:off x="103981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20</a:t>
            </a:r>
            <a:endParaRPr lang="en-US" sz="1200" dirty="0"/>
          </a:p>
        </p:txBody>
      </p:sp>
      <p:sp>
        <p:nvSpPr>
          <p:cNvPr id="42" name="Text 39"/>
          <p:cNvSpPr/>
          <p:nvPr/>
        </p:nvSpPr>
        <p:spPr>
          <a:xfrm>
            <a:off x="98171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Copernicus</a:t>
            </a:r>
            <a:endParaRPr lang="en-US" sz="1200" dirty="0"/>
          </a:p>
        </p:txBody>
      </p:sp>
      <p:sp>
        <p:nvSpPr>
          <p:cNvPr id="43" name="Text 40"/>
          <p:cNvSpPr/>
          <p:nvPr/>
        </p:nvSpPr>
        <p:spPr>
          <a:xfrm>
            <a:off x="6207125" y="560387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F6A4D"/>
            </a:solidFill>
            <a:prstDash val="solid"/>
          </a:ln>
        </p:spPr>
        <p:txBody>
          <a:bodyPr wrap="square" lIns="0" tIns="9525" rIns="0" bIns="0" rtlCol="0" anchor="t">
            <a:normAutofit/>
          </a:bodyPr>
          <a:lstStyle/>
          <a:p>
            <a:pPr algn="ctr" indent="0" marL="0">
              <a:lnSpc>
                <a:spcPts val="2100"/>
              </a:lnSpc>
              <a:buNone/>
            </a:pPr>
            <a:r>
              <a:rPr lang="en-US" sz="1200" b="1" dirty="0">
                <a:solidFill>
                  <a:srgbClr val="FF6A4D"/>
                </a:solidFill>
                <a:latin typeface="JetBrains Mono" pitchFamily="49" charset="0"/>
                <a:ea typeface="JetBrains Mono" pitchFamily="49" charset="-122"/>
                <a:cs typeface="JetBrains Mono" pitchFamily="49" charset="-120"/>
              </a:rPr>
              <a:t>21</a:t>
            </a:r>
            <a:endParaRPr lang="en-US" sz="1200" dirty="0"/>
          </a:p>
        </p:txBody>
      </p:sp>
      <p:sp>
        <p:nvSpPr>
          <p:cNvPr id="44" name="Text 41"/>
          <p:cNvSpPr/>
          <p:nvPr/>
        </p:nvSpPr>
        <p:spPr>
          <a:xfrm>
            <a:off x="5626100" y="593725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The Medici</a:t>
            </a:r>
            <a:endParaRPr lang="en-US" sz="1200" dirty="0"/>
          </a:p>
        </p:txBody>
      </p:sp>
      <p:sp>
        <p:nvSpPr>
          <p:cNvPr id="45" name="Text 42"/>
          <p:cNvSpPr/>
          <p:nvPr/>
        </p:nvSpPr>
        <p:spPr>
          <a:xfrm>
            <a:off x="812800" y="81280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AS A NETWORK</a:t>
            </a:r>
            <a:endParaRPr lang="en-US" sz="1200" dirty="0"/>
          </a:p>
        </p:txBody>
      </p:sp>
      <p:sp>
        <p:nvSpPr>
          <p:cNvPr id="46" name="Text 43"/>
          <p:cNvSpPr/>
          <p:nvPr>
            <p:ph type="title"/>
          </p:nvPr>
        </p:nvSpPr>
        <p:spPr>
          <a:xfrm>
            <a:off x="812800" y="1127720"/>
            <a:ext cx="3270250"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2F1EC"/>
                </a:solidFill>
                <a:latin typeface="JetBrains Mono" pitchFamily="49" charset="0"/>
                <a:ea typeface="JetBrains Mono" pitchFamily="49" charset="-122"/>
                <a:cs typeface="JetBrains Mono" pitchFamily="49" charset="-120"/>
              </a:rPr>
              <a:t>Who it took</a:t>
            </a:r>
            <a:endParaRPr lang="en-US" sz="3200" dirty="0"/>
          </a:p>
        </p:txBody>
      </p:sp>
      <p:sp>
        <p:nvSpPr>
          <p:cNvPr id="47" name="Shape 44"/>
          <p:cNvSpPr/>
          <p:nvPr/>
        </p:nvSpPr>
        <p:spPr>
          <a:xfrm>
            <a:off x="812800" y="1679525"/>
            <a:ext cx="3175000" cy="0"/>
          </a:xfrm>
          <a:prstGeom prst="line">
            <a:avLst/>
          </a:prstGeom>
          <a:noFill/>
          <a:ln w="6350">
            <a:solidFill>
              <a:srgbClr val="2A2A28"/>
            </a:solidFill>
            <a:prstDash val="solid"/>
          </a:ln>
        </p:spPr>
      </p:sp>
      <p:sp>
        <p:nvSpPr>
          <p:cNvPr id="48" name="Shape 45"/>
          <p:cNvSpPr/>
          <p:nvPr/>
        </p:nvSpPr>
        <p:spPr>
          <a:xfrm>
            <a:off x="812800" y="4230638"/>
            <a:ext cx="3175000" cy="0"/>
          </a:xfrm>
          <a:prstGeom prst="line">
            <a:avLst/>
          </a:prstGeom>
          <a:noFill/>
          <a:ln w="6350">
            <a:solidFill>
              <a:srgbClr val="2A2A28"/>
            </a:solidFill>
            <a:prstDash val="solid"/>
          </a:ln>
        </p:spPr>
      </p:sp>
      <p:pic>
        <p:nvPicPr>
          <p:cNvPr id="49" name="Image 1" descr="ellipse">    </p:cNvPr>
          <p:cNvPicPr>
            <a:picLocks noChangeAspect="1"/>
          </p:cNvPicPr>
          <p:nvPr/>
        </p:nvPicPr>
        <p:blipFill>
          <a:blip r:embed="rId2"/>
          <a:srcRect l="0" r="0" t="0" b="0"/>
          <a:stretch/>
        </p:blipFill>
        <p:spPr>
          <a:xfrm>
            <a:off x="812800" y="1878261"/>
            <a:ext cx="127000" cy="127000"/>
          </a:xfrm>
          <a:prstGeom prst="rect">
            <a:avLst/>
          </a:prstGeom>
        </p:spPr>
      </p:pic>
      <p:sp>
        <p:nvSpPr>
          <p:cNvPr id="50" name="Text 46"/>
          <p:cNvSpPr/>
          <p:nvPr/>
        </p:nvSpPr>
        <p:spPr>
          <a:xfrm>
            <a:off x="1041400" y="1835100"/>
            <a:ext cx="224944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7ADFF"/>
                </a:solidFill>
                <a:latin typeface="JetBrains Mono" pitchFamily="49" charset="0"/>
                <a:ea typeface="JetBrains Mono" pitchFamily="49" charset="-122"/>
                <a:cs typeface="JetBrains Mono" pitchFamily="49" charset="-120"/>
              </a:rPr>
              <a:t>GENERATE KNOWLEDGE</a:t>
            </a:r>
            <a:endParaRPr lang="en-US" sz="1200" dirty="0"/>
          </a:p>
        </p:txBody>
      </p:sp>
      <p:pic>
        <p:nvPicPr>
          <p:cNvPr id="51" name="Image 2" descr="ellipse">    </p:cNvPr>
          <p:cNvPicPr>
            <a:picLocks noChangeAspect="1"/>
          </p:cNvPicPr>
          <p:nvPr/>
        </p:nvPicPr>
        <p:blipFill>
          <a:blip r:embed="rId3"/>
          <a:srcRect l="0" r="0" t="0" b="0"/>
          <a:stretch/>
        </p:blipFill>
        <p:spPr>
          <a:xfrm>
            <a:off x="812800" y="2167781"/>
            <a:ext cx="127000" cy="127000"/>
          </a:xfrm>
          <a:prstGeom prst="rect">
            <a:avLst/>
          </a:prstGeom>
        </p:spPr>
      </p:pic>
      <p:sp>
        <p:nvSpPr>
          <p:cNvPr id="52" name="Text 47"/>
          <p:cNvSpPr/>
          <p:nvPr/>
        </p:nvSpPr>
        <p:spPr>
          <a:xfrm>
            <a:off x="1041400" y="2124621"/>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DBAF6"/>
                </a:solidFill>
                <a:latin typeface="JetBrains Mono" pitchFamily="49" charset="0"/>
                <a:ea typeface="JetBrains Mono" pitchFamily="49" charset="-122"/>
                <a:cs typeface="JetBrains Mono" pitchFamily="49" charset="-120"/>
              </a:rPr>
              <a:t>BUILD TECHNOLOGY</a:t>
            </a:r>
            <a:endParaRPr lang="en-US" sz="1200" dirty="0"/>
          </a:p>
        </p:txBody>
      </p:sp>
      <p:pic>
        <p:nvPicPr>
          <p:cNvPr id="53" name="Image 3" descr="ellipse">    </p:cNvPr>
          <p:cNvPicPr>
            <a:picLocks noChangeAspect="1"/>
          </p:cNvPicPr>
          <p:nvPr/>
        </p:nvPicPr>
        <p:blipFill>
          <a:blip r:embed="rId4"/>
          <a:srcRect l="0" r="0" t="0" b="0"/>
          <a:stretch/>
        </p:blipFill>
        <p:spPr>
          <a:xfrm>
            <a:off x="812800" y="2457301"/>
            <a:ext cx="127000" cy="127000"/>
          </a:xfrm>
          <a:prstGeom prst="rect">
            <a:avLst/>
          </a:prstGeom>
        </p:spPr>
      </p:pic>
      <p:sp>
        <p:nvSpPr>
          <p:cNvPr id="54" name="Text 48"/>
          <p:cNvSpPr/>
          <p:nvPr/>
        </p:nvSpPr>
        <p:spPr>
          <a:xfrm>
            <a:off x="1041400" y="2414141"/>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D9C4"/>
                </a:solidFill>
                <a:latin typeface="JetBrains Mono" pitchFamily="49" charset="0"/>
                <a:ea typeface="JetBrains Mono" pitchFamily="49" charset="-122"/>
                <a:cs typeface="JetBrains Mono" pitchFamily="49" charset="-120"/>
              </a:rPr>
              <a:t>TRANSLATE &amp; EDUCATE</a:t>
            </a:r>
            <a:endParaRPr lang="en-US" sz="1200" dirty="0"/>
          </a:p>
        </p:txBody>
      </p:sp>
      <p:pic>
        <p:nvPicPr>
          <p:cNvPr id="55" name="Image 4" descr="ellipse">    </p:cNvPr>
          <p:cNvPicPr>
            <a:picLocks noChangeAspect="1"/>
          </p:cNvPicPr>
          <p:nvPr/>
        </p:nvPicPr>
        <p:blipFill>
          <a:blip r:embed="rId5"/>
          <a:srcRect l="0" r="0" t="0" b="0"/>
          <a:stretch/>
        </p:blipFill>
        <p:spPr>
          <a:xfrm>
            <a:off x="812800" y="2746821"/>
            <a:ext cx="127000" cy="127000"/>
          </a:xfrm>
          <a:prstGeom prst="rect">
            <a:avLst/>
          </a:prstGeom>
        </p:spPr>
      </p:pic>
      <p:sp>
        <p:nvSpPr>
          <p:cNvPr id="56" name="Text 49"/>
          <p:cNvSpPr/>
          <p:nvPr/>
        </p:nvSpPr>
        <p:spPr>
          <a:xfrm>
            <a:off x="1041400" y="2703661"/>
            <a:ext cx="18745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BD78"/>
                </a:solidFill>
                <a:latin typeface="JetBrains Mono" pitchFamily="49" charset="0"/>
                <a:ea typeface="JetBrains Mono" pitchFamily="49" charset="-122"/>
                <a:cs typeface="JetBrains Mono" pitchFamily="49" charset="-120"/>
              </a:rPr>
              <a:t>SHARE &amp; CONVENE</a:t>
            </a:r>
            <a:endParaRPr lang="en-US" sz="1200" dirty="0"/>
          </a:p>
        </p:txBody>
      </p:sp>
      <p:pic>
        <p:nvPicPr>
          <p:cNvPr id="57" name="Image 5" descr="ellipse">    </p:cNvPr>
          <p:cNvPicPr>
            <a:picLocks noChangeAspect="1"/>
          </p:cNvPicPr>
          <p:nvPr/>
        </p:nvPicPr>
        <p:blipFill>
          <a:blip r:embed="rId6"/>
          <a:srcRect l="0" r="0" t="0" b="0"/>
          <a:stretch/>
        </p:blipFill>
        <p:spPr>
          <a:xfrm>
            <a:off x="812800" y="3036342"/>
            <a:ext cx="127000" cy="127000"/>
          </a:xfrm>
          <a:prstGeom prst="rect">
            <a:avLst/>
          </a:prstGeom>
        </p:spPr>
      </p:pic>
      <p:sp>
        <p:nvSpPr>
          <p:cNvPr id="58" name="Text 50"/>
          <p:cNvSpPr/>
          <p:nvPr/>
        </p:nvSpPr>
        <p:spPr>
          <a:xfrm>
            <a:off x="1041400" y="2993182"/>
            <a:ext cx="262437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FE07E"/>
                </a:solidFill>
                <a:latin typeface="JetBrains Mono" pitchFamily="49" charset="0"/>
                <a:ea typeface="JetBrains Mono" pitchFamily="49" charset="-122"/>
                <a:cs typeface="JetBrains Mono" pitchFamily="49" charset="-120"/>
              </a:rPr>
              <a:t>MEASURE &amp; STANDARDISE</a:t>
            </a:r>
            <a:endParaRPr lang="en-US" sz="1200" dirty="0"/>
          </a:p>
        </p:txBody>
      </p:sp>
      <p:pic>
        <p:nvPicPr>
          <p:cNvPr id="59" name="Image 6" descr="ellipse">    </p:cNvPr>
          <p:cNvPicPr>
            <a:picLocks noChangeAspect="1"/>
          </p:cNvPicPr>
          <p:nvPr/>
        </p:nvPicPr>
        <p:blipFill>
          <a:blip r:embed="rId7"/>
          <a:srcRect l="0" r="0" t="0" b="0"/>
          <a:stretch/>
        </p:blipFill>
        <p:spPr>
          <a:xfrm>
            <a:off x="812800" y="3325862"/>
            <a:ext cx="127000" cy="127000"/>
          </a:xfrm>
          <a:prstGeom prst="rect">
            <a:avLst/>
          </a:prstGeom>
        </p:spPr>
      </p:pic>
      <p:sp>
        <p:nvSpPr>
          <p:cNvPr id="60" name="Text 51"/>
          <p:cNvSpPr/>
          <p:nvPr/>
        </p:nvSpPr>
        <p:spPr>
          <a:xfrm>
            <a:off x="1041400" y="3282702"/>
            <a:ext cx="1249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6A4D"/>
                </a:solidFill>
                <a:latin typeface="JetBrains Mono" pitchFamily="49" charset="0"/>
                <a:ea typeface="JetBrains Mono" pitchFamily="49" charset="-122"/>
                <a:cs typeface="JetBrains Mono" pitchFamily="49" charset="-120"/>
              </a:rPr>
              <a:t>SET POLICY</a:t>
            </a:r>
            <a:endParaRPr lang="en-US" sz="1200" dirty="0"/>
          </a:p>
        </p:txBody>
      </p:sp>
      <p:pic>
        <p:nvPicPr>
          <p:cNvPr id="61" name="Image 7" descr="ellipse">    </p:cNvPr>
          <p:cNvPicPr>
            <a:picLocks noChangeAspect="1"/>
          </p:cNvPicPr>
          <p:nvPr/>
        </p:nvPicPr>
        <p:blipFill>
          <a:blip r:embed="rId8"/>
          <a:srcRect l="0" r="0" t="0" b="0"/>
          <a:stretch/>
        </p:blipFill>
        <p:spPr>
          <a:xfrm>
            <a:off x="812800" y="3615382"/>
            <a:ext cx="127000" cy="127000"/>
          </a:xfrm>
          <a:prstGeom prst="rect">
            <a:avLst/>
          </a:prstGeom>
        </p:spPr>
      </p:pic>
      <p:sp>
        <p:nvSpPr>
          <p:cNvPr id="62" name="Text 52"/>
          <p:cNvSpPr/>
          <p:nvPr/>
        </p:nvSpPr>
        <p:spPr>
          <a:xfrm>
            <a:off x="1041400" y="3572222"/>
            <a:ext cx="13746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DBA"/>
                </a:solidFill>
                <a:latin typeface="JetBrains Mono" pitchFamily="49" charset="0"/>
                <a:ea typeface="JetBrains Mono" pitchFamily="49" charset="-122"/>
                <a:cs typeface="JetBrains Mono" pitchFamily="49" charset="-120"/>
              </a:rPr>
              <a:t>ENFORCE LAW</a:t>
            </a:r>
            <a:endParaRPr lang="en-US" sz="1200" dirty="0"/>
          </a:p>
        </p:txBody>
      </p:sp>
      <p:pic>
        <p:nvPicPr>
          <p:cNvPr id="63" name="Image 8" descr="ellipse">    </p:cNvPr>
          <p:cNvPicPr>
            <a:picLocks noChangeAspect="1"/>
          </p:cNvPicPr>
          <p:nvPr/>
        </p:nvPicPr>
        <p:blipFill>
          <a:blip r:embed="rId9"/>
          <a:srcRect l="0" r="0" t="0" b="0"/>
          <a:stretch/>
        </p:blipFill>
        <p:spPr>
          <a:xfrm>
            <a:off x="812800" y="3904903"/>
            <a:ext cx="127000" cy="127000"/>
          </a:xfrm>
          <a:prstGeom prst="rect">
            <a:avLst/>
          </a:prstGeom>
        </p:spPr>
      </p:pic>
      <p:sp>
        <p:nvSpPr>
          <p:cNvPr id="64" name="Text 53"/>
          <p:cNvSpPr/>
          <p:nvPr/>
        </p:nvSpPr>
        <p:spPr>
          <a:xfrm>
            <a:off x="1041400" y="3861743"/>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F1EC"/>
                </a:solidFill>
                <a:latin typeface="JetBrains Mono" pitchFamily="49" charset="0"/>
                <a:ea typeface="JetBrains Mono" pitchFamily="49" charset="-122"/>
                <a:cs typeface="JetBrains Mono" pitchFamily="49" charset="-120"/>
              </a:rPr>
              <a:t>CRITIQUE &amp; ADVOCATE</a:t>
            </a:r>
            <a:endParaRPr lang="en-US" sz="1200" dirty="0"/>
          </a:p>
        </p:txBody>
      </p:sp>
      <p:sp>
        <p:nvSpPr>
          <p:cNvPr id="65" name="Text 54"/>
          <p:cNvSpPr/>
          <p:nvPr/>
        </p:nvSpPr>
        <p:spPr>
          <a:xfrm>
            <a:off x="812800" y="4335413"/>
            <a:ext cx="327025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Colour = role, same key as the next slide. Numbered: Known people and institutions we remember. </a:t>
            </a:r>
            <a:endParaRPr lang="en-US" sz="1200" dirty="0"/>
          </a:p>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Dots: Unnamed : Copyists, students, assistants and readers.</a:t>
            </a:r>
            <a:endParaRPr lang="en-US" sz="1200" dirty="0"/>
          </a:p>
        </p:txBody>
      </p:sp>
      <p:sp>
        <p:nvSpPr>
          <p:cNvPr id="66" name="Text 55"/>
          <p:cNvSpPr/>
          <p:nvPr/>
        </p:nvSpPr>
        <p:spPr>
          <a:xfrm>
            <a:off x="812800" y="6238280"/>
            <a:ext cx="8748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16 / 34</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KNOWLEDGE NEEDS A NETWORK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UX’s network has a missing role</a:t>
            </a:r>
            <a:endParaRPr lang="en-US" sz="3600" dirty="0"/>
          </a:p>
        </p:txBody>
      </p:sp>
      <p:sp>
        <p:nvSpPr>
          <p:cNvPr id="4" name="Shape 2"/>
          <p:cNvSpPr/>
          <p:nvPr/>
        </p:nvSpPr>
        <p:spPr>
          <a:xfrm>
            <a:off x="812800" y="2203450"/>
            <a:ext cx="10566400" cy="0"/>
          </a:xfrm>
          <a:prstGeom prst="line">
            <a:avLst/>
          </a:prstGeom>
          <a:noFill/>
          <a:ln w="6350">
            <a:solidFill>
              <a:srgbClr val="2A2A28"/>
            </a:solidFill>
            <a:prstDash val="solid"/>
          </a:ln>
        </p:spPr>
      </p:sp>
      <p:sp>
        <p:nvSpPr>
          <p:cNvPr id="5" name="Text 3"/>
          <p:cNvSpPr/>
          <p:nvPr/>
        </p:nvSpPr>
        <p:spPr>
          <a:xfrm>
            <a:off x="914400" y="230440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DBAF6"/>
                </a:solidFill>
                <a:latin typeface="JetBrains Mono" pitchFamily="49" charset="0"/>
                <a:ea typeface="JetBrains Mono" pitchFamily="49" charset="-122"/>
                <a:cs typeface="JetBrains Mono" pitchFamily="49" charset="-120"/>
              </a:rPr>
              <a:t>BUILD TECHNOLOGY</a:t>
            </a:r>
            <a:endParaRPr lang="en-US" sz="1200" dirty="0"/>
          </a:p>
        </p:txBody>
      </p:sp>
      <p:sp>
        <p:nvSpPr>
          <p:cNvPr id="6" name="Shape 4"/>
          <p:cNvSpPr/>
          <p:nvPr/>
        </p:nvSpPr>
        <p:spPr>
          <a:xfrm>
            <a:off x="3784600" y="2360265"/>
            <a:ext cx="3048000" cy="101600"/>
          </a:xfrm>
          <a:prstGeom prst="rect">
            <a:avLst/>
          </a:prstGeom>
          <a:solidFill>
            <a:srgbClr val="2A2A28"/>
          </a:solidFill>
          <a:ln/>
        </p:spPr>
      </p:sp>
      <p:sp>
        <p:nvSpPr>
          <p:cNvPr id="7" name="Shape 5"/>
          <p:cNvSpPr/>
          <p:nvPr/>
        </p:nvSpPr>
        <p:spPr>
          <a:xfrm>
            <a:off x="3784600" y="2360265"/>
            <a:ext cx="2895600" cy="101600"/>
          </a:xfrm>
          <a:prstGeom prst="rect">
            <a:avLst/>
          </a:prstGeom>
          <a:solidFill>
            <a:srgbClr val="8DBAF6"/>
          </a:solidFill>
          <a:ln/>
        </p:spPr>
      </p:sp>
      <p:sp>
        <p:nvSpPr>
          <p:cNvPr id="8" name="Text 6"/>
          <p:cNvSpPr/>
          <p:nvPr/>
        </p:nvSpPr>
        <p:spPr>
          <a:xfrm>
            <a:off x="7035800" y="2295525"/>
            <a:ext cx="436905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Never been cheaper or faster</a:t>
            </a:r>
            <a:endParaRPr lang="en-US" sz="1400" dirty="0"/>
          </a:p>
        </p:txBody>
      </p:sp>
      <p:sp>
        <p:nvSpPr>
          <p:cNvPr id="9" name="Shape 7"/>
          <p:cNvSpPr/>
          <p:nvPr/>
        </p:nvSpPr>
        <p:spPr>
          <a:xfrm>
            <a:off x="812800" y="2618730"/>
            <a:ext cx="10566400" cy="0"/>
          </a:xfrm>
          <a:prstGeom prst="line">
            <a:avLst/>
          </a:prstGeom>
          <a:noFill/>
          <a:ln w="6350">
            <a:solidFill>
              <a:srgbClr val="2A2A28"/>
            </a:solidFill>
            <a:prstDash val="solid"/>
          </a:ln>
        </p:spPr>
      </p:sp>
      <p:sp>
        <p:nvSpPr>
          <p:cNvPr id="10" name="Text 8"/>
          <p:cNvSpPr/>
          <p:nvPr/>
        </p:nvSpPr>
        <p:spPr>
          <a:xfrm>
            <a:off x="914400" y="271968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SHARE &amp; CONVENE</a:t>
            </a:r>
            <a:endParaRPr lang="en-US" sz="1200" dirty="0"/>
          </a:p>
        </p:txBody>
      </p:sp>
      <p:sp>
        <p:nvSpPr>
          <p:cNvPr id="11" name="Shape 9"/>
          <p:cNvSpPr/>
          <p:nvPr/>
        </p:nvSpPr>
        <p:spPr>
          <a:xfrm>
            <a:off x="3784600" y="2775545"/>
            <a:ext cx="3048000" cy="101600"/>
          </a:xfrm>
          <a:prstGeom prst="rect">
            <a:avLst/>
          </a:prstGeom>
          <a:solidFill>
            <a:srgbClr val="2A2A28"/>
          </a:solidFill>
          <a:ln/>
        </p:spPr>
      </p:sp>
      <p:sp>
        <p:nvSpPr>
          <p:cNvPr id="12" name="Shape 10"/>
          <p:cNvSpPr/>
          <p:nvPr/>
        </p:nvSpPr>
        <p:spPr>
          <a:xfrm>
            <a:off x="3784600" y="2775545"/>
            <a:ext cx="1676400" cy="101600"/>
          </a:xfrm>
          <a:prstGeom prst="rect">
            <a:avLst/>
          </a:prstGeom>
          <a:solidFill>
            <a:srgbClr val="E8BD78"/>
          </a:solidFill>
          <a:ln/>
        </p:spPr>
      </p:sp>
      <p:sp>
        <p:nvSpPr>
          <p:cNvPr id="13" name="Text 11"/>
          <p:cNvSpPr/>
          <p:nvPr/>
        </p:nvSpPr>
        <p:spPr>
          <a:xfrm>
            <a:off x="7035800" y="2710805"/>
            <a:ext cx="436905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Talks and posts, little that lasts</a:t>
            </a:r>
            <a:endParaRPr lang="en-US" sz="1400" dirty="0"/>
          </a:p>
        </p:txBody>
      </p:sp>
      <p:sp>
        <p:nvSpPr>
          <p:cNvPr id="14" name="Shape 12"/>
          <p:cNvSpPr/>
          <p:nvPr/>
        </p:nvSpPr>
        <p:spPr>
          <a:xfrm>
            <a:off x="812800" y="3034010"/>
            <a:ext cx="10566400" cy="0"/>
          </a:xfrm>
          <a:prstGeom prst="line">
            <a:avLst/>
          </a:prstGeom>
          <a:noFill/>
          <a:ln w="6350">
            <a:solidFill>
              <a:srgbClr val="2A2A28"/>
            </a:solidFill>
            <a:prstDash val="solid"/>
          </a:ln>
        </p:spPr>
      </p:sp>
      <p:sp>
        <p:nvSpPr>
          <p:cNvPr id="15" name="Text 13"/>
          <p:cNvSpPr/>
          <p:nvPr/>
        </p:nvSpPr>
        <p:spPr>
          <a:xfrm>
            <a:off x="914400" y="313496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7ADFF"/>
                </a:solidFill>
                <a:latin typeface="JetBrains Mono" pitchFamily="49" charset="0"/>
                <a:ea typeface="JetBrains Mono" pitchFamily="49" charset="-122"/>
                <a:cs typeface="JetBrains Mono" pitchFamily="49" charset="-120"/>
              </a:rPr>
              <a:t>GENERATE KNOWLEDGE</a:t>
            </a:r>
            <a:endParaRPr lang="en-US" sz="1200" dirty="0"/>
          </a:p>
        </p:txBody>
      </p:sp>
      <p:sp>
        <p:nvSpPr>
          <p:cNvPr id="16" name="Shape 14"/>
          <p:cNvSpPr/>
          <p:nvPr/>
        </p:nvSpPr>
        <p:spPr>
          <a:xfrm>
            <a:off x="3784600" y="3190825"/>
            <a:ext cx="3048000" cy="101600"/>
          </a:xfrm>
          <a:prstGeom prst="rect">
            <a:avLst/>
          </a:prstGeom>
          <a:solidFill>
            <a:srgbClr val="2A2A28"/>
          </a:solidFill>
          <a:ln/>
        </p:spPr>
      </p:sp>
      <p:sp>
        <p:nvSpPr>
          <p:cNvPr id="17" name="Shape 15"/>
          <p:cNvSpPr/>
          <p:nvPr/>
        </p:nvSpPr>
        <p:spPr>
          <a:xfrm>
            <a:off x="3784600" y="3190825"/>
            <a:ext cx="914400" cy="101600"/>
          </a:xfrm>
          <a:prstGeom prst="rect">
            <a:avLst/>
          </a:prstGeom>
          <a:solidFill>
            <a:srgbClr val="B7ADFF"/>
          </a:solidFill>
          <a:ln/>
        </p:spPr>
      </p:sp>
      <p:sp>
        <p:nvSpPr>
          <p:cNvPr id="18" name="Text 16"/>
          <p:cNvSpPr/>
          <p:nvPr/>
        </p:nvSpPr>
        <p:spPr>
          <a:xfrm>
            <a:off x="7035800" y="3126085"/>
            <a:ext cx="436905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Mostly in academia, rarely in practice</a:t>
            </a:r>
            <a:endParaRPr lang="en-US" sz="1400" dirty="0"/>
          </a:p>
        </p:txBody>
      </p:sp>
      <p:sp>
        <p:nvSpPr>
          <p:cNvPr id="19" name="Shape 17"/>
          <p:cNvSpPr/>
          <p:nvPr/>
        </p:nvSpPr>
        <p:spPr>
          <a:xfrm>
            <a:off x="812800" y="3449290"/>
            <a:ext cx="10566400" cy="0"/>
          </a:xfrm>
          <a:prstGeom prst="line">
            <a:avLst/>
          </a:prstGeom>
          <a:noFill/>
          <a:ln w="6350">
            <a:solidFill>
              <a:srgbClr val="2A2A28"/>
            </a:solidFill>
            <a:prstDash val="solid"/>
          </a:ln>
        </p:spPr>
      </p:sp>
      <p:sp>
        <p:nvSpPr>
          <p:cNvPr id="20" name="Text 18"/>
          <p:cNvSpPr/>
          <p:nvPr/>
        </p:nvSpPr>
        <p:spPr>
          <a:xfrm>
            <a:off x="914400" y="355024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F1EC"/>
                </a:solidFill>
                <a:latin typeface="JetBrains Mono" pitchFamily="49" charset="0"/>
                <a:ea typeface="JetBrains Mono" pitchFamily="49" charset="-122"/>
                <a:cs typeface="JetBrains Mono" pitchFamily="49" charset="-120"/>
              </a:rPr>
              <a:t>CRITIQUE &amp; ADVOCATE</a:t>
            </a:r>
            <a:endParaRPr lang="en-US" sz="1200" dirty="0"/>
          </a:p>
        </p:txBody>
      </p:sp>
      <p:sp>
        <p:nvSpPr>
          <p:cNvPr id="21" name="Shape 19"/>
          <p:cNvSpPr/>
          <p:nvPr/>
        </p:nvSpPr>
        <p:spPr>
          <a:xfrm>
            <a:off x="3784600" y="3606105"/>
            <a:ext cx="3048000" cy="101600"/>
          </a:xfrm>
          <a:prstGeom prst="rect">
            <a:avLst/>
          </a:prstGeom>
          <a:solidFill>
            <a:srgbClr val="2A2A28"/>
          </a:solidFill>
          <a:ln/>
        </p:spPr>
      </p:sp>
      <p:sp>
        <p:nvSpPr>
          <p:cNvPr id="22" name="Shape 20"/>
          <p:cNvSpPr/>
          <p:nvPr/>
        </p:nvSpPr>
        <p:spPr>
          <a:xfrm>
            <a:off x="3784600" y="3606105"/>
            <a:ext cx="914400" cy="101600"/>
          </a:xfrm>
          <a:prstGeom prst="rect">
            <a:avLst/>
          </a:prstGeom>
          <a:solidFill>
            <a:srgbClr val="F2F1EC"/>
          </a:solidFill>
          <a:ln/>
        </p:spPr>
      </p:sp>
      <p:sp>
        <p:nvSpPr>
          <p:cNvPr id="23" name="Text 21"/>
          <p:cNvSpPr/>
          <p:nvPr/>
        </p:nvSpPr>
        <p:spPr>
          <a:xfrm>
            <a:off x="7035800" y="3541365"/>
            <a:ext cx="436905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Mostly outside the industry</a:t>
            </a:r>
            <a:endParaRPr lang="en-US" sz="1400" dirty="0"/>
          </a:p>
        </p:txBody>
      </p:sp>
      <p:sp>
        <p:nvSpPr>
          <p:cNvPr id="24" name="Shape 22"/>
          <p:cNvSpPr/>
          <p:nvPr/>
        </p:nvSpPr>
        <p:spPr>
          <a:xfrm>
            <a:off x="812800" y="3864570"/>
            <a:ext cx="10566400" cy="0"/>
          </a:xfrm>
          <a:prstGeom prst="line">
            <a:avLst/>
          </a:prstGeom>
          <a:noFill/>
          <a:ln w="6350">
            <a:solidFill>
              <a:srgbClr val="2A2A28"/>
            </a:solidFill>
            <a:prstDash val="solid"/>
          </a:ln>
        </p:spPr>
      </p:sp>
      <p:sp>
        <p:nvSpPr>
          <p:cNvPr id="25" name="Text 23"/>
          <p:cNvSpPr/>
          <p:nvPr/>
        </p:nvSpPr>
        <p:spPr>
          <a:xfrm>
            <a:off x="914400" y="396552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FE07E"/>
                </a:solidFill>
                <a:latin typeface="JetBrains Mono" pitchFamily="49" charset="0"/>
                <a:ea typeface="JetBrains Mono" pitchFamily="49" charset="-122"/>
                <a:cs typeface="JetBrains Mono" pitchFamily="49" charset="-120"/>
              </a:rPr>
              <a:t>MEASURE &amp; STANDARDISE</a:t>
            </a:r>
            <a:endParaRPr lang="en-US" sz="1200" dirty="0"/>
          </a:p>
        </p:txBody>
      </p:sp>
      <p:sp>
        <p:nvSpPr>
          <p:cNvPr id="26" name="Shape 24"/>
          <p:cNvSpPr/>
          <p:nvPr/>
        </p:nvSpPr>
        <p:spPr>
          <a:xfrm>
            <a:off x="3784600" y="4021386"/>
            <a:ext cx="3048000" cy="101600"/>
          </a:xfrm>
          <a:prstGeom prst="rect">
            <a:avLst/>
          </a:prstGeom>
          <a:solidFill>
            <a:srgbClr val="2A2A28"/>
          </a:solidFill>
          <a:ln/>
        </p:spPr>
      </p:sp>
      <p:sp>
        <p:nvSpPr>
          <p:cNvPr id="27" name="Shape 25"/>
          <p:cNvSpPr/>
          <p:nvPr/>
        </p:nvSpPr>
        <p:spPr>
          <a:xfrm>
            <a:off x="3784600" y="4021386"/>
            <a:ext cx="762000" cy="101600"/>
          </a:xfrm>
          <a:prstGeom prst="rect">
            <a:avLst/>
          </a:prstGeom>
          <a:solidFill>
            <a:srgbClr val="CFE07E"/>
          </a:solidFill>
          <a:ln/>
        </p:spPr>
      </p:sp>
      <p:sp>
        <p:nvSpPr>
          <p:cNvPr id="28" name="Text 26"/>
          <p:cNvSpPr/>
          <p:nvPr/>
        </p:nvSpPr>
        <p:spPr>
          <a:xfrm>
            <a:off x="7035800" y="3956645"/>
            <a:ext cx="436905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Clicks and engagement: proxies</a:t>
            </a:r>
            <a:endParaRPr lang="en-US" sz="1400" dirty="0"/>
          </a:p>
        </p:txBody>
      </p:sp>
      <p:sp>
        <p:nvSpPr>
          <p:cNvPr id="29" name="Shape 27"/>
          <p:cNvSpPr/>
          <p:nvPr/>
        </p:nvSpPr>
        <p:spPr>
          <a:xfrm>
            <a:off x="812800" y="4276675"/>
            <a:ext cx="10566400" cy="646410"/>
          </a:xfrm>
          <a:prstGeom prst="rect">
            <a:avLst/>
          </a:prstGeom>
          <a:solidFill>
            <a:srgbClr val="1A1A18"/>
          </a:solidFill>
          <a:ln/>
        </p:spPr>
      </p:sp>
      <p:sp>
        <p:nvSpPr>
          <p:cNvPr id="30" name="Shape 28"/>
          <p:cNvSpPr/>
          <p:nvPr/>
        </p:nvSpPr>
        <p:spPr>
          <a:xfrm>
            <a:off x="812800" y="4279850"/>
            <a:ext cx="10566400" cy="0"/>
          </a:xfrm>
          <a:prstGeom prst="line">
            <a:avLst/>
          </a:prstGeom>
          <a:noFill/>
          <a:ln w="6350">
            <a:solidFill>
              <a:srgbClr val="2A2A28"/>
            </a:solidFill>
            <a:prstDash val="solid"/>
          </a:ln>
        </p:spPr>
      </p:sp>
      <p:sp>
        <p:nvSpPr>
          <p:cNvPr id="31" name="Text 29"/>
          <p:cNvSpPr/>
          <p:nvPr/>
        </p:nvSpPr>
        <p:spPr>
          <a:xfrm>
            <a:off x="914400" y="449639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TRANSLATE &amp; EDUCATE</a:t>
            </a:r>
            <a:endParaRPr lang="en-US" sz="1200" dirty="0"/>
          </a:p>
        </p:txBody>
      </p:sp>
      <p:sp>
        <p:nvSpPr>
          <p:cNvPr id="32" name="Shape 30"/>
          <p:cNvSpPr/>
          <p:nvPr/>
        </p:nvSpPr>
        <p:spPr>
          <a:xfrm>
            <a:off x="3784600" y="4552255"/>
            <a:ext cx="3048000" cy="101600"/>
          </a:xfrm>
          <a:prstGeom prst="rect">
            <a:avLst/>
          </a:prstGeom>
          <a:solidFill>
            <a:srgbClr val="2A2A28"/>
          </a:solidFill>
          <a:ln/>
        </p:spPr>
      </p:sp>
      <p:sp>
        <p:nvSpPr>
          <p:cNvPr id="33" name="Shape 31"/>
          <p:cNvSpPr/>
          <p:nvPr/>
        </p:nvSpPr>
        <p:spPr>
          <a:xfrm>
            <a:off x="3784600" y="4552255"/>
            <a:ext cx="241300" cy="101600"/>
          </a:xfrm>
          <a:prstGeom prst="rect">
            <a:avLst/>
          </a:prstGeom>
          <a:solidFill>
            <a:srgbClr val="7FD9C4"/>
          </a:solidFill>
          <a:ln/>
        </p:spPr>
      </p:sp>
      <p:sp>
        <p:nvSpPr>
          <p:cNvPr id="34" name="Text 32"/>
          <p:cNvSpPr/>
          <p:nvPr/>
        </p:nvSpPr>
        <p:spPr>
          <a:xfrm>
            <a:off x="7035800" y="4371925"/>
            <a:ext cx="4369054"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Very few people turn findings into practice</a:t>
            </a:r>
            <a:endParaRPr lang="en-US" sz="1400" dirty="0"/>
          </a:p>
        </p:txBody>
      </p:sp>
      <p:sp>
        <p:nvSpPr>
          <p:cNvPr id="35" name="Text 33"/>
          <p:cNvSpPr/>
          <p:nvPr/>
        </p:nvSpPr>
        <p:spPr>
          <a:xfrm>
            <a:off x="812800" y="5492750"/>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8BD78"/>
                </a:solidFill>
                <a:latin typeface="JetBrains Mono" pitchFamily="49" charset="0"/>
                <a:ea typeface="JetBrains Mono" pitchFamily="49" charset="-122"/>
                <a:cs typeface="JetBrains Mono" pitchFamily="49" charset="-120"/>
              </a:rPr>
              <a:t>Translation is the role we’re missing.</a:t>
            </a:r>
            <a:endParaRPr lang="en-US" sz="2200" dirty="0"/>
          </a:p>
        </p:txBody>
      </p:sp>
      <p:sp>
        <p:nvSpPr>
          <p:cNvPr id="36" name="Text 34"/>
          <p:cNvSpPr/>
          <p:nvPr/>
        </p:nvSpPr>
        <p:spPr>
          <a:xfrm>
            <a:off x="812800" y="6238280"/>
            <a:ext cx="79979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MY READ, NOT A MEASUREMENT · SAME COLOURS AS THE RENAISSANCE MAP</a:t>
            </a:r>
            <a:endParaRPr lang="en-US" sz="1200" dirty="0"/>
          </a:p>
        </p:txBody>
      </p:sp>
      <p:sp>
        <p:nvSpPr>
          <p:cNvPr id="37" name="Text 35"/>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17 / 34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WHAT AI CHANGED</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Building got cheap.</a:t>
            </a:r>
            <a:endParaRPr lang="en-US" sz="3600" dirty="0"/>
          </a:p>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Knowing got expensive.</a:t>
            </a:r>
            <a:endParaRPr lang="en-US" sz="3600" dirty="0"/>
          </a:p>
        </p:txBody>
      </p:sp>
      <p:sp>
        <p:nvSpPr>
          <p:cNvPr id="4" name="Shape 2"/>
          <p:cNvSpPr/>
          <p:nvPr/>
        </p:nvSpPr>
        <p:spPr>
          <a:xfrm>
            <a:off x="812800" y="2887960"/>
            <a:ext cx="3386634" cy="0"/>
          </a:xfrm>
          <a:prstGeom prst="line">
            <a:avLst/>
          </a:prstGeom>
          <a:noFill/>
          <a:ln w="12700">
            <a:solidFill>
              <a:srgbClr val="B7ADFF"/>
            </a:solidFill>
            <a:prstDash val="solid"/>
          </a:ln>
        </p:spPr>
      </p:sp>
      <p:sp>
        <p:nvSpPr>
          <p:cNvPr id="5" name="Text 3"/>
          <p:cNvSpPr/>
          <p:nvPr/>
        </p:nvSpPr>
        <p:spPr>
          <a:xfrm>
            <a:off x="812800" y="3046710"/>
            <a:ext cx="3488233"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B7ADFF"/>
                </a:solidFill>
                <a:latin typeface="JetBrains Mono" pitchFamily="49" charset="0"/>
                <a:ea typeface="JetBrains Mono" pitchFamily="49" charset="-122"/>
                <a:cs typeface="JetBrains Mono" pitchFamily="49" charset="-120"/>
              </a:rPr>
              <a:t>1 day</a:t>
            </a:r>
            <a:endParaRPr lang="en-US" sz="4800" dirty="0"/>
          </a:p>
        </p:txBody>
      </p:sp>
      <p:sp>
        <p:nvSpPr>
          <p:cNvPr id="6" name="Text 4"/>
          <p:cNvSpPr/>
          <p:nvPr/>
        </p:nvSpPr>
        <p:spPr>
          <a:xfrm>
            <a:off x="812800" y="3757910"/>
            <a:ext cx="348823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Andrew Ng</a:t>
            </a:r>
            <a:endParaRPr lang="en-US" sz="2000" dirty="0"/>
          </a:p>
        </p:txBody>
      </p:sp>
      <p:sp>
        <p:nvSpPr>
          <p:cNvPr id="7" name="Text 5"/>
          <p:cNvSpPr/>
          <p:nvPr/>
        </p:nvSpPr>
        <p:spPr>
          <a:xfrm>
            <a:off x="812800" y="416431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To prototype. Feedback still takes a week.</a:t>
            </a:r>
            <a:endParaRPr lang="en-US" sz="1600" dirty="0"/>
          </a:p>
        </p:txBody>
      </p:sp>
      <p:sp>
        <p:nvSpPr>
          <p:cNvPr id="8" name="Shape 6"/>
          <p:cNvSpPr/>
          <p:nvPr/>
        </p:nvSpPr>
        <p:spPr>
          <a:xfrm>
            <a:off x="4402634" y="2887960"/>
            <a:ext cx="3386683" cy="0"/>
          </a:xfrm>
          <a:prstGeom prst="line">
            <a:avLst/>
          </a:prstGeom>
          <a:noFill/>
          <a:ln w="12700">
            <a:solidFill>
              <a:srgbClr val="FF6A4D"/>
            </a:solidFill>
            <a:prstDash val="solid"/>
          </a:ln>
        </p:spPr>
      </p:sp>
      <p:sp>
        <p:nvSpPr>
          <p:cNvPr id="9" name="Text 7"/>
          <p:cNvSpPr/>
          <p:nvPr/>
        </p:nvSpPr>
        <p:spPr>
          <a:xfrm>
            <a:off x="4402634" y="3046710"/>
            <a:ext cx="348828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F6A4D"/>
                </a:solidFill>
                <a:latin typeface="JetBrains Mono" pitchFamily="49" charset="0"/>
                <a:ea typeface="JetBrains Mono" pitchFamily="49" charset="-122"/>
                <a:cs typeface="JetBrains Mono" pitchFamily="49" charset="-120"/>
              </a:rPr>
              <a:t>80%</a:t>
            </a:r>
            <a:endParaRPr lang="en-US" sz="4800" dirty="0"/>
          </a:p>
        </p:txBody>
      </p:sp>
      <p:sp>
        <p:nvSpPr>
          <p:cNvPr id="10" name="Text 8"/>
          <p:cNvSpPr/>
          <p:nvPr/>
        </p:nvSpPr>
        <p:spPr>
          <a:xfrm>
            <a:off x="4402634" y="3757910"/>
            <a:ext cx="34882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Researchers</a:t>
            </a:r>
            <a:endParaRPr lang="en-US" sz="2000" dirty="0"/>
          </a:p>
        </p:txBody>
      </p:sp>
      <p:sp>
        <p:nvSpPr>
          <p:cNvPr id="11" name="Text 9"/>
          <p:cNvSpPr/>
          <p:nvPr/>
        </p:nvSpPr>
        <p:spPr>
          <a:xfrm>
            <a:off x="4402634" y="4164310"/>
            <a:ext cx="3488284"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now use AI in their work</a:t>
            </a:r>
            <a:endParaRPr lang="en-US" sz="1600" dirty="0"/>
          </a:p>
        </p:txBody>
      </p:sp>
      <p:sp>
        <p:nvSpPr>
          <p:cNvPr id="12" name="Shape 10"/>
          <p:cNvSpPr/>
          <p:nvPr/>
        </p:nvSpPr>
        <p:spPr>
          <a:xfrm>
            <a:off x="7992517" y="2887960"/>
            <a:ext cx="3386683" cy="0"/>
          </a:xfrm>
          <a:prstGeom prst="line">
            <a:avLst/>
          </a:prstGeom>
          <a:noFill/>
          <a:ln w="12700">
            <a:solidFill>
              <a:srgbClr val="F2F1EC"/>
            </a:solidFill>
            <a:prstDash val="solid"/>
          </a:ln>
        </p:spPr>
      </p:sp>
      <p:sp>
        <p:nvSpPr>
          <p:cNvPr id="13" name="Text 11"/>
          <p:cNvSpPr/>
          <p:nvPr/>
        </p:nvSpPr>
        <p:spPr>
          <a:xfrm>
            <a:off x="7992517" y="3046710"/>
            <a:ext cx="348828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2F1EC"/>
                </a:solidFill>
                <a:latin typeface="JetBrains Mono" pitchFamily="49" charset="0"/>
                <a:ea typeface="JetBrains Mono" pitchFamily="49" charset="-122"/>
                <a:cs typeface="JetBrains Mono" pitchFamily="49" charset="-120"/>
              </a:rPr>
              <a:t>63%</a:t>
            </a:r>
            <a:endParaRPr lang="en-US" sz="4800" dirty="0"/>
          </a:p>
        </p:txBody>
      </p:sp>
      <p:sp>
        <p:nvSpPr>
          <p:cNvPr id="14" name="Text 12"/>
          <p:cNvSpPr/>
          <p:nvPr/>
        </p:nvSpPr>
        <p:spPr>
          <a:xfrm>
            <a:off x="7992517" y="3757910"/>
            <a:ext cx="34882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Researchers</a:t>
            </a:r>
            <a:endParaRPr lang="en-US" sz="2000" dirty="0"/>
          </a:p>
        </p:txBody>
      </p:sp>
      <p:sp>
        <p:nvSpPr>
          <p:cNvPr id="15" name="Text 13"/>
          <p:cNvSpPr/>
          <p:nvPr/>
        </p:nvSpPr>
        <p:spPr>
          <a:xfrm>
            <a:off x="7992517" y="4164310"/>
            <a:ext cx="348828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worry it erodes critical thinking</a:t>
            </a:r>
            <a:endParaRPr lang="en-US" sz="1600" dirty="0"/>
          </a:p>
        </p:txBody>
      </p:sp>
      <p:sp>
        <p:nvSpPr>
          <p:cNvPr id="16" name="Text 14"/>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The bottleneck is now deciding what to build.</a:t>
            </a:r>
            <a:endParaRPr lang="en-US" sz="2400" dirty="0"/>
          </a:p>
        </p:txBody>
      </p:sp>
      <p:sp>
        <p:nvSpPr>
          <p:cNvPr id="17" name="Text 15"/>
          <p:cNvSpPr/>
          <p:nvPr/>
        </p:nvSpPr>
        <p:spPr>
          <a:xfrm>
            <a:off x="812800" y="6238280"/>
            <a:ext cx="699825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NG, 2025 · USER INTERVIEWS, STATE OF USER RESEARCH, 2026</a:t>
            </a:r>
            <a:endParaRPr lang="en-US" sz="1200" dirty="0"/>
          </a:p>
        </p:txBody>
      </p:sp>
      <p:sp>
        <p:nvSpPr>
          <p:cNvPr id="18"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18 / 34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THE PROBLEM GAP</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RESEARCH</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DESIGN</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ENGINEER</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8DBAF6"/>
                </a:solidFill>
                <a:latin typeface="JetBrains Mono" pitchFamily="49" charset="0"/>
                <a:ea typeface="JetBrains Mono" pitchFamily="49" charset="-122"/>
                <a:cs typeface="JetBrains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FE07E"/>
                </a:solidFill>
                <a:latin typeface="JetBrains Mono" pitchFamily="49" charset="0"/>
                <a:ea typeface="JetBrains Mono" pitchFamily="49" charset="-122"/>
                <a:cs typeface="JetBrains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TEST</a:t>
            </a:r>
            <a:endParaRPr lang="en-US" sz="1700" dirty="0"/>
          </a:p>
        </p:txBody>
      </p:sp>
      <p:sp>
        <p:nvSpPr>
          <p:cNvPr id="27" name="Text 16"/>
          <p:cNvSpPr/>
          <p:nvPr/>
        </p:nvSpPr>
        <p:spPr>
          <a:xfrm>
            <a:off x="4337050" y="1651000"/>
            <a:ext cx="3924300" cy="565150"/>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In today’s context,</a:t>
            </a:r>
            <a:endParaRPr lang="en-US" sz="1700" dirty="0"/>
          </a:p>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we have a lot of this.</a:t>
            </a:r>
            <a:endParaRPr lang="en-US" sz="1700" dirty="0"/>
          </a:p>
        </p:txBody>
      </p:sp>
      <p:pic>
        <p:nvPicPr>
          <p:cNvPr id="28" name="Image 9" descr="connector">    </p:cNvPr>
          <p:cNvPicPr>
            <a:picLocks noChangeAspect="1"/>
          </p:cNvPicPr>
          <p:nvPr/>
        </p:nvPicPr>
        <p:blipFill>
          <a:blip r:embed="rId10"/>
          <a:srcRect l="0" r="0" t="0" b="0"/>
          <a:stretch/>
        </p:blipFill>
        <p:spPr>
          <a:xfrm>
            <a:off x="4298950" y="2374900"/>
            <a:ext cx="3594100" cy="76200"/>
          </a:xfrm>
          <a:prstGeom prst="rect">
            <a:avLst/>
          </a:prstGeom>
        </p:spPr>
      </p:pic>
      <p:pic>
        <p:nvPicPr>
          <p:cNvPr id="29" name="Image 10" descr="connector">    </p:cNvPr>
          <p:cNvPicPr>
            <a:picLocks noChangeAspect="1"/>
          </p:cNvPicPr>
          <p:nvPr/>
        </p:nvPicPr>
        <p:blipFill>
          <a:blip r:embed="rId11"/>
          <a:srcRect l="0" r="0" t="0" b="0"/>
          <a:stretch/>
        </p:blipFill>
        <p:spPr>
          <a:xfrm>
            <a:off x="774700" y="4406900"/>
            <a:ext cx="3536950" cy="76200"/>
          </a:xfrm>
          <a:prstGeom prst="rect">
            <a:avLst/>
          </a:prstGeom>
        </p:spPr>
      </p:pic>
      <p:pic>
        <p:nvPicPr>
          <p:cNvPr id="30" name="Image 11" descr="connector">    </p:cNvPr>
          <p:cNvPicPr>
            <a:picLocks noChangeAspect="1"/>
          </p:cNvPicPr>
          <p:nvPr/>
        </p:nvPicPr>
        <p:blipFill>
          <a:blip r:embed="rId12"/>
          <a:srcRect l="0" r="0" t="0" b="0"/>
          <a:stretch/>
        </p:blipFill>
        <p:spPr>
          <a:xfrm>
            <a:off x="7816850" y="4406900"/>
            <a:ext cx="3536950" cy="76200"/>
          </a:xfrm>
          <a:prstGeom prst="rect">
            <a:avLst/>
          </a:prstGeom>
        </p:spPr>
      </p:pic>
      <p:sp>
        <p:nvSpPr>
          <p:cNvPr id="31" name="Text 17"/>
          <p:cNvSpPr/>
          <p:nvPr/>
        </p:nvSpPr>
        <p:spPr>
          <a:xfrm>
            <a:off x="812800" y="4635500"/>
            <a:ext cx="5886450"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B7ADFF"/>
                </a:solidFill>
                <a:latin typeface="JetBrains Mono" pitchFamily="49" charset="0"/>
                <a:ea typeface="JetBrains Mono" pitchFamily="49" charset="-122"/>
                <a:cs typeface="JetBrains Mono" pitchFamily="49" charset="-120"/>
              </a:rPr>
              <a:t>BUT WE ARE RUNNING OUT OF THIS</a:t>
            </a:r>
            <a:endParaRPr lang="en-US" sz="1700" dirty="0"/>
          </a:p>
        </p:txBody>
      </p:sp>
      <p:sp>
        <p:nvSpPr>
          <p:cNvPr id="32"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3" name="Text 19"/>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19 / 34</a:t>
            </a:r>
            <a:endParaRPr lang="en-US" sz="1200" dirty="0"/>
          </a:p>
        </p:txBody>
      </p:sp>
      <p:sp>
        <p:nvSpPr>
          <p:cNvPr id="34" name="Text 20"/>
          <p:cNvSpPr/>
          <p:nvPr/>
        </p:nvSpPr>
        <p:spPr>
          <a:xfrm>
            <a:off x="5416550" y="4635500"/>
            <a:ext cx="5886450" cy="295275"/>
          </a:xfrm>
          <a:prstGeom prst="rect">
            <a:avLst/>
          </a:prstGeom>
          <a:noFill/>
          <a:ln/>
        </p:spPr>
        <p:txBody>
          <a:bodyPr wrap="none" lIns="0" tIns="0" rIns="0" bIns="0" rtlCol="0" anchor="t">
            <a:normAutofit/>
          </a:bodyPr>
          <a:lstStyle/>
          <a:p>
            <a:pPr algn="r" indent="0" marL="0">
              <a:lnSpc>
                <a:spcPts val="2125"/>
              </a:lnSpc>
              <a:buNone/>
            </a:pPr>
            <a:r>
              <a:rPr lang="en-US" sz="1700" dirty="0">
                <a:solidFill>
                  <a:srgbClr val="CFE07E"/>
                </a:solidFill>
                <a:latin typeface="JetBrains Mono" pitchFamily="49" charset="0"/>
                <a:ea typeface="JetBrains Mono" pitchFamily="49" charset="-122"/>
                <a:cs typeface="JetBrains Mono" pitchFamily="49" charset="-120"/>
              </a:rPr>
              <a:t>AND WE ARE STILL FIGURING THIS OUT</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Our signals are proxies</a:t>
            </a:r>
            <a:endParaRPr lang="en-US" sz="3600" dirty="0"/>
          </a:p>
        </p:txBody>
      </p:sp>
      <p:sp>
        <p:nvSpPr>
          <p:cNvPr id="4" name="Text 2"/>
          <p:cNvSpPr/>
          <p:nvPr/>
        </p:nvSpPr>
        <p:spPr>
          <a:xfrm>
            <a:off x="812800" y="1949500"/>
            <a:ext cx="340106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FE07E"/>
                </a:solidFill>
                <a:latin typeface="JetBrains Mono" pitchFamily="49" charset="0"/>
                <a:ea typeface="JetBrains Mono" pitchFamily="49" charset="-122"/>
                <a:cs typeface="JetBrains Mono" pitchFamily="49" charset="-120"/>
              </a:rPr>
              <a:t>WHAT WE MEASURE</a:t>
            </a:r>
            <a:endParaRPr lang="en-US" sz="1200" dirty="0"/>
          </a:p>
        </p:txBody>
      </p:sp>
      <p:sp>
        <p:nvSpPr>
          <p:cNvPr id="5" name="Text 3"/>
          <p:cNvSpPr/>
          <p:nvPr/>
        </p:nvSpPr>
        <p:spPr>
          <a:xfrm>
            <a:off x="5003800" y="1949500"/>
            <a:ext cx="65666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WHAT WE HOPE IT MEANS</a:t>
            </a:r>
            <a:endParaRPr lang="en-US" sz="1200" dirty="0"/>
          </a:p>
        </p:txBody>
      </p:sp>
      <p:sp>
        <p:nvSpPr>
          <p:cNvPr id="6" name="Shape 4"/>
          <p:cNvSpPr/>
          <p:nvPr/>
        </p:nvSpPr>
        <p:spPr>
          <a:xfrm>
            <a:off x="812800" y="2242195"/>
            <a:ext cx="10566400" cy="0"/>
          </a:xfrm>
          <a:prstGeom prst="line">
            <a:avLst/>
          </a:prstGeom>
          <a:noFill/>
          <a:ln w="6350">
            <a:solidFill>
              <a:srgbClr val="2A2A28"/>
            </a:solidFill>
            <a:prstDash val="solid"/>
          </a:ln>
        </p:spPr>
      </p:sp>
      <p:sp>
        <p:nvSpPr>
          <p:cNvPr id="7" name="Text 5"/>
          <p:cNvSpPr/>
          <p:nvPr/>
        </p:nvSpPr>
        <p:spPr>
          <a:xfrm>
            <a:off x="812800" y="2346970"/>
            <a:ext cx="340106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2F1EC"/>
                </a:solidFill>
                <a:latin typeface="JetBrains Mono" pitchFamily="49" charset="0"/>
                <a:ea typeface="JetBrains Mono" pitchFamily="49" charset="-122"/>
                <a:cs typeface="JetBrains Mono" pitchFamily="49" charset="-120"/>
              </a:rPr>
              <a:t>Clicks</a:t>
            </a:r>
            <a:endParaRPr lang="en-US" sz="1700" dirty="0"/>
          </a:p>
        </p:txBody>
      </p:sp>
      <p:sp>
        <p:nvSpPr>
          <p:cNvPr id="8" name="Text 6"/>
          <p:cNvSpPr/>
          <p:nvPr/>
        </p:nvSpPr>
        <p:spPr>
          <a:xfrm>
            <a:off x="4368800" y="2346970"/>
            <a:ext cx="4318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8A8985"/>
                </a:solidFill>
                <a:latin typeface="JetBrains Mono" pitchFamily="49" charset="0"/>
                <a:ea typeface="JetBrains Mono" pitchFamily="49" charset="-122"/>
                <a:cs typeface="JetBrains Mono" pitchFamily="49" charset="-120"/>
              </a:rPr>
              <a:t>→</a:t>
            </a:r>
            <a:endParaRPr lang="en-US" sz="1700" dirty="0"/>
          </a:p>
        </p:txBody>
      </p:sp>
      <p:sp>
        <p:nvSpPr>
          <p:cNvPr id="9" name="Text 7"/>
          <p:cNvSpPr/>
          <p:nvPr/>
        </p:nvSpPr>
        <p:spPr>
          <a:xfrm>
            <a:off x="5003800" y="2346970"/>
            <a:ext cx="656666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5B4AE"/>
                </a:solidFill>
                <a:latin typeface="JetBrains Mono" pitchFamily="49" charset="0"/>
                <a:ea typeface="JetBrains Mono" pitchFamily="49" charset="-122"/>
                <a:cs typeface="JetBrains Mono" pitchFamily="49" charset="-120"/>
              </a:rPr>
              <a:t>They found what they needed</a:t>
            </a:r>
            <a:endParaRPr lang="en-US" sz="1700" dirty="0"/>
          </a:p>
        </p:txBody>
      </p:sp>
      <p:sp>
        <p:nvSpPr>
          <p:cNvPr id="10" name="Shape 8"/>
          <p:cNvSpPr/>
          <p:nvPr/>
        </p:nvSpPr>
        <p:spPr>
          <a:xfrm>
            <a:off x="812800" y="2753965"/>
            <a:ext cx="10566400" cy="0"/>
          </a:xfrm>
          <a:prstGeom prst="line">
            <a:avLst/>
          </a:prstGeom>
          <a:noFill/>
          <a:ln w="6350">
            <a:solidFill>
              <a:srgbClr val="2A2A28"/>
            </a:solidFill>
            <a:prstDash val="solid"/>
          </a:ln>
        </p:spPr>
      </p:sp>
      <p:sp>
        <p:nvSpPr>
          <p:cNvPr id="11" name="Text 9"/>
          <p:cNvSpPr/>
          <p:nvPr/>
        </p:nvSpPr>
        <p:spPr>
          <a:xfrm>
            <a:off x="812800" y="2858740"/>
            <a:ext cx="340106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2F1EC"/>
                </a:solidFill>
                <a:latin typeface="JetBrains Mono" pitchFamily="49" charset="0"/>
                <a:ea typeface="JetBrains Mono" pitchFamily="49" charset="-122"/>
                <a:cs typeface="JetBrains Mono" pitchFamily="49" charset="-120"/>
              </a:rPr>
              <a:t>A thumbs-up</a:t>
            </a:r>
            <a:endParaRPr lang="en-US" sz="1700" dirty="0"/>
          </a:p>
        </p:txBody>
      </p:sp>
      <p:sp>
        <p:nvSpPr>
          <p:cNvPr id="12" name="Text 10"/>
          <p:cNvSpPr/>
          <p:nvPr/>
        </p:nvSpPr>
        <p:spPr>
          <a:xfrm>
            <a:off x="4368800" y="2858740"/>
            <a:ext cx="4318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8A8985"/>
                </a:solidFill>
                <a:latin typeface="JetBrains Mono" pitchFamily="49" charset="0"/>
                <a:ea typeface="JetBrains Mono" pitchFamily="49" charset="-122"/>
                <a:cs typeface="JetBrains Mono" pitchFamily="49" charset="-120"/>
              </a:rPr>
              <a:t>→</a:t>
            </a:r>
            <a:endParaRPr lang="en-US" sz="1700" dirty="0"/>
          </a:p>
        </p:txBody>
      </p:sp>
      <p:sp>
        <p:nvSpPr>
          <p:cNvPr id="13" name="Text 11"/>
          <p:cNvSpPr/>
          <p:nvPr/>
        </p:nvSpPr>
        <p:spPr>
          <a:xfrm>
            <a:off x="5003800" y="2858740"/>
            <a:ext cx="656666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5B4AE"/>
                </a:solidFill>
                <a:latin typeface="JetBrains Mono" pitchFamily="49" charset="0"/>
                <a:ea typeface="JetBrains Mono" pitchFamily="49" charset="-122"/>
                <a:cs typeface="JetBrains Mono" pitchFamily="49" charset="-120"/>
              </a:rPr>
              <a:t>It actually helped</a:t>
            </a:r>
            <a:endParaRPr lang="en-US" sz="1700" dirty="0"/>
          </a:p>
        </p:txBody>
      </p:sp>
      <p:sp>
        <p:nvSpPr>
          <p:cNvPr id="14" name="Shape 12"/>
          <p:cNvSpPr/>
          <p:nvPr/>
        </p:nvSpPr>
        <p:spPr>
          <a:xfrm>
            <a:off x="812800" y="3265736"/>
            <a:ext cx="10566400" cy="0"/>
          </a:xfrm>
          <a:prstGeom prst="line">
            <a:avLst/>
          </a:prstGeom>
          <a:noFill/>
          <a:ln w="6350">
            <a:solidFill>
              <a:srgbClr val="2A2A28"/>
            </a:solidFill>
            <a:prstDash val="solid"/>
          </a:ln>
        </p:spPr>
      </p:sp>
      <p:sp>
        <p:nvSpPr>
          <p:cNvPr id="15" name="Text 13"/>
          <p:cNvSpPr/>
          <p:nvPr/>
        </p:nvSpPr>
        <p:spPr>
          <a:xfrm>
            <a:off x="812800" y="3370511"/>
            <a:ext cx="340106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2F1EC"/>
                </a:solidFill>
                <a:latin typeface="JetBrains Mono" pitchFamily="49" charset="0"/>
                <a:ea typeface="JetBrains Mono" pitchFamily="49" charset="-122"/>
                <a:cs typeface="JetBrains Mono" pitchFamily="49" charset="-120"/>
              </a:rPr>
              <a:t>Time spent</a:t>
            </a:r>
            <a:endParaRPr lang="en-US" sz="1700" dirty="0"/>
          </a:p>
        </p:txBody>
      </p:sp>
      <p:sp>
        <p:nvSpPr>
          <p:cNvPr id="16" name="Text 14"/>
          <p:cNvSpPr/>
          <p:nvPr/>
        </p:nvSpPr>
        <p:spPr>
          <a:xfrm>
            <a:off x="4368800" y="3370511"/>
            <a:ext cx="4318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8A8985"/>
                </a:solidFill>
                <a:latin typeface="JetBrains Mono" pitchFamily="49" charset="0"/>
                <a:ea typeface="JetBrains Mono" pitchFamily="49" charset="-122"/>
                <a:cs typeface="JetBrains Mono" pitchFamily="49" charset="-120"/>
              </a:rPr>
              <a:t>→</a:t>
            </a:r>
            <a:endParaRPr lang="en-US" sz="1700" dirty="0"/>
          </a:p>
        </p:txBody>
      </p:sp>
      <p:sp>
        <p:nvSpPr>
          <p:cNvPr id="17" name="Text 15"/>
          <p:cNvSpPr/>
          <p:nvPr/>
        </p:nvSpPr>
        <p:spPr>
          <a:xfrm>
            <a:off x="5003800" y="3370511"/>
            <a:ext cx="656666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5B4AE"/>
                </a:solidFill>
                <a:latin typeface="JetBrains Mono" pitchFamily="49" charset="0"/>
                <a:ea typeface="JetBrains Mono" pitchFamily="49" charset="-122"/>
                <a:cs typeface="JetBrains Mono" pitchFamily="49" charset="-120"/>
              </a:rPr>
              <a:t>They’re better off</a:t>
            </a:r>
            <a:endParaRPr lang="en-US" sz="1700" dirty="0"/>
          </a:p>
        </p:txBody>
      </p:sp>
      <p:sp>
        <p:nvSpPr>
          <p:cNvPr id="18" name="Shape 16"/>
          <p:cNvSpPr/>
          <p:nvPr/>
        </p:nvSpPr>
        <p:spPr>
          <a:xfrm>
            <a:off x="812800" y="3777506"/>
            <a:ext cx="10566400" cy="0"/>
          </a:xfrm>
          <a:prstGeom prst="line">
            <a:avLst/>
          </a:prstGeom>
          <a:noFill/>
          <a:ln w="6350">
            <a:solidFill>
              <a:srgbClr val="2A2A28"/>
            </a:solidFill>
            <a:prstDash val="solid"/>
          </a:ln>
        </p:spPr>
      </p:sp>
      <p:sp>
        <p:nvSpPr>
          <p:cNvPr id="19" name="Shape 17"/>
          <p:cNvSpPr/>
          <p:nvPr/>
        </p:nvSpPr>
        <p:spPr>
          <a:xfrm>
            <a:off x="812800" y="4289276"/>
            <a:ext cx="10566400" cy="0"/>
          </a:xfrm>
          <a:prstGeom prst="line">
            <a:avLst/>
          </a:prstGeom>
          <a:noFill/>
          <a:ln w="6350">
            <a:solidFill>
              <a:srgbClr val="2A2A28"/>
            </a:solidFill>
            <a:prstDash val="solid"/>
          </a:ln>
        </p:spPr>
      </p:sp>
      <p:sp>
        <p:nvSpPr>
          <p:cNvPr id="20" name="Text 18"/>
          <p:cNvSpPr/>
          <p:nvPr/>
        </p:nvSpPr>
        <p:spPr>
          <a:xfrm>
            <a:off x="812800" y="3882281"/>
            <a:ext cx="340106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2F1EC"/>
                </a:solidFill>
                <a:latin typeface="JetBrains Mono" pitchFamily="49" charset="0"/>
                <a:ea typeface="JetBrains Mono" pitchFamily="49" charset="-122"/>
                <a:cs typeface="JetBrains Mono" pitchFamily="49" charset="-120"/>
              </a:rPr>
              <a:t>Coming back</a:t>
            </a:r>
            <a:endParaRPr lang="en-US" sz="1700" dirty="0"/>
          </a:p>
        </p:txBody>
      </p:sp>
      <p:sp>
        <p:nvSpPr>
          <p:cNvPr id="21" name="Text 19"/>
          <p:cNvSpPr/>
          <p:nvPr/>
        </p:nvSpPr>
        <p:spPr>
          <a:xfrm>
            <a:off x="4368800" y="3882281"/>
            <a:ext cx="4318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8A8985"/>
                </a:solidFill>
                <a:latin typeface="JetBrains Mono" pitchFamily="49" charset="0"/>
                <a:ea typeface="JetBrains Mono" pitchFamily="49" charset="-122"/>
                <a:cs typeface="JetBrains Mono" pitchFamily="49" charset="-120"/>
              </a:rPr>
              <a:t>→</a:t>
            </a:r>
            <a:endParaRPr lang="en-US" sz="1700" dirty="0"/>
          </a:p>
        </p:txBody>
      </p:sp>
      <p:sp>
        <p:nvSpPr>
          <p:cNvPr id="22" name="Text 20"/>
          <p:cNvSpPr/>
          <p:nvPr/>
        </p:nvSpPr>
        <p:spPr>
          <a:xfrm>
            <a:off x="5003800" y="3882281"/>
            <a:ext cx="656666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5B4AE"/>
                </a:solidFill>
                <a:latin typeface="JetBrains Mono" pitchFamily="49" charset="0"/>
                <a:ea typeface="JetBrains Mono" pitchFamily="49" charset="-122"/>
                <a:cs typeface="JetBrains Mono" pitchFamily="49" charset="-120"/>
              </a:rPr>
              <a:t>Support, not dependence</a:t>
            </a:r>
            <a:endParaRPr lang="en-US" sz="1700" dirty="0"/>
          </a:p>
        </p:txBody>
      </p:sp>
      <p:sp>
        <p:nvSpPr>
          <p:cNvPr id="23" name="Text 21"/>
          <p:cNvSpPr/>
          <p:nvPr/>
        </p:nvSpPr>
        <p:spPr>
          <a:xfrm>
            <a:off x="812800" y="4611291"/>
            <a:ext cx="10883392"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“When a measure becomes a target, it ceases to be a good measure.” </a:t>
            </a:r>
            <a:r>
              <a:rPr lang="en-US" sz="1800" dirty="0">
                <a:solidFill>
                  <a:srgbClr val="8A8985"/>
                </a:solidFill>
                <a:latin typeface="JetBrains Mono" pitchFamily="49" charset="0"/>
                <a:ea typeface="JetBrains Mono" pitchFamily="49" charset="-122"/>
                <a:cs typeface="JetBrains Mono" pitchFamily="49" charset="-120"/>
              </a:rPr>
              <a:t>Goodhart’s law</a:t>
            </a:r>
            <a:endParaRPr lang="en-US" sz="1800" dirty="0"/>
          </a:p>
        </p:txBody>
      </p:sp>
      <p:sp>
        <p:nvSpPr>
          <p:cNvPr id="24" name="Text 22"/>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A thumbs-up can’t tell support from dependence.</a:t>
            </a:r>
            <a:endParaRPr lang="en-US" sz="2000" dirty="0"/>
          </a:p>
        </p:txBody>
      </p:sp>
      <p:sp>
        <p:nvSpPr>
          <p:cNvPr id="25" name="Text 23"/>
          <p:cNvSpPr/>
          <p:nvPr/>
        </p:nvSpPr>
        <p:spPr>
          <a:xfrm>
            <a:off x="812800" y="6238280"/>
            <a:ext cx="918845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GOODHART, 1975, AS PUT BY STRATHERN, 1997 · FANG ET AL., 2025 · MILLI ET AL., 2025</a:t>
            </a:r>
            <a:endParaRPr lang="en-US" sz="1200" dirty="0"/>
          </a:p>
        </p:txBody>
      </p:sp>
      <p:sp>
        <p:nvSpPr>
          <p:cNvPr id="26" name="Text 2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20 / 34</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 · AI · RESEARCH</a:t>
            </a:r>
            <a:endParaRPr lang="en-US" sz="1200" dirty="0"/>
          </a:p>
        </p:txBody>
      </p:sp>
      <p:sp>
        <p:nvSpPr>
          <p:cNvPr id="5" name="Text 2"/>
          <p:cNvSpPr/>
          <p:nvPr>
            <p:ph type="title"/>
          </p:nvPr>
        </p:nvSpPr>
        <p:spPr>
          <a:xfrm>
            <a:off x="812800" y="225554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What we</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can do</a:t>
            </a:r>
            <a:endParaRPr lang="en-US" sz="7200" dirty="0"/>
          </a:p>
        </p:txBody>
      </p:sp>
      <p:sp>
        <p:nvSpPr>
          <p:cNvPr id="6" name="Text 3"/>
          <p:cNvSpPr/>
          <p:nvPr/>
        </p:nvSpPr>
        <p:spPr>
          <a:xfrm>
            <a:off x="812800" y="4338340"/>
            <a:ext cx="6017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Part 3 · The map as method</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7:15–7:55 PM</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THE MAP AS METHOD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Sociology in: questions that work</a:t>
            </a:r>
            <a:endParaRPr lang="en-US" sz="3600" dirty="0"/>
          </a:p>
        </p:txBody>
      </p:sp>
      <p:sp>
        <p:nvSpPr>
          <p:cNvPr id="4" name="Shape 2"/>
          <p:cNvSpPr/>
          <p:nvPr/>
        </p:nvSpPr>
        <p:spPr>
          <a:xfrm>
            <a:off x="812800" y="2602260"/>
            <a:ext cx="3352800" cy="0"/>
          </a:xfrm>
          <a:prstGeom prst="line">
            <a:avLst/>
          </a:prstGeom>
          <a:noFill/>
          <a:ln w="12700">
            <a:solidFill>
              <a:srgbClr val="B7ADFF"/>
            </a:solidFill>
            <a:prstDash val="solid"/>
          </a:ln>
        </p:spPr>
      </p:sp>
      <p:sp>
        <p:nvSpPr>
          <p:cNvPr id="5" name="Text 3"/>
          <p:cNvSpPr/>
          <p:nvPr/>
        </p:nvSpPr>
        <p:spPr>
          <a:xfrm>
            <a:off x="812800" y="278641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NAME GENERATORS</a:t>
            </a:r>
            <a:endParaRPr lang="en-US" sz="1200" dirty="0"/>
          </a:p>
        </p:txBody>
      </p:sp>
      <p:sp>
        <p:nvSpPr>
          <p:cNvPr id="6" name="Text 4"/>
          <p:cNvSpPr/>
          <p:nvPr/>
        </p:nvSpPr>
        <p:spPr>
          <a:xfrm>
            <a:off x="812800" y="3101330"/>
            <a:ext cx="3453384" cy="6350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2F1EC"/>
                </a:solidFill>
                <a:latin typeface="JetBrains Mono" pitchFamily="49" charset="0"/>
                <a:ea typeface="JetBrains Mono" pitchFamily="49" charset="-122"/>
                <a:cs typeface="JetBrains Mono" pitchFamily="49" charset="-120"/>
              </a:rPr>
              <a:t>Who do you turn to when…?</a:t>
            </a:r>
            <a:endParaRPr lang="en-US" sz="2000" dirty="0"/>
          </a:p>
        </p:txBody>
      </p:sp>
      <p:sp>
        <p:nvSpPr>
          <p:cNvPr id="7" name="Text 5"/>
          <p:cNvSpPr/>
          <p:nvPr/>
        </p:nvSpPr>
        <p:spPr>
          <a:xfrm>
            <a:off x="812800" y="3812530"/>
            <a:ext cx="345338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B4AE"/>
                </a:solidFill>
                <a:latin typeface="JetBrains Mono" pitchFamily="49" charset="0"/>
                <a:ea typeface="JetBrains Mono" pitchFamily="49" charset="-122"/>
                <a:cs typeface="JetBrains Mono" pitchFamily="49" charset="-120"/>
              </a:rPr>
              <a:t>Tested questions people can answer reliably, instead of “list everyone you know”.</a:t>
            </a:r>
            <a:endParaRPr lang="en-US" sz="1400" dirty="0"/>
          </a:p>
        </p:txBody>
      </p:sp>
      <p:sp>
        <p:nvSpPr>
          <p:cNvPr id="8" name="Shape 6"/>
          <p:cNvSpPr/>
          <p:nvPr/>
        </p:nvSpPr>
        <p:spPr>
          <a:xfrm>
            <a:off x="4419600" y="2602260"/>
            <a:ext cx="3352800" cy="0"/>
          </a:xfrm>
          <a:prstGeom prst="line">
            <a:avLst/>
          </a:prstGeom>
          <a:noFill/>
          <a:ln w="12700">
            <a:solidFill>
              <a:srgbClr val="7FD9C4"/>
            </a:solidFill>
            <a:prstDash val="solid"/>
          </a:ln>
        </p:spPr>
      </p:sp>
      <p:sp>
        <p:nvSpPr>
          <p:cNvPr id="9" name="Text 7"/>
          <p:cNvSpPr/>
          <p:nvPr/>
        </p:nvSpPr>
        <p:spPr>
          <a:xfrm>
            <a:off x="4419600" y="278641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TIE STRENGTH</a:t>
            </a:r>
            <a:endParaRPr lang="en-US" sz="1200" dirty="0"/>
          </a:p>
        </p:txBody>
      </p:sp>
      <p:sp>
        <p:nvSpPr>
          <p:cNvPr id="10" name="Text 8"/>
          <p:cNvSpPr/>
          <p:nvPr/>
        </p:nvSpPr>
        <p:spPr>
          <a:xfrm>
            <a:off x="4419600" y="3101330"/>
            <a:ext cx="345338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2F1EC"/>
                </a:solidFill>
                <a:latin typeface="JetBrains Mono" pitchFamily="49" charset="0"/>
                <a:ea typeface="JetBrains Mono" pitchFamily="49" charset="-122"/>
                <a:cs typeface="JetBrains Mono" pitchFamily="49" charset="-120"/>
              </a:rPr>
              <a:t>Strong ties, weak ties</a:t>
            </a:r>
            <a:endParaRPr lang="en-US" sz="2000" dirty="0"/>
          </a:p>
        </p:txBody>
      </p:sp>
      <p:sp>
        <p:nvSpPr>
          <p:cNvPr id="11" name="Text 9"/>
          <p:cNvSpPr/>
          <p:nvPr/>
        </p:nvSpPr>
        <p:spPr>
          <a:xfrm>
            <a:off x="4419600" y="3507730"/>
            <a:ext cx="345338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B4AE"/>
                </a:solidFill>
                <a:latin typeface="JetBrains Mono" pitchFamily="49" charset="0"/>
                <a:ea typeface="JetBrains Mono" pitchFamily="49" charset="-122"/>
                <a:cs typeface="JetBrains Mono" pitchFamily="49" charset="-120"/>
              </a:rPr>
              <a:t>Bonding and bridging. Every line on the map means something.</a:t>
            </a:r>
            <a:endParaRPr lang="en-US" sz="1400" dirty="0"/>
          </a:p>
        </p:txBody>
      </p:sp>
      <p:sp>
        <p:nvSpPr>
          <p:cNvPr id="12" name="Shape 10"/>
          <p:cNvSpPr/>
          <p:nvPr/>
        </p:nvSpPr>
        <p:spPr>
          <a:xfrm>
            <a:off x="8026400" y="2602260"/>
            <a:ext cx="3352800" cy="0"/>
          </a:xfrm>
          <a:prstGeom prst="line">
            <a:avLst/>
          </a:prstGeom>
          <a:noFill/>
          <a:ln w="12700">
            <a:solidFill>
              <a:srgbClr val="E8BD78"/>
            </a:solidFill>
            <a:prstDash val="solid"/>
          </a:ln>
        </p:spPr>
      </p:sp>
      <p:sp>
        <p:nvSpPr>
          <p:cNvPr id="13" name="Text 11"/>
          <p:cNvSpPr/>
          <p:nvPr/>
        </p:nvSpPr>
        <p:spPr>
          <a:xfrm>
            <a:off x="8026400" y="278641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ECOMAP</a:t>
            </a:r>
            <a:endParaRPr lang="en-US" sz="1200" dirty="0"/>
          </a:p>
        </p:txBody>
      </p:sp>
      <p:sp>
        <p:nvSpPr>
          <p:cNvPr id="14" name="Text 12"/>
          <p:cNvSpPr/>
          <p:nvPr/>
        </p:nvSpPr>
        <p:spPr>
          <a:xfrm>
            <a:off x="8026400" y="3101330"/>
            <a:ext cx="345338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2F1EC"/>
                </a:solidFill>
                <a:latin typeface="JetBrains Mono" pitchFamily="49" charset="0"/>
                <a:ea typeface="JetBrains Mono" pitchFamily="49" charset="-122"/>
                <a:cs typeface="JetBrains Mono" pitchFamily="49" charset="-120"/>
              </a:rPr>
              <a:t>Supports and stresses</a:t>
            </a:r>
            <a:endParaRPr lang="en-US" sz="2000" dirty="0"/>
          </a:p>
        </p:txBody>
      </p:sp>
      <p:sp>
        <p:nvSpPr>
          <p:cNvPr id="15" name="Text 13"/>
          <p:cNvSpPr/>
          <p:nvPr/>
        </p:nvSpPr>
        <p:spPr>
          <a:xfrm>
            <a:off x="8026400" y="3507730"/>
            <a:ext cx="345338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B4AE"/>
                </a:solidFill>
                <a:latin typeface="JetBrains Mono" pitchFamily="49" charset="0"/>
                <a:ea typeface="JetBrains Mono" pitchFamily="49" charset="-122"/>
                <a:cs typeface="JetBrains Mono" pitchFamily="49" charset="-120"/>
              </a:rPr>
              <a:t>A social-work tool for drawing a person’s world. Maps you can compare.</a:t>
            </a:r>
            <a:endParaRPr lang="en-US" sz="1400" dirty="0"/>
          </a:p>
        </p:txBody>
      </p:sp>
      <p:sp>
        <p:nvSpPr>
          <p:cNvPr id="16" name="Text 14"/>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Reliable recall, edges that mean something, maps you can compare.</a:t>
            </a:r>
            <a:endParaRPr lang="en-US" sz="2000" dirty="0"/>
          </a:p>
        </p:txBody>
      </p:sp>
      <p:sp>
        <p:nvSpPr>
          <p:cNvPr id="17" name="Text 15"/>
          <p:cNvSpPr/>
          <p:nvPr/>
        </p:nvSpPr>
        <p:spPr>
          <a:xfrm>
            <a:off x="812800" y="6238280"/>
            <a:ext cx="76230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BURT, 1984 · GRANOVETTER, 1973 · PUTNAM, 2000 · HARTMAN, 1978</a:t>
            </a:r>
            <a:endParaRPr lang="en-US" sz="1200" dirty="0"/>
          </a:p>
        </p:txBody>
      </p:sp>
      <p:sp>
        <p:nvSpPr>
          <p:cNvPr id="18"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22 / 34</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THE MAP AS METHOD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Context out: a graph an LLM can read</a:t>
            </a:r>
            <a:endParaRPr lang="en-US" sz="3600" dirty="0"/>
          </a:p>
        </p:txBody>
      </p:sp>
      <p:sp>
        <p:nvSpPr>
          <p:cNvPr id="4" name="Text 2"/>
          <p:cNvSpPr/>
          <p:nvPr/>
        </p:nvSpPr>
        <p:spPr>
          <a:xfrm>
            <a:off x="3098800" y="2040979"/>
            <a:ext cx="4133596" cy="25653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CFE07E"/>
                </a:solidFill>
                <a:latin typeface="JetBrains Mono" pitchFamily="49" charset="0"/>
                <a:ea typeface="JetBrains Mono" pitchFamily="49" charset="-122"/>
                <a:cs typeface="JetBrains Mono" pitchFamily="49" charset="-120"/>
              </a:rPr>
              <a:t>A CLICK HISTORY</a:t>
            </a:r>
            <a:endParaRPr lang="en-US" sz="1300" dirty="0"/>
          </a:p>
        </p:txBody>
      </p:sp>
      <p:sp>
        <p:nvSpPr>
          <p:cNvPr id="5" name="Text 3"/>
          <p:cNvSpPr/>
          <p:nvPr/>
        </p:nvSpPr>
        <p:spPr>
          <a:xfrm>
            <a:off x="7366000" y="2040979"/>
            <a:ext cx="4133596" cy="25653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7FD9C4"/>
                </a:solidFill>
                <a:latin typeface="JetBrains Mono" pitchFamily="49" charset="0"/>
                <a:ea typeface="JetBrains Mono" pitchFamily="49" charset="-122"/>
                <a:cs typeface="JetBrains Mono" pitchFamily="49" charset="-120"/>
              </a:rPr>
              <a:t>YOUR MAP</a:t>
            </a:r>
            <a:endParaRPr lang="en-US" sz="1300" dirty="0"/>
          </a:p>
        </p:txBody>
      </p:sp>
      <p:sp>
        <p:nvSpPr>
          <p:cNvPr id="6" name="Shape 4"/>
          <p:cNvSpPr/>
          <p:nvPr/>
        </p:nvSpPr>
        <p:spPr>
          <a:xfrm>
            <a:off x="812800" y="2351484"/>
            <a:ext cx="10566400" cy="0"/>
          </a:xfrm>
          <a:prstGeom prst="line">
            <a:avLst/>
          </a:prstGeom>
          <a:noFill/>
          <a:ln w="6350">
            <a:solidFill>
              <a:srgbClr val="2A2A28"/>
            </a:solidFill>
            <a:prstDash val="solid"/>
          </a:ln>
        </p:spPr>
      </p:sp>
      <p:sp>
        <p:nvSpPr>
          <p:cNvPr id="7" name="Text 5"/>
          <p:cNvSpPr/>
          <p:nvPr/>
        </p:nvSpPr>
        <p:spPr>
          <a:xfrm>
            <a:off x="812800" y="2468959"/>
            <a:ext cx="2092960" cy="553641"/>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HOLDS</a:t>
            </a:r>
            <a:endParaRPr lang="en-US" sz="1200" dirty="0"/>
          </a:p>
        </p:txBody>
      </p:sp>
      <p:sp>
        <p:nvSpPr>
          <p:cNvPr id="8" name="Text 6"/>
          <p:cNvSpPr/>
          <p:nvPr/>
        </p:nvSpPr>
        <p:spPr>
          <a:xfrm>
            <a:off x="3098800" y="2468959"/>
            <a:ext cx="413359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What you did</a:t>
            </a:r>
            <a:endParaRPr lang="en-US" sz="1600" dirty="0"/>
          </a:p>
        </p:txBody>
      </p:sp>
      <p:sp>
        <p:nvSpPr>
          <p:cNvPr id="9" name="Text 7"/>
          <p:cNvSpPr/>
          <p:nvPr/>
        </p:nvSpPr>
        <p:spPr>
          <a:xfrm>
            <a:off x="7366000" y="2468959"/>
            <a:ext cx="413359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Who and what matters to you, and how</a:t>
            </a:r>
            <a:endParaRPr lang="en-US" sz="1600" dirty="0"/>
          </a:p>
        </p:txBody>
      </p:sp>
      <p:sp>
        <p:nvSpPr>
          <p:cNvPr id="10" name="Shape 8"/>
          <p:cNvSpPr/>
          <p:nvPr/>
        </p:nvSpPr>
        <p:spPr>
          <a:xfrm>
            <a:off x="812800" y="3114675"/>
            <a:ext cx="10566400" cy="0"/>
          </a:xfrm>
          <a:prstGeom prst="line">
            <a:avLst/>
          </a:prstGeom>
          <a:noFill/>
          <a:ln w="6350">
            <a:solidFill>
              <a:srgbClr val="2A2A28"/>
            </a:solidFill>
            <a:prstDash val="solid"/>
          </a:ln>
        </p:spPr>
      </p:sp>
      <p:sp>
        <p:nvSpPr>
          <p:cNvPr id="11" name="Text 9"/>
          <p:cNvSpPr/>
          <p:nvPr/>
        </p:nvSpPr>
        <p:spPr>
          <a:xfrm>
            <a:off x="812800" y="3232150"/>
            <a:ext cx="209296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IN WHOSE WORDS</a:t>
            </a:r>
            <a:endParaRPr lang="en-US" sz="1200" dirty="0"/>
          </a:p>
        </p:txBody>
      </p:sp>
      <p:sp>
        <p:nvSpPr>
          <p:cNvPr id="12" name="Text 10"/>
          <p:cNvSpPr/>
          <p:nvPr/>
        </p:nvSpPr>
        <p:spPr>
          <a:xfrm>
            <a:off x="3098800" y="3232150"/>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The platform’s</a:t>
            </a:r>
            <a:endParaRPr lang="en-US" sz="1600" dirty="0"/>
          </a:p>
        </p:txBody>
      </p:sp>
      <p:sp>
        <p:nvSpPr>
          <p:cNvPr id="13" name="Text 11"/>
          <p:cNvSpPr/>
          <p:nvPr/>
        </p:nvSpPr>
        <p:spPr>
          <a:xfrm>
            <a:off x="7366000" y="3232150"/>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Yours: typed nodes and edges</a:t>
            </a:r>
            <a:endParaRPr lang="en-US" sz="1600" dirty="0"/>
          </a:p>
        </p:txBody>
      </p:sp>
      <p:sp>
        <p:nvSpPr>
          <p:cNvPr id="14" name="Shape 12"/>
          <p:cNvSpPr/>
          <p:nvPr/>
        </p:nvSpPr>
        <p:spPr>
          <a:xfrm>
            <a:off x="812800" y="3613745"/>
            <a:ext cx="10566400" cy="0"/>
          </a:xfrm>
          <a:prstGeom prst="line">
            <a:avLst/>
          </a:prstGeom>
          <a:noFill/>
          <a:ln w="6350">
            <a:solidFill>
              <a:srgbClr val="2A2A28"/>
            </a:solidFill>
            <a:prstDash val="solid"/>
          </a:ln>
        </p:spPr>
      </p:sp>
      <p:sp>
        <p:nvSpPr>
          <p:cNvPr id="15" name="Text 13"/>
          <p:cNvSpPr/>
          <p:nvPr/>
        </p:nvSpPr>
        <p:spPr>
          <a:xfrm>
            <a:off x="812800" y="3731220"/>
            <a:ext cx="209296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CAN YOU SEE IT?</a:t>
            </a:r>
            <a:endParaRPr lang="en-US" sz="1200" dirty="0"/>
          </a:p>
        </p:txBody>
      </p:sp>
      <p:sp>
        <p:nvSpPr>
          <p:cNvPr id="16" name="Text 14"/>
          <p:cNvSpPr/>
          <p:nvPr/>
        </p:nvSpPr>
        <p:spPr>
          <a:xfrm>
            <a:off x="3098800" y="3731220"/>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No</a:t>
            </a:r>
            <a:endParaRPr lang="en-US" sz="1600" dirty="0"/>
          </a:p>
        </p:txBody>
      </p:sp>
      <p:sp>
        <p:nvSpPr>
          <p:cNvPr id="17" name="Text 15"/>
          <p:cNvSpPr/>
          <p:nvPr/>
        </p:nvSpPr>
        <p:spPr>
          <a:xfrm>
            <a:off x="7366000" y="3731220"/>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Yes</a:t>
            </a:r>
            <a:endParaRPr lang="en-US" sz="1600" dirty="0"/>
          </a:p>
        </p:txBody>
      </p:sp>
      <p:sp>
        <p:nvSpPr>
          <p:cNvPr id="18" name="Shape 16"/>
          <p:cNvSpPr/>
          <p:nvPr/>
        </p:nvSpPr>
        <p:spPr>
          <a:xfrm>
            <a:off x="812800" y="4112816"/>
            <a:ext cx="10566400" cy="0"/>
          </a:xfrm>
          <a:prstGeom prst="line">
            <a:avLst/>
          </a:prstGeom>
          <a:noFill/>
          <a:ln w="6350">
            <a:solidFill>
              <a:srgbClr val="2A2A28"/>
            </a:solidFill>
            <a:prstDash val="solid"/>
          </a:ln>
        </p:spPr>
      </p:sp>
      <p:sp>
        <p:nvSpPr>
          <p:cNvPr id="19" name="Text 17"/>
          <p:cNvSpPr/>
          <p:nvPr/>
        </p:nvSpPr>
        <p:spPr>
          <a:xfrm>
            <a:off x="812800" y="4230291"/>
            <a:ext cx="209296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CAN YOU FIX IT?</a:t>
            </a:r>
            <a:endParaRPr lang="en-US" sz="1200" dirty="0"/>
          </a:p>
        </p:txBody>
      </p:sp>
      <p:sp>
        <p:nvSpPr>
          <p:cNvPr id="20" name="Text 18"/>
          <p:cNvSpPr/>
          <p:nvPr/>
        </p:nvSpPr>
        <p:spPr>
          <a:xfrm>
            <a:off x="3098800" y="4230291"/>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No</a:t>
            </a:r>
            <a:endParaRPr lang="en-US" sz="1600" dirty="0"/>
          </a:p>
        </p:txBody>
      </p:sp>
      <p:sp>
        <p:nvSpPr>
          <p:cNvPr id="21" name="Text 19"/>
          <p:cNvSpPr/>
          <p:nvPr/>
        </p:nvSpPr>
        <p:spPr>
          <a:xfrm>
            <a:off x="7366000" y="4230291"/>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Yes</a:t>
            </a:r>
            <a:endParaRPr lang="en-US" sz="1600" dirty="0"/>
          </a:p>
        </p:txBody>
      </p:sp>
      <p:sp>
        <p:nvSpPr>
          <p:cNvPr id="22" name="Shape 20"/>
          <p:cNvSpPr/>
          <p:nvPr/>
        </p:nvSpPr>
        <p:spPr>
          <a:xfrm>
            <a:off x="812800" y="4611886"/>
            <a:ext cx="10566400" cy="0"/>
          </a:xfrm>
          <a:prstGeom prst="line">
            <a:avLst/>
          </a:prstGeom>
          <a:noFill/>
          <a:ln w="6350">
            <a:solidFill>
              <a:srgbClr val="2A2A28"/>
            </a:solidFill>
            <a:prstDash val="solid"/>
          </a:ln>
        </p:spPr>
      </p:sp>
      <p:sp>
        <p:nvSpPr>
          <p:cNvPr id="23" name="Shape 21"/>
          <p:cNvSpPr/>
          <p:nvPr/>
        </p:nvSpPr>
        <p:spPr>
          <a:xfrm>
            <a:off x="812800" y="5110956"/>
            <a:ext cx="10566400" cy="0"/>
          </a:xfrm>
          <a:prstGeom prst="line">
            <a:avLst/>
          </a:prstGeom>
          <a:noFill/>
          <a:ln w="6350">
            <a:solidFill>
              <a:srgbClr val="2A2A28"/>
            </a:solidFill>
            <a:prstDash val="solid"/>
          </a:ln>
        </p:spPr>
      </p:sp>
      <p:sp>
        <p:nvSpPr>
          <p:cNvPr id="24" name="Text 22"/>
          <p:cNvSpPr/>
          <p:nvPr/>
        </p:nvSpPr>
        <p:spPr>
          <a:xfrm>
            <a:off x="812800" y="4729361"/>
            <a:ext cx="209296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AN LLM GETS</a:t>
            </a:r>
            <a:endParaRPr lang="en-US" sz="1200" dirty="0"/>
          </a:p>
        </p:txBody>
      </p:sp>
      <p:sp>
        <p:nvSpPr>
          <p:cNvPr id="25" name="Text 23"/>
          <p:cNvSpPr/>
          <p:nvPr/>
        </p:nvSpPr>
        <p:spPr>
          <a:xfrm>
            <a:off x="3098800" y="4729361"/>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Behaviour to optimise</a:t>
            </a:r>
            <a:endParaRPr lang="en-US" sz="1600" dirty="0"/>
          </a:p>
        </p:txBody>
      </p:sp>
      <p:sp>
        <p:nvSpPr>
          <p:cNvPr id="26" name="Text 24"/>
          <p:cNvSpPr/>
          <p:nvPr/>
        </p:nvSpPr>
        <p:spPr>
          <a:xfrm>
            <a:off x="7366000" y="4729361"/>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Context to adapt to</a:t>
            </a:r>
            <a:endParaRPr lang="en-US" sz="1600" dirty="0"/>
          </a:p>
        </p:txBody>
      </p:sp>
      <p:sp>
        <p:nvSpPr>
          <p:cNvPr id="27" name="Text 25"/>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Visible and correctable, unlike a click history.</a:t>
            </a:r>
            <a:endParaRPr lang="en-US" sz="2000" dirty="0"/>
          </a:p>
        </p:txBody>
      </p:sp>
      <p:sp>
        <p:nvSpPr>
          <p:cNvPr id="28" name="Text 26"/>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9" name="Text 27"/>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23 / 34</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A WORKED EXAMPLE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Mapping the missing context</a:t>
            </a:r>
            <a:endParaRPr lang="en-US" sz="3600" dirty="0"/>
          </a:p>
        </p:txBody>
      </p:sp>
      <p:sp>
        <p:nvSpPr>
          <p:cNvPr id="4" name="Shape 2"/>
          <p:cNvSpPr/>
          <p:nvPr/>
        </p:nvSpPr>
        <p:spPr>
          <a:xfrm>
            <a:off x="812800" y="2653754"/>
            <a:ext cx="10566400" cy="0"/>
          </a:xfrm>
          <a:prstGeom prst="line">
            <a:avLst/>
          </a:prstGeom>
          <a:noFill/>
          <a:ln w="6350">
            <a:solidFill>
              <a:srgbClr val="2A2A28"/>
            </a:solidFill>
            <a:prstDash val="solid"/>
          </a:ln>
        </p:spPr>
      </p:sp>
      <p:sp>
        <p:nvSpPr>
          <p:cNvPr id="5" name="Text 3"/>
          <p:cNvSpPr/>
          <p:nvPr/>
        </p:nvSpPr>
        <p:spPr>
          <a:xfrm>
            <a:off x="812800" y="2761704"/>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397000" y="276170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7ADFF"/>
                </a:solidFill>
                <a:latin typeface="JetBrains Mono" pitchFamily="49" charset="0"/>
                <a:ea typeface="JetBrains Mono" pitchFamily="49" charset="-122"/>
                <a:cs typeface="JetBrains Mono" pitchFamily="49" charset="-120"/>
              </a:rPr>
              <a:t>OBSERVE</a:t>
            </a:r>
            <a:endParaRPr lang="en-US" sz="1200" dirty="0"/>
          </a:p>
        </p:txBody>
      </p:sp>
      <p:sp>
        <p:nvSpPr>
          <p:cNvPr id="7" name="Text 5"/>
          <p:cNvSpPr/>
          <p:nvPr/>
        </p:nvSpPr>
        <p:spPr>
          <a:xfrm>
            <a:off x="4013200" y="2745829"/>
            <a:ext cx="75869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Moving abroad reshapes a support network. International students rebuild theirs, often through technology.</a:t>
            </a:r>
            <a:endParaRPr lang="en-US" sz="1400" dirty="0"/>
          </a:p>
        </p:txBody>
      </p:sp>
      <p:sp>
        <p:nvSpPr>
          <p:cNvPr id="8" name="Shape 6"/>
          <p:cNvSpPr/>
          <p:nvPr/>
        </p:nvSpPr>
        <p:spPr>
          <a:xfrm>
            <a:off x="812800" y="3300164"/>
            <a:ext cx="10566400" cy="0"/>
          </a:xfrm>
          <a:prstGeom prst="line">
            <a:avLst/>
          </a:prstGeom>
          <a:noFill/>
          <a:ln w="6350">
            <a:solidFill>
              <a:srgbClr val="2A2A28"/>
            </a:solidFill>
            <a:prstDash val="solid"/>
          </a:ln>
        </p:spPr>
      </p:sp>
      <p:sp>
        <p:nvSpPr>
          <p:cNvPr id="9" name="Text 7"/>
          <p:cNvSpPr/>
          <p:nvPr/>
        </p:nvSpPr>
        <p:spPr>
          <a:xfrm>
            <a:off x="812800" y="3408114"/>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1397000" y="340811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7ADFF"/>
                </a:solidFill>
                <a:latin typeface="JetBrains Mono" pitchFamily="49" charset="0"/>
                <a:ea typeface="JetBrains Mono" pitchFamily="49" charset="-122"/>
                <a:cs typeface="JetBrains Mono" pitchFamily="49" charset="-120"/>
              </a:rPr>
              <a:t>CHECK THE LITERATURE</a:t>
            </a:r>
            <a:endParaRPr lang="en-US" sz="1200" dirty="0"/>
          </a:p>
        </p:txBody>
      </p:sp>
      <p:sp>
        <p:nvSpPr>
          <p:cNvPr id="11" name="Text 9"/>
          <p:cNvSpPr/>
          <p:nvPr/>
        </p:nvSpPr>
        <p:spPr>
          <a:xfrm>
            <a:off x="4013200" y="3392239"/>
            <a:ext cx="758698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Ecomaps, tie strength, social support, emotion regulation.</a:t>
            </a:r>
            <a:endParaRPr lang="en-US" sz="1400" dirty="0"/>
          </a:p>
        </p:txBody>
      </p:sp>
      <p:sp>
        <p:nvSpPr>
          <p:cNvPr id="12" name="Shape 10"/>
          <p:cNvSpPr/>
          <p:nvPr/>
        </p:nvSpPr>
        <p:spPr>
          <a:xfrm>
            <a:off x="812800" y="3715445"/>
            <a:ext cx="10566400" cy="0"/>
          </a:xfrm>
          <a:prstGeom prst="line">
            <a:avLst/>
          </a:prstGeom>
          <a:noFill/>
          <a:ln w="6350">
            <a:solidFill>
              <a:srgbClr val="2A2A28"/>
            </a:solidFill>
            <a:prstDash val="solid"/>
          </a:ln>
        </p:spPr>
      </p:sp>
      <p:sp>
        <p:nvSpPr>
          <p:cNvPr id="13" name="Text 11"/>
          <p:cNvSpPr/>
          <p:nvPr/>
        </p:nvSpPr>
        <p:spPr>
          <a:xfrm>
            <a:off x="812800" y="382339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1397000" y="382339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DEFINE THE OUTCOME</a:t>
            </a:r>
            <a:endParaRPr lang="en-US" sz="1200" dirty="0"/>
          </a:p>
        </p:txBody>
      </p:sp>
      <p:sp>
        <p:nvSpPr>
          <p:cNvPr id="15" name="Text 13"/>
          <p:cNvSpPr/>
          <p:nvPr/>
        </p:nvSpPr>
        <p:spPr>
          <a:xfrm>
            <a:off x="4013200" y="3807520"/>
            <a:ext cx="75869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Richer context than clicks: who and what people turn to, and how it feels.</a:t>
            </a:r>
            <a:endParaRPr lang="en-US" sz="1400" dirty="0"/>
          </a:p>
        </p:txBody>
      </p:sp>
      <p:sp>
        <p:nvSpPr>
          <p:cNvPr id="16" name="Shape 14"/>
          <p:cNvSpPr/>
          <p:nvPr/>
        </p:nvSpPr>
        <p:spPr>
          <a:xfrm>
            <a:off x="812800" y="4361855"/>
            <a:ext cx="10566400" cy="0"/>
          </a:xfrm>
          <a:prstGeom prst="line">
            <a:avLst/>
          </a:prstGeom>
          <a:noFill/>
          <a:ln w="6350">
            <a:solidFill>
              <a:srgbClr val="2A2A28"/>
            </a:solidFill>
            <a:prstDash val="solid"/>
          </a:ln>
        </p:spPr>
      </p:sp>
      <p:sp>
        <p:nvSpPr>
          <p:cNvPr id="17" name="Text 15"/>
          <p:cNvSpPr/>
          <p:nvPr/>
        </p:nvSpPr>
        <p:spPr>
          <a:xfrm>
            <a:off x="812800" y="446980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D9C4"/>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1397000" y="446980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NAME THE TENSION</a:t>
            </a:r>
            <a:endParaRPr lang="en-US" sz="1200" dirty="0"/>
          </a:p>
        </p:txBody>
      </p:sp>
      <p:sp>
        <p:nvSpPr>
          <p:cNvPr id="19" name="Text 17"/>
          <p:cNvSpPr/>
          <p:nvPr/>
        </p:nvSpPr>
        <p:spPr>
          <a:xfrm>
            <a:off x="4013200" y="4453930"/>
            <a:ext cx="758698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The map could become part of the network it studies.</a:t>
            </a:r>
            <a:endParaRPr lang="en-US" sz="1400" dirty="0"/>
          </a:p>
        </p:txBody>
      </p:sp>
      <p:sp>
        <p:nvSpPr>
          <p:cNvPr id="20" name="Shape 18"/>
          <p:cNvSpPr/>
          <p:nvPr/>
        </p:nvSpPr>
        <p:spPr>
          <a:xfrm>
            <a:off x="812800" y="4777135"/>
            <a:ext cx="10566400" cy="0"/>
          </a:xfrm>
          <a:prstGeom prst="line">
            <a:avLst/>
          </a:prstGeom>
          <a:noFill/>
          <a:ln w="6350">
            <a:solidFill>
              <a:srgbClr val="2A2A28"/>
            </a:solidFill>
            <a:prstDash val="solid"/>
          </a:ln>
        </p:spPr>
      </p:sp>
      <p:sp>
        <p:nvSpPr>
          <p:cNvPr id="21" name="Text 19"/>
          <p:cNvSpPr/>
          <p:nvPr/>
        </p:nvSpPr>
        <p:spPr>
          <a:xfrm>
            <a:off x="812800" y="488508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7E"/>
                </a:solidFill>
                <a:latin typeface="JetBrains Mono" pitchFamily="49" charset="0"/>
                <a:ea typeface="JetBrains Mono" pitchFamily="49" charset="-122"/>
                <a:cs typeface="JetBrains Mono" pitchFamily="49" charset="-120"/>
              </a:rPr>
              <a:t>05</a:t>
            </a:r>
            <a:endParaRPr lang="en-US" sz="1200" dirty="0"/>
          </a:p>
        </p:txBody>
      </p:sp>
      <p:sp>
        <p:nvSpPr>
          <p:cNvPr id="22" name="Text 20"/>
          <p:cNvSpPr/>
          <p:nvPr/>
        </p:nvSpPr>
        <p:spPr>
          <a:xfrm>
            <a:off x="1397000" y="488508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FE07E"/>
                </a:solidFill>
                <a:latin typeface="JetBrains Mono" pitchFamily="49" charset="0"/>
                <a:ea typeface="JetBrains Mono" pitchFamily="49" charset="-122"/>
                <a:cs typeface="JetBrains Mono" pitchFamily="49" charset="-120"/>
              </a:rPr>
              <a:t>EVALUATE</a:t>
            </a:r>
            <a:endParaRPr lang="en-US" sz="1200" dirty="0"/>
          </a:p>
        </p:txBody>
      </p:sp>
      <p:sp>
        <p:nvSpPr>
          <p:cNvPr id="23" name="Text 21"/>
          <p:cNvSpPr/>
          <p:nvPr/>
        </p:nvSpPr>
        <p:spPr>
          <a:xfrm>
            <a:off x="4013200" y="4869210"/>
            <a:ext cx="75869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A week of daily check-ins on the map. The graph generates a dashboard. Does it match how they see things?</a:t>
            </a:r>
            <a:endParaRPr lang="en-US" sz="1400" dirty="0"/>
          </a:p>
        </p:txBody>
      </p:sp>
      <p:sp>
        <p:nvSpPr>
          <p:cNvPr id="24" name="Shape 22"/>
          <p:cNvSpPr/>
          <p:nvPr/>
        </p:nvSpPr>
        <p:spPr>
          <a:xfrm>
            <a:off x="812800" y="5423545"/>
            <a:ext cx="10566400" cy="0"/>
          </a:xfrm>
          <a:prstGeom prst="line">
            <a:avLst/>
          </a:prstGeom>
          <a:noFill/>
          <a:ln w="6350">
            <a:solidFill>
              <a:srgbClr val="2A2A28"/>
            </a:solidFill>
            <a:prstDash val="solid"/>
          </a:ln>
        </p:spPr>
      </p:sp>
      <p:sp>
        <p:nvSpPr>
          <p:cNvPr id="25" name="Shape 23"/>
          <p:cNvSpPr/>
          <p:nvPr/>
        </p:nvSpPr>
        <p:spPr>
          <a:xfrm>
            <a:off x="812800" y="5838825"/>
            <a:ext cx="10566400" cy="0"/>
          </a:xfrm>
          <a:prstGeom prst="line">
            <a:avLst/>
          </a:prstGeom>
          <a:noFill/>
          <a:ln w="6350">
            <a:solidFill>
              <a:srgbClr val="2A2A28"/>
            </a:solidFill>
            <a:prstDash val="solid"/>
          </a:ln>
        </p:spPr>
      </p:sp>
      <p:sp>
        <p:nvSpPr>
          <p:cNvPr id="26" name="Text 24"/>
          <p:cNvSpPr/>
          <p:nvPr/>
        </p:nvSpPr>
        <p:spPr>
          <a:xfrm>
            <a:off x="812800" y="553149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BD78"/>
                </a:solidFill>
                <a:latin typeface="JetBrains Mono" pitchFamily="49" charset="0"/>
                <a:ea typeface="JetBrains Mono" pitchFamily="49" charset="-122"/>
                <a:cs typeface="JetBrains Mono" pitchFamily="49" charset="-120"/>
              </a:rPr>
              <a:t>06</a:t>
            </a:r>
            <a:endParaRPr lang="en-US" sz="1200" dirty="0"/>
          </a:p>
        </p:txBody>
      </p:sp>
      <p:sp>
        <p:nvSpPr>
          <p:cNvPr id="27" name="Text 25"/>
          <p:cNvSpPr/>
          <p:nvPr/>
        </p:nvSpPr>
        <p:spPr>
          <a:xfrm>
            <a:off x="1397000" y="553149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SHARE</a:t>
            </a:r>
            <a:endParaRPr lang="en-US" sz="1200" dirty="0"/>
          </a:p>
        </p:txBody>
      </p:sp>
      <p:sp>
        <p:nvSpPr>
          <p:cNvPr id="28" name="Text 26"/>
          <p:cNvSpPr/>
          <p:nvPr/>
        </p:nvSpPr>
        <p:spPr>
          <a:xfrm>
            <a:off x="4013200" y="5515620"/>
            <a:ext cx="758698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Writing it up, so the next person starts further ahead.</a:t>
            </a:r>
            <a:endParaRPr lang="en-US" sz="1400" dirty="0"/>
          </a:p>
        </p:txBody>
      </p:sp>
      <p:sp>
        <p:nvSpPr>
          <p:cNvPr id="29" name="Text 27"/>
          <p:cNvSpPr/>
          <p:nvPr/>
        </p:nvSpPr>
        <p:spPr>
          <a:xfrm>
            <a:off x="812800" y="6238280"/>
            <a:ext cx="51237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WORK IN PROGRESS · COPHEE LAB, NYU TANDON</a:t>
            </a:r>
            <a:endParaRPr lang="en-US" sz="1200" dirty="0"/>
          </a:p>
        </p:txBody>
      </p:sp>
      <p:sp>
        <p:nvSpPr>
          <p:cNvPr id="30" name="Text 2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24 / 34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EXERCISE · MAP YOUR DAY · 10 MIN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Map your day</a:t>
            </a:r>
            <a:endParaRPr lang="en-US" sz="3600" dirty="0"/>
          </a:p>
        </p:txBody>
      </p:sp>
      <p:sp>
        <p:nvSpPr>
          <p:cNvPr id="4" name="Shape 2"/>
          <p:cNvSpPr/>
          <p:nvPr/>
        </p:nvSpPr>
        <p:spPr>
          <a:xfrm>
            <a:off x="812800" y="1938586"/>
            <a:ext cx="6019800" cy="0"/>
          </a:xfrm>
          <a:prstGeom prst="line">
            <a:avLst/>
          </a:prstGeom>
          <a:noFill/>
          <a:ln w="6350">
            <a:solidFill>
              <a:srgbClr val="2A2A28"/>
            </a:solidFill>
            <a:prstDash val="solid"/>
          </a:ln>
        </p:spPr>
      </p:sp>
      <p:sp>
        <p:nvSpPr>
          <p:cNvPr id="5" name="Text 3"/>
          <p:cNvSpPr/>
          <p:nvPr/>
        </p:nvSpPr>
        <p:spPr>
          <a:xfrm>
            <a:off x="812800" y="206876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01</a:t>
            </a:r>
            <a:endParaRPr lang="en-US" sz="1600" dirty="0"/>
          </a:p>
        </p:txBody>
      </p:sp>
      <p:sp>
        <p:nvSpPr>
          <p:cNvPr id="6" name="Text 4"/>
          <p:cNvSpPr/>
          <p:nvPr/>
        </p:nvSpPr>
        <p:spPr>
          <a:xfrm>
            <a:off x="1422400" y="206876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2F1EC"/>
                </a:solidFill>
                <a:latin typeface="JetBrains Mono" pitchFamily="49" charset="0"/>
                <a:ea typeface="JetBrains Mono" pitchFamily="49" charset="-122"/>
                <a:cs typeface="JetBrains Mono" pitchFamily="49" charset="-120"/>
              </a:rPr>
              <a:t>Put yourself in the centre.</a:t>
            </a:r>
            <a:endParaRPr lang="en-US" sz="1700" dirty="0"/>
          </a:p>
        </p:txBody>
      </p:sp>
      <p:sp>
        <p:nvSpPr>
          <p:cNvPr id="7" name="Shape 5"/>
          <p:cNvSpPr/>
          <p:nvPr/>
        </p:nvSpPr>
        <p:spPr>
          <a:xfrm>
            <a:off x="812800" y="2483396"/>
            <a:ext cx="6019800" cy="0"/>
          </a:xfrm>
          <a:prstGeom prst="line">
            <a:avLst/>
          </a:prstGeom>
          <a:noFill/>
          <a:ln w="6350">
            <a:solidFill>
              <a:srgbClr val="2A2A28"/>
            </a:solidFill>
            <a:prstDash val="solid"/>
          </a:ln>
        </p:spPr>
      </p:sp>
      <p:sp>
        <p:nvSpPr>
          <p:cNvPr id="8" name="Text 6"/>
          <p:cNvSpPr/>
          <p:nvPr/>
        </p:nvSpPr>
        <p:spPr>
          <a:xfrm>
            <a:off x="812800" y="2613571"/>
            <a:ext cx="457200" cy="5866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02</a:t>
            </a:r>
            <a:endParaRPr lang="en-US" sz="1600" dirty="0"/>
          </a:p>
        </p:txBody>
      </p:sp>
      <p:sp>
        <p:nvSpPr>
          <p:cNvPr id="9" name="Text 7"/>
          <p:cNvSpPr/>
          <p:nvPr/>
        </p:nvSpPr>
        <p:spPr>
          <a:xfrm>
            <a:off x="1422400" y="2613571"/>
            <a:ext cx="5572506" cy="58668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2F1EC"/>
                </a:solidFill>
                <a:latin typeface="JetBrains Mono" pitchFamily="49" charset="0"/>
                <a:ea typeface="JetBrains Mono" pitchFamily="49" charset="-122"/>
                <a:cs typeface="JetBrains Mono" pitchFamily="49" charset="-120"/>
              </a:rPr>
              <a:t>Add everyone and everything you dealt with today.</a:t>
            </a:r>
            <a:endParaRPr lang="en-US" sz="1700" dirty="0"/>
          </a:p>
        </p:txBody>
      </p:sp>
      <p:sp>
        <p:nvSpPr>
          <p:cNvPr id="10" name="Shape 8"/>
          <p:cNvSpPr/>
          <p:nvPr/>
        </p:nvSpPr>
        <p:spPr>
          <a:xfrm>
            <a:off x="812800" y="3305026"/>
            <a:ext cx="6019800" cy="0"/>
          </a:xfrm>
          <a:prstGeom prst="line">
            <a:avLst/>
          </a:prstGeom>
          <a:noFill/>
          <a:ln w="6350">
            <a:solidFill>
              <a:srgbClr val="2A2A28"/>
            </a:solidFill>
            <a:prstDash val="solid"/>
          </a:ln>
        </p:spPr>
      </p:sp>
      <p:sp>
        <p:nvSpPr>
          <p:cNvPr id="11" name="Text 9"/>
          <p:cNvSpPr/>
          <p:nvPr/>
        </p:nvSpPr>
        <p:spPr>
          <a:xfrm>
            <a:off x="812800" y="343520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03</a:t>
            </a:r>
            <a:endParaRPr lang="en-US" sz="1600" dirty="0"/>
          </a:p>
        </p:txBody>
      </p:sp>
      <p:sp>
        <p:nvSpPr>
          <p:cNvPr id="12" name="Text 10"/>
          <p:cNvSpPr/>
          <p:nvPr/>
        </p:nvSpPr>
        <p:spPr>
          <a:xfrm>
            <a:off x="1422400" y="343520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2F1EC"/>
                </a:solidFill>
                <a:latin typeface="JetBrains Mono" pitchFamily="49" charset="0"/>
                <a:ea typeface="JetBrains Mono" pitchFamily="49" charset="-122"/>
                <a:cs typeface="JetBrains Mono" pitchFamily="49" charset="-120"/>
              </a:rPr>
              <a:t>Draw a line for each interaction.</a:t>
            </a:r>
            <a:endParaRPr lang="en-US" sz="1700" dirty="0"/>
          </a:p>
        </p:txBody>
      </p:sp>
      <p:sp>
        <p:nvSpPr>
          <p:cNvPr id="13" name="Shape 11"/>
          <p:cNvSpPr/>
          <p:nvPr/>
        </p:nvSpPr>
        <p:spPr>
          <a:xfrm>
            <a:off x="812800" y="3849836"/>
            <a:ext cx="6019800" cy="0"/>
          </a:xfrm>
          <a:prstGeom prst="line">
            <a:avLst/>
          </a:prstGeom>
          <a:noFill/>
          <a:ln w="6350">
            <a:solidFill>
              <a:srgbClr val="2A2A28"/>
            </a:solidFill>
            <a:prstDash val="solid"/>
          </a:ln>
        </p:spPr>
      </p:sp>
      <p:sp>
        <p:nvSpPr>
          <p:cNvPr id="14" name="Text 12"/>
          <p:cNvSpPr/>
          <p:nvPr/>
        </p:nvSpPr>
        <p:spPr>
          <a:xfrm>
            <a:off x="812800" y="398001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04</a:t>
            </a:r>
            <a:endParaRPr lang="en-US" sz="1600" dirty="0"/>
          </a:p>
        </p:txBody>
      </p:sp>
      <p:sp>
        <p:nvSpPr>
          <p:cNvPr id="15" name="Text 13"/>
          <p:cNvSpPr/>
          <p:nvPr/>
        </p:nvSpPr>
        <p:spPr>
          <a:xfrm>
            <a:off x="1422400" y="398001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2F1EC"/>
                </a:solidFill>
                <a:latin typeface="JetBrains Mono" pitchFamily="49" charset="0"/>
                <a:ea typeface="JetBrains Mono" pitchFamily="49" charset="-122"/>
                <a:cs typeface="JetBrains Mono" pitchFamily="49" charset="-120"/>
              </a:rPr>
              <a:t>Label how each one felt.</a:t>
            </a:r>
            <a:endParaRPr lang="en-US" sz="1700" dirty="0"/>
          </a:p>
        </p:txBody>
      </p:sp>
      <p:sp>
        <p:nvSpPr>
          <p:cNvPr id="16" name="Shape 14"/>
          <p:cNvSpPr/>
          <p:nvPr/>
        </p:nvSpPr>
        <p:spPr>
          <a:xfrm>
            <a:off x="812800" y="4394646"/>
            <a:ext cx="6019800" cy="0"/>
          </a:xfrm>
          <a:prstGeom prst="line">
            <a:avLst/>
          </a:prstGeom>
          <a:noFill/>
          <a:ln w="6350">
            <a:solidFill>
              <a:srgbClr val="2A2A28"/>
            </a:solidFill>
            <a:prstDash val="solid"/>
          </a:ln>
        </p:spPr>
      </p:sp>
      <p:sp>
        <p:nvSpPr>
          <p:cNvPr id="17" name="Text 15"/>
          <p:cNvSpPr/>
          <p:nvPr/>
        </p:nvSpPr>
        <p:spPr>
          <a:xfrm>
            <a:off x="812800" y="4524821"/>
            <a:ext cx="457200" cy="5866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05</a:t>
            </a:r>
            <a:endParaRPr lang="en-US" sz="1600" dirty="0"/>
          </a:p>
        </p:txBody>
      </p:sp>
      <p:sp>
        <p:nvSpPr>
          <p:cNvPr id="18" name="Text 16"/>
          <p:cNvSpPr/>
          <p:nvPr/>
        </p:nvSpPr>
        <p:spPr>
          <a:xfrm>
            <a:off x="1422400" y="4524821"/>
            <a:ext cx="5572506" cy="58668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6A4D"/>
                </a:solidFill>
                <a:latin typeface="JetBrains Mono" pitchFamily="49" charset="0"/>
                <a:ea typeface="JetBrains Mono" pitchFamily="49" charset="-122"/>
                <a:cs typeface="JetBrains Mono" pitchFamily="49" charset="-120"/>
              </a:rPr>
              <a:t>Circle one line where a tool stood in for a person.</a:t>
            </a:r>
            <a:endParaRPr lang="en-US" sz="1700" dirty="0"/>
          </a:p>
        </p:txBody>
      </p:sp>
      <p:sp>
        <p:nvSpPr>
          <p:cNvPr id="19" name="Shape 17"/>
          <p:cNvSpPr/>
          <p:nvPr/>
        </p:nvSpPr>
        <p:spPr>
          <a:xfrm>
            <a:off x="7445375" y="1935411"/>
            <a:ext cx="0" cy="3906589"/>
          </a:xfrm>
          <a:prstGeom prst="line">
            <a:avLst/>
          </a:prstGeom>
          <a:noFill/>
          <a:ln w="6350">
            <a:solidFill>
              <a:srgbClr val="2A2A28"/>
            </a:solidFill>
            <a:prstDash val="solid"/>
          </a:ln>
        </p:spPr>
      </p:sp>
      <p:sp>
        <p:nvSpPr>
          <p:cNvPr id="20" name="Text 18"/>
          <p:cNvSpPr/>
          <p:nvPr/>
        </p:nvSpPr>
        <p:spPr>
          <a:xfrm>
            <a:off x="7854950" y="1935411"/>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JetBrains Mono" pitchFamily="49" charset="0"/>
                <a:ea typeface="JetBrains Mono" pitchFamily="49" charset="-122"/>
                <a:cs typeface="JetBrains Mono" pitchFamily="49" charset="-120"/>
              </a:rPr>
              <a:t>NODES</a:t>
            </a:r>
            <a:endParaRPr lang="en-US" sz="1050" dirty="0"/>
          </a:p>
        </p:txBody>
      </p:sp>
      <p:pic>
        <p:nvPicPr>
          <p:cNvPr id="21" name="Image 0" descr="ellipse">    </p:cNvPr>
          <p:cNvPicPr>
            <a:picLocks noChangeAspect="1"/>
          </p:cNvPicPr>
          <p:nvPr/>
        </p:nvPicPr>
        <p:blipFill>
          <a:blip r:embed="rId1"/>
          <a:srcRect l="0" r="0" t="0" b="0"/>
          <a:stretch/>
        </p:blipFill>
        <p:spPr>
          <a:xfrm>
            <a:off x="7854950" y="2175818"/>
            <a:ext cx="304800" cy="304800"/>
          </a:xfrm>
          <a:prstGeom prst="rect">
            <a:avLst/>
          </a:prstGeom>
        </p:spPr>
      </p:pic>
      <p:sp>
        <p:nvSpPr>
          <p:cNvPr id="22" name="Text 19"/>
          <p:cNvSpPr/>
          <p:nvPr/>
        </p:nvSpPr>
        <p:spPr>
          <a:xfrm>
            <a:off x="8312150" y="2194868"/>
            <a:ext cx="10972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A person</a:t>
            </a:r>
            <a:endParaRPr lang="en-US" sz="1500" dirty="0"/>
          </a:p>
        </p:txBody>
      </p:sp>
      <p:pic>
        <p:nvPicPr>
          <p:cNvPr id="23" name="Image 1" descr="rect">    </p:cNvPr>
          <p:cNvPicPr>
            <a:picLocks noChangeAspect="1"/>
          </p:cNvPicPr>
          <p:nvPr/>
        </p:nvPicPr>
        <p:blipFill>
          <a:blip r:embed="rId2"/>
          <a:srcRect l="0" r="0" t="0" b="0"/>
          <a:stretch/>
        </p:blipFill>
        <p:spPr>
          <a:xfrm>
            <a:off x="7854950" y="2592040"/>
            <a:ext cx="304800" cy="304800"/>
          </a:xfrm>
          <a:prstGeom prst="rect">
            <a:avLst/>
          </a:prstGeom>
        </p:spPr>
      </p:pic>
      <p:sp>
        <p:nvSpPr>
          <p:cNvPr id="24" name="Text 20"/>
          <p:cNvSpPr/>
          <p:nvPr/>
        </p:nvSpPr>
        <p:spPr>
          <a:xfrm>
            <a:off x="8312150" y="2611090"/>
            <a:ext cx="8229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A tool</a:t>
            </a:r>
            <a:endParaRPr lang="en-US" sz="1500" dirty="0"/>
          </a:p>
        </p:txBody>
      </p:sp>
      <p:pic>
        <p:nvPicPr>
          <p:cNvPr id="25" name="Image 2" descr="Star">    </p:cNvPr>
          <p:cNvPicPr>
            <a:picLocks noChangeAspect="1"/>
          </p:cNvPicPr>
          <p:nvPr/>
        </p:nvPicPr>
        <p:blipFill>
          <a:blip r:embed="rId3"/>
          <a:srcRect l="0" r="0" t="0" b="0"/>
          <a:stretch/>
        </p:blipFill>
        <p:spPr>
          <a:xfrm>
            <a:off x="7854950" y="3008263"/>
            <a:ext cx="304800" cy="304800"/>
          </a:xfrm>
          <a:prstGeom prst="rect">
            <a:avLst/>
          </a:prstGeom>
        </p:spPr>
      </p:pic>
      <p:sp>
        <p:nvSpPr>
          <p:cNvPr id="26" name="Text 21"/>
          <p:cNvSpPr/>
          <p:nvPr/>
        </p:nvSpPr>
        <p:spPr>
          <a:xfrm>
            <a:off x="8312150" y="3027313"/>
            <a:ext cx="2743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An AI tool (star it)</a:t>
            </a:r>
            <a:endParaRPr lang="en-US" sz="1500" dirty="0"/>
          </a:p>
        </p:txBody>
      </p:sp>
      <p:sp>
        <p:nvSpPr>
          <p:cNvPr id="27" name="Text 22"/>
          <p:cNvSpPr/>
          <p:nvPr/>
        </p:nvSpPr>
        <p:spPr>
          <a:xfrm>
            <a:off x="7854950" y="3521174"/>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JetBrains Mono" pitchFamily="49" charset="0"/>
                <a:ea typeface="JetBrains Mono" pitchFamily="49" charset="-122"/>
                <a:cs typeface="JetBrains Mono" pitchFamily="49" charset="-120"/>
              </a:rPr>
              <a:t>LINES</a:t>
            </a:r>
            <a:endParaRPr lang="en-US" sz="1050" dirty="0"/>
          </a:p>
        </p:txBody>
      </p:sp>
      <p:pic>
        <p:nvPicPr>
          <p:cNvPr id="28" name="Image 3" descr="line">    </p:cNvPr>
          <p:cNvPicPr>
            <a:picLocks noChangeAspect="1"/>
          </p:cNvPicPr>
          <p:nvPr/>
        </p:nvPicPr>
        <p:blipFill>
          <a:blip r:embed="rId4"/>
          <a:srcRect l="-283" r="-283" t="0" b="0"/>
          <a:stretch/>
        </p:blipFill>
        <p:spPr>
          <a:xfrm>
            <a:off x="7854950" y="4003328"/>
            <a:ext cx="421481" cy="19050"/>
          </a:xfrm>
          <a:prstGeom prst="rect">
            <a:avLst/>
          </a:prstGeom>
        </p:spPr>
      </p:pic>
      <p:sp>
        <p:nvSpPr>
          <p:cNvPr id="29" name="Text 23"/>
          <p:cNvSpPr/>
          <p:nvPr/>
        </p:nvSpPr>
        <p:spPr>
          <a:xfrm>
            <a:off x="8428831" y="3746202"/>
            <a:ext cx="30388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Task: getting something done</a:t>
            </a:r>
            <a:endParaRPr lang="en-US" sz="1500" dirty="0"/>
          </a:p>
        </p:txBody>
      </p:sp>
      <p:pic>
        <p:nvPicPr>
          <p:cNvPr id="30" name="Image 4" descr="line">    </p:cNvPr>
          <p:cNvPicPr>
            <a:picLocks noChangeAspect="1"/>
          </p:cNvPicPr>
          <p:nvPr/>
        </p:nvPicPr>
        <p:blipFill>
          <a:blip r:embed="rId5"/>
          <a:srcRect l="-143" r="-143" t="0" b="0"/>
          <a:stretch/>
        </p:blipFill>
        <p:spPr>
          <a:xfrm>
            <a:off x="7854950" y="4607917"/>
            <a:ext cx="401191" cy="38100"/>
          </a:xfrm>
          <a:prstGeom prst="rect">
            <a:avLst/>
          </a:prstGeom>
        </p:spPr>
      </p:pic>
      <p:sp>
        <p:nvSpPr>
          <p:cNvPr id="31" name="Text 24"/>
          <p:cNvSpPr/>
          <p:nvPr/>
        </p:nvSpPr>
        <p:spPr>
          <a:xfrm>
            <a:off x="8408541" y="4360317"/>
            <a:ext cx="305977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Relational: being with someone</a:t>
            </a:r>
            <a:endParaRPr lang="en-US" sz="1500" dirty="0"/>
          </a:p>
        </p:txBody>
      </p:sp>
      <p:sp>
        <p:nvSpPr>
          <p:cNvPr id="32" name="Text 25"/>
          <p:cNvSpPr/>
          <p:nvPr/>
        </p:nvSpPr>
        <p:spPr>
          <a:xfrm>
            <a:off x="7854950" y="5086449"/>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JetBrains Mono" pitchFamily="49" charset="0"/>
                <a:ea typeface="JetBrains Mono" pitchFamily="49" charset="-122"/>
                <a:cs typeface="JetBrains Mono" pitchFamily="49" charset="-120"/>
              </a:rPr>
              <a:t>LABEL EACH LINE</a:t>
            </a:r>
            <a:endParaRPr lang="en-US" sz="1050" dirty="0"/>
          </a:p>
        </p:txBody>
      </p:sp>
      <p:sp>
        <p:nvSpPr>
          <p:cNvPr id="33" name="Text 26"/>
          <p:cNvSpPr/>
          <p:nvPr/>
        </p:nvSpPr>
        <p:spPr>
          <a:xfrm>
            <a:off x="7854950" y="5347295"/>
            <a:ext cx="3629978" cy="520105"/>
          </a:xfrm>
          <a:prstGeom prst="rect">
            <a:avLst/>
          </a:prstGeom>
          <a:noFill/>
          <a:ln/>
        </p:spPr>
        <p:txBody>
          <a:bodyPr wrap="square" lIns="0" tIns="0" rIns="0" bIns="0" rtlCol="0" anchor="t">
            <a:normAutofit/>
          </a:bodyPr>
          <a:lstStyle/>
          <a:p>
            <a:pPr algn="l" indent="0" marL="0">
              <a:lnSpc>
                <a:spcPts val="1962"/>
              </a:lnSpc>
              <a:buNone/>
            </a:pPr>
            <a:r>
              <a:rPr lang="en-US" sz="1308" dirty="0">
                <a:solidFill>
                  <a:srgbClr val="E8BD78"/>
                </a:solidFill>
                <a:latin typeface="JetBrains Mono" pitchFamily="49" charset="0"/>
                <a:ea typeface="JetBrains Mono" pitchFamily="49" charset="-122"/>
                <a:cs typeface="JetBrains Mono" pitchFamily="49" charset="-120"/>
              </a:rPr>
              <a:t>S</a:t>
            </a:r>
            <a:r>
              <a:rPr lang="en-US" sz="1308" dirty="0">
                <a:solidFill>
                  <a:srgbClr val="F2F1EC"/>
                </a:solidFill>
                <a:latin typeface="JetBrains Mono" pitchFamily="49" charset="0"/>
                <a:ea typeface="JetBrains Mono" pitchFamily="49" charset="-122"/>
                <a:cs typeface="JetBrains Mono" pitchFamily="49" charset="-120"/>
              </a:rPr>
              <a:t> shared a feeling · </a:t>
            </a:r>
            <a:r>
              <a:rPr lang="en-US" sz="1308" dirty="0">
                <a:solidFill>
                  <a:srgbClr val="E8BD78"/>
                </a:solidFill>
                <a:latin typeface="JetBrains Mono" pitchFamily="49" charset="0"/>
                <a:ea typeface="JetBrains Mono" pitchFamily="49" charset="-122"/>
                <a:cs typeface="JetBrains Mono" pitchFamily="49" charset="-120"/>
              </a:rPr>
              <a:t>R</a:t>
            </a:r>
            <a:r>
              <a:rPr lang="en-US" sz="1308" dirty="0">
                <a:solidFill>
                  <a:srgbClr val="F2F1EC"/>
                </a:solidFill>
                <a:latin typeface="JetBrains Mono" pitchFamily="49" charset="0"/>
                <a:ea typeface="JetBrains Mono" pitchFamily="49" charset="-122"/>
                <a:cs typeface="JetBrains Mono" pitchFamily="49" charset="-120"/>
              </a:rPr>
              <a:t> calmed down · </a:t>
            </a:r>
            <a:r>
              <a:rPr lang="en-US" sz="1308" dirty="0">
                <a:solidFill>
                  <a:srgbClr val="E8BD78"/>
                </a:solidFill>
                <a:latin typeface="JetBrains Mono" pitchFamily="49" charset="0"/>
                <a:ea typeface="JetBrains Mono" pitchFamily="49" charset="-122"/>
                <a:cs typeface="JetBrains Mono" pitchFamily="49" charset="-120"/>
              </a:rPr>
              <a:t>A</a:t>
            </a:r>
            <a:r>
              <a:rPr lang="en-US" sz="1308" dirty="0">
                <a:solidFill>
                  <a:srgbClr val="F2F1EC"/>
                </a:solidFill>
                <a:latin typeface="JetBrains Mono" pitchFamily="49" charset="0"/>
                <a:ea typeface="JetBrains Mono" pitchFamily="49" charset="-122"/>
                <a:cs typeface="JetBrains Mono" pitchFamily="49" charset="-120"/>
              </a:rPr>
              <a:t> asked for help</a:t>
            </a:r>
            <a:endParaRPr lang="en-US" sz="1308" dirty="0"/>
          </a:p>
        </p:txBody>
      </p:sp>
      <p:sp>
        <p:nvSpPr>
          <p:cNvPr id="34" name="Text 27"/>
          <p:cNvSpPr/>
          <p:nvPr/>
        </p:nvSpPr>
        <p:spPr>
          <a:xfrm>
            <a:off x="812800" y="6238280"/>
            <a:ext cx="37490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A3 SHEET · PENS · DOT STICKERS</a:t>
            </a:r>
            <a:endParaRPr lang="en-US" sz="1200" dirty="0"/>
          </a:p>
        </p:txBody>
      </p:sp>
      <p:sp>
        <p:nvSpPr>
          <p:cNvPr id="35" name="Text 2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25 / 34</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EXERCISE · MAP YOUR DAY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What a map can look like</a:t>
            </a:r>
            <a:endParaRPr lang="en-US" sz="3600" dirty="0"/>
          </a:p>
        </p:txBody>
      </p:sp>
      <p:pic>
        <p:nvPicPr>
          <p:cNvPr id="4" name="Image 0" descr="connector">    </p:cNvPr>
          <p:cNvPicPr>
            <a:picLocks noChangeAspect="1"/>
          </p:cNvPicPr>
          <p:nvPr/>
        </p:nvPicPr>
        <p:blipFill>
          <a:blip r:embed="rId1"/>
          <a:srcRect l="0" r="0" t="0" b="0"/>
          <a:stretch/>
        </p:blipFill>
        <p:spPr>
          <a:xfrm>
            <a:off x="3365500" y="2667000"/>
            <a:ext cx="2216150" cy="965200"/>
          </a:xfrm>
          <a:prstGeom prst="rect">
            <a:avLst/>
          </a:prstGeom>
        </p:spPr>
      </p:pic>
      <p:sp>
        <p:nvSpPr>
          <p:cNvPr id="5" name="Text 2"/>
          <p:cNvSpPr/>
          <p:nvPr/>
        </p:nvSpPr>
        <p:spPr>
          <a:xfrm>
            <a:off x="4616450" y="289560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S</a:t>
            </a:r>
            <a:endParaRPr lang="en-US" sz="1600" dirty="0"/>
          </a:p>
        </p:txBody>
      </p:sp>
      <p:pic>
        <p:nvPicPr>
          <p:cNvPr id="6" name="Image 1" descr="connector">    </p:cNvPr>
          <p:cNvPicPr>
            <a:picLocks noChangeAspect="1"/>
          </p:cNvPicPr>
          <p:nvPr/>
        </p:nvPicPr>
        <p:blipFill>
          <a:blip r:embed="rId2"/>
          <a:srcRect l="0" r="0" t="0" b="0"/>
          <a:stretch/>
        </p:blipFill>
        <p:spPr>
          <a:xfrm>
            <a:off x="6045200" y="2444750"/>
            <a:ext cx="101600" cy="806450"/>
          </a:xfrm>
          <a:prstGeom prst="rect">
            <a:avLst/>
          </a:prstGeom>
        </p:spPr>
      </p:pic>
      <p:pic>
        <p:nvPicPr>
          <p:cNvPr id="7" name="Image 2" descr="connector">    </p:cNvPr>
          <p:cNvPicPr>
            <a:picLocks noChangeAspect="1"/>
          </p:cNvPicPr>
          <p:nvPr/>
        </p:nvPicPr>
        <p:blipFill>
          <a:blip r:embed="rId3"/>
          <a:srcRect l="0" r="0" t="0" b="0"/>
          <a:stretch/>
        </p:blipFill>
        <p:spPr>
          <a:xfrm>
            <a:off x="6610350" y="2667000"/>
            <a:ext cx="2216150" cy="965200"/>
          </a:xfrm>
          <a:prstGeom prst="rect">
            <a:avLst/>
          </a:prstGeom>
        </p:spPr>
      </p:pic>
      <p:sp>
        <p:nvSpPr>
          <p:cNvPr id="8" name="Text 3"/>
          <p:cNvSpPr/>
          <p:nvPr/>
        </p:nvSpPr>
        <p:spPr>
          <a:xfrm>
            <a:off x="7270750" y="289560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A</a:t>
            </a:r>
            <a:endParaRPr lang="en-US" sz="1600" dirty="0"/>
          </a:p>
        </p:txBody>
      </p:sp>
      <p:pic>
        <p:nvPicPr>
          <p:cNvPr id="9" name="Image 3" descr="connector">    </p:cNvPr>
          <p:cNvPicPr>
            <a:picLocks noChangeAspect="1"/>
          </p:cNvPicPr>
          <p:nvPr/>
        </p:nvPicPr>
        <p:blipFill>
          <a:blip r:embed="rId4"/>
          <a:srcRect l="0" r="0" t="0" b="0"/>
          <a:stretch/>
        </p:blipFill>
        <p:spPr>
          <a:xfrm>
            <a:off x="6610350" y="3987800"/>
            <a:ext cx="2216150" cy="965200"/>
          </a:xfrm>
          <a:prstGeom prst="rect">
            <a:avLst/>
          </a:prstGeom>
        </p:spPr>
      </p:pic>
      <p:sp>
        <p:nvSpPr>
          <p:cNvPr id="10" name="Text 4"/>
          <p:cNvSpPr/>
          <p:nvPr/>
        </p:nvSpPr>
        <p:spPr>
          <a:xfrm>
            <a:off x="7435850" y="404495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A</a:t>
            </a:r>
            <a:endParaRPr lang="en-US" sz="1600" dirty="0"/>
          </a:p>
        </p:txBody>
      </p:sp>
      <p:pic>
        <p:nvPicPr>
          <p:cNvPr id="11" name="Image 4" descr="ellipse">    </p:cNvPr>
          <p:cNvPicPr>
            <a:picLocks noChangeAspect="1"/>
          </p:cNvPicPr>
          <p:nvPr/>
        </p:nvPicPr>
        <p:blipFill>
          <a:blip r:embed="rId5"/>
          <a:srcRect l="0" r="0" t="0" b="0"/>
          <a:stretch/>
        </p:blipFill>
        <p:spPr>
          <a:xfrm>
            <a:off x="7658100" y="4254500"/>
            <a:ext cx="635000" cy="635000"/>
          </a:xfrm>
          <a:prstGeom prst="rect">
            <a:avLst/>
          </a:prstGeom>
        </p:spPr>
      </p:pic>
      <p:pic>
        <p:nvPicPr>
          <p:cNvPr id="12" name="Image 5" descr="connector">    </p:cNvPr>
          <p:cNvPicPr>
            <a:picLocks noChangeAspect="1"/>
          </p:cNvPicPr>
          <p:nvPr/>
        </p:nvPicPr>
        <p:blipFill>
          <a:blip r:embed="rId6"/>
          <a:srcRect l="0" r="0" t="0" b="0"/>
          <a:stretch/>
        </p:blipFill>
        <p:spPr>
          <a:xfrm>
            <a:off x="6045200" y="4368800"/>
            <a:ext cx="101600" cy="774700"/>
          </a:xfrm>
          <a:prstGeom prst="rect">
            <a:avLst/>
          </a:prstGeom>
        </p:spPr>
      </p:pic>
      <p:pic>
        <p:nvPicPr>
          <p:cNvPr id="13" name="Image 6" descr="connector">    </p:cNvPr>
          <p:cNvPicPr>
            <a:picLocks noChangeAspect="1"/>
          </p:cNvPicPr>
          <p:nvPr/>
        </p:nvPicPr>
        <p:blipFill>
          <a:blip r:embed="rId7"/>
          <a:srcRect l="0" r="0" t="0" b="0"/>
          <a:stretch/>
        </p:blipFill>
        <p:spPr>
          <a:xfrm>
            <a:off x="3365500" y="3987800"/>
            <a:ext cx="2216150" cy="965200"/>
          </a:xfrm>
          <a:prstGeom prst="rect">
            <a:avLst/>
          </a:prstGeom>
        </p:spPr>
      </p:pic>
      <p:sp>
        <p:nvSpPr>
          <p:cNvPr id="14" name="Text 5"/>
          <p:cNvSpPr/>
          <p:nvPr/>
        </p:nvSpPr>
        <p:spPr>
          <a:xfrm>
            <a:off x="4451350" y="404495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R</a:t>
            </a:r>
            <a:endParaRPr lang="en-US" sz="1600" dirty="0"/>
          </a:p>
        </p:txBody>
      </p:sp>
      <p:sp>
        <p:nvSpPr>
          <p:cNvPr id="15" name="Text 6"/>
          <p:cNvSpPr/>
          <p:nvPr/>
        </p:nvSpPr>
        <p:spPr>
          <a:xfrm>
            <a:off x="1787525" y="2117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4496"/>
              </a:lnSpc>
              <a:buNone/>
            </a:pPr>
            <a:r>
              <a:rPr lang="en-US" sz="1600" dirty="0">
                <a:solidFill>
                  <a:srgbClr val="F2F1EC"/>
                </a:solidFill>
                <a:latin typeface="JetBrains Mono" pitchFamily="49" charset="0"/>
                <a:ea typeface="JetBrains Mono" pitchFamily="49" charset="-122"/>
                <a:cs typeface="JetBrains Mono" pitchFamily="49" charset="-120"/>
              </a:rPr>
              <a:t>Partner</a:t>
            </a:r>
            <a:endParaRPr lang="en-US" sz="1600" dirty="0"/>
          </a:p>
        </p:txBody>
      </p:sp>
      <p:sp>
        <p:nvSpPr>
          <p:cNvPr id="16" name="Text 7"/>
          <p:cNvSpPr/>
          <p:nvPr/>
        </p:nvSpPr>
        <p:spPr>
          <a:xfrm>
            <a:off x="5216525" y="1895475"/>
            <a:ext cx="1758950" cy="590004"/>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4496"/>
              </a:lnSpc>
              <a:buNone/>
            </a:pPr>
            <a:r>
              <a:rPr lang="en-US" sz="1600" dirty="0">
                <a:solidFill>
                  <a:srgbClr val="F2F1EC"/>
                </a:solidFill>
                <a:latin typeface="JetBrains Mono" pitchFamily="49" charset="0"/>
                <a:ea typeface="JetBrains Mono" pitchFamily="49" charset="-122"/>
                <a:cs typeface="JetBrains Mono" pitchFamily="49" charset="-120"/>
              </a:rPr>
              <a:t>Slack</a:t>
            </a:r>
            <a:endParaRPr lang="en-US" sz="1600" dirty="0"/>
          </a:p>
        </p:txBody>
      </p:sp>
      <p:sp>
        <p:nvSpPr>
          <p:cNvPr id="17" name="Text 8"/>
          <p:cNvSpPr/>
          <p:nvPr/>
        </p:nvSpPr>
        <p:spPr>
          <a:xfrm>
            <a:off x="8645525" y="2117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4496"/>
              </a:lnSpc>
              <a:buNone/>
            </a:pPr>
            <a:r>
              <a:rPr lang="en-US" sz="1600" dirty="0">
                <a:solidFill>
                  <a:srgbClr val="F2F1EC"/>
                </a:solidFill>
                <a:latin typeface="JetBrains Mono" pitchFamily="49" charset="0"/>
                <a:ea typeface="JetBrains Mono" pitchFamily="49" charset="-122"/>
                <a:cs typeface="JetBrains Mono" pitchFamily="49" charset="-120"/>
              </a:rPr>
              <a:t>Manager</a:t>
            </a:r>
            <a:endParaRPr lang="en-US" sz="1600" dirty="0"/>
          </a:p>
        </p:txBody>
      </p:sp>
      <p:sp>
        <p:nvSpPr>
          <p:cNvPr id="18" name="Text 9"/>
          <p:cNvSpPr/>
          <p:nvPr/>
        </p:nvSpPr>
        <p:spPr>
          <a:xfrm>
            <a:off x="8645525" y="4911725"/>
            <a:ext cx="1758950" cy="590004"/>
          </a:xfrm>
          <a:prstGeom prst="rect">
            <a:avLst/>
          </a:prstGeom>
          <a:solidFill>
            <a:srgbClr val="141413"/>
          </a:solidFill>
          <a:ln w="19050">
            <a:solidFill>
              <a:srgbClr val="E8BD78"/>
            </a:solidFill>
            <a:prstDash val="solid"/>
          </a:ln>
        </p:spPr>
        <p:txBody>
          <a:bodyPr wrap="square" lIns="0" tIns="9525" rIns="0" bIns="0" rtlCol="0" anchor="t">
            <a:normAutofit/>
          </a:bodyPr>
          <a:lstStyle/>
          <a:p>
            <a:pPr algn="ctr" indent="0" marL="0">
              <a:lnSpc>
                <a:spcPts val="4496"/>
              </a:lnSpc>
              <a:buNone/>
            </a:pPr>
            <a:r>
              <a:rPr lang="en-US" sz="1600" dirty="0">
                <a:solidFill>
                  <a:srgbClr val="E8BD78"/>
                </a:solidFill>
                <a:latin typeface="JetBrains Mono" pitchFamily="49" charset="0"/>
                <a:ea typeface="JetBrains Mono" pitchFamily="49" charset="-122"/>
                <a:cs typeface="JetBrains Mono" pitchFamily="49" charset="-120"/>
              </a:rPr>
              <a:t>★ ChatGPT</a:t>
            </a:r>
            <a:endParaRPr lang="en-US" sz="1600" dirty="0"/>
          </a:p>
        </p:txBody>
      </p:sp>
      <p:sp>
        <p:nvSpPr>
          <p:cNvPr id="19" name="Text 10"/>
          <p:cNvSpPr/>
          <p:nvPr/>
        </p:nvSpPr>
        <p:spPr>
          <a:xfrm>
            <a:off x="5216525" y="5102225"/>
            <a:ext cx="1758950" cy="590004"/>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4496"/>
              </a:lnSpc>
              <a:buNone/>
            </a:pPr>
            <a:r>
              <a:rPr lang="en-US" sz="1600" dirty="0">
                <a:solidFill>
                  <a:srgbClr val="F2F1EC"/>
                </a:solidFill>
                <a:latin typeface="JetBrains Mono" pitchFamily="49" charset="0"/>
                <a:ea typeface="JetBrains Mono" pitchFamily="49" charset="-122"/>
                <a:cs typeface="JetBrains Mono" pitchFamily="49" charset="-120"/>
              </a:rPr>
              <a:t>Figma</a:t>
            </a:r>
            <a:endParaRPr lang="en-US" sz="1600" dirty="0"/>
          </a:p>
        </p:txBody>
      </p:sp>
      <p:sp>
        <p:nvSpPr>
          <p:cNvPr id="20" name="Text 11"/>
          <p:cNvSpPr/>
          <p:nvPr/>
        </p:nvSpPr>
        <p:spPr>
          <a:xfrm>
            <a:off x="1787525" y="4911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4496"/>
              </a:lnSpc>
              <a:buNone/>
            </a:pPr>
            <a:r>
              <a:rPr lang="en-US" sz="1600" dirty="0">
                <a:solidFill>
                  <a:srgbClr val="F2F1EC"/>
                </a:solidFill>
                <a:latin typeface="JetBrains Mono" pitchFamily="49" charset="0"/>
                <a:ea typeface="JetBrains Mono" pitchFamily="49" charset="-122"/>
                <a:cs typeface="JetBrains Mono" pitchFamily="49" charset="-120"/>
              </a:rPr>
              <a:t>Barista</a:t>
            </a:r>
            <a:endParaRPr lang="en-US" sz="1600" dirty="0"/>
          </a:p>
        </p:txBody>
      </p:sp>
      <p:sp>
        <p:nvSpPr>
          <p:cNvPr id="21" name="Text 12"/>
          <p:cNvSpPr/>
          <p:nvPr/>
        </p:nvSpPr>
        <p:spPr>
          <a:xfrm>
            <a:off x="5534025" y="3248025"/>
            <a:ext cx="1123950" cy="1123156"/>
          </a:xfrm>
          <a:custGeom>
            <a:avLst/>
            <a:gdLst/>
            <a:ahLst/>
            <a:cxnLst/>
            <a:rect l="l" t="t" r="r" b="b"/>
            <a:pathLst>
              <a:path w="1123950" h="1123156">
                <a:moveTo>
                  <a:pt x="561578" y="0"/>
                </a:moveTo>
                <a:lnTo>
                  <a:pt x="562372" y="0"/>
                </a:lnTo>
                <a:arcTo hR="561578" wR="561578" stAng="16200000" swAng="5400000"/>
                <a:lnTo>
                  <a:pt x="1123950" y="561578"/>
                </a:lnTo>
                <a:arcTo hR="561578" wR="561578" stAng="0" swAng="5400000"/>
                <a:lnTo>
                  <a:pt x="561578" y="1123156"/>
                </a:lnTo>
                <a:arcTo hR="561578" wR="561578" stAng="5400000" swAng="5400000"/>
                <a:lnTo>
                  <a:pt x="0" y="561578"/>
                </a:lnTo>
                <a:arcTo hR="561578" wR="561578" stAng="10800000" swAng="5400000"/>
                <a:close/>
              </a:path>
            </a:pathLst>
          </a:custGeom>
          <a:solidFill>
            <a:srgbClr val="7FD9C4"/>
          </a:solidFill>
          <a:ln w="19050">
            <a:solidFill>
              <a:srgbClr val="7FD9C4"/>
            </a:solidFill>
            <a:prstDash val="solid"/>
          </a:ln>
        </p:spPr>
        <p:txBody>
          <a:bodyPr wrap="square" lIns="0" tIns="409575" rIns="0" bIns="384175" rtlCol="0" anchor="t">
            <a:normAutofit/>
          </a:bodyPr>
          <a:lstStyle/>
          <a:p>
            <a:pPr algn="ctr" indent="0" marL="0">
              <a:lnSpc>
                <a:spcPts val="2394"/>
              </a:lnSpc>
              <a:buNone/>
            </a:pPr>
            <a:r>
              <a:rPr lang="en-US" sz="1800" b="1" dirty="0">
                <a:solidFill>
                  <a:srgbClr val="0B0B0A"/>
                </a:solidFill>
                <a:latin typeface="JetBrains Mono" pitchFamily="49" charset="0"/>
                <a:ea typeface="JetBrains Mono" pitchFamily="49" charset="-122"/>
                <a:cs typeface="JetBrains Mono" pitchFamily="49" charset="-120"/>
              </a:rPr>
              <a:t>ME</a:t>
            </a:r>
            <a:endParaRPr lang="en-US" sz="1800" dirty="0"/>
          </a:p>
        </p:txBody>
      </p:sp>
      <p:sp>
        <p:nvSpPr>
          <p:cNvPr id="22" name="Text 13"/>
          <p:cNvSpPr/>
          <p:nvPr/>
        </p:nvSpPr>
        <p:spPr>
          <a:xfrm>
            <a:off x="8001000" y="5715000"/>
            <a:ext cx="347954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6A4D"/>
                </a:solidFill>
                <a:latin typeface="JetBrains Mono" pitchFamily="49" charset="0"/>
                <a:ea typeface="JetBrains Mono" pitchFamily="49" charset="-122"/>
                <a:cs typeface="JetBrains Mono" pitchFamily="49" charset="-120"/>
              </a:rPr>
              <a:t>Asked ChatGPT instead of my manager.</a:t>
            </a:r>
            <a:endParaRPr lang="en-US" sz="1300" dirty="0"/>
          </a:p>
        </p:txBody>
      </p:sp>
      <p:sp>
        <p:nvSpPr>
          <p:cNvPr id="23" name="Text 14"/>
          <p:cNvSpPr/>
          <p:nvPr/>
        </p:nvSpPr>
        <p:spPr>
          <a:xfrm>
            <a:off x="812800" y="6238280"/>
            <a:ext cx="662332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SOLID: TASK · DASHED: RELATIONAL · S R A: HOW IT FELT</a:t>
            </a:r>
            <a:endParaRPr lang="en-US" sz="1200" dirty="0"/>
          </a:p>
        </p:txBody>
      </p:sp>
      <p:sp>
        <p:nvSpPr>
          <p:cNvPr id="24" name="Text 15"/>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26 / 34</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EXERCISE · SHARE IT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Put it on the wall</a:t>
            </a:r>
            <a:endParaRPr lang="en-US" sz="3600" dirty="0"/>
          </a:p>
        </p:txBody>
      </p:sp>
      <p:sp>
        <p:nvSpPr>
          <p:cNvPr id="4" name="Shape 2"/>
          <p:cNvSpPr/>
          <p:nvPr/>
        </p:nvSpPr>
        <p:spPr>
          <a:xfrm>
            <a:off x="812800" y="2197199"/>
            <a:ext cx="3386634" cy="0"/>
          </a:xfrm>
          <a:prstGeom prst="line">
            <a:avLst/>
          </a:prstGeom>
          <a:noFill/>
          <a:ln w="12700">
            <a:solidFill>
              <a:srgbClr val="7FD9C4"/>
            </a:solidFill>
            <a:prstDash val="solid"/>
          </a:ln>
        </p:spPr>
      </p:sp>
      <p:sp>
        <p:nvSpPr>
          <p:cNvPr id="5" name="Text 3"/>
          <p:cNvSpPr/>
          <p:nvPr/>
        </p:nvSpPr>
        <p:spPr>
          <a:xfrm>
            <a:off x="812800" y="2381349"/>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PAIRS · 3 MIN</a:t>
            </a:r>
            <a:endParaRPr lang="en-US" sz="1200" dirty="0"/>
          </a:p>
        </p:txBody>
      </p:sp>
      <p:sp>
        <p:nvSpPr>
          <p:cNvPr id="6" name="Text 4"/>
          <p:cNvSpPr/>
          <p:nvPr/>
        </p:nvSpPr>
        <p:spPr>
          <a:xfrm>
            <a:off x="812800" y="2696270"/>
            <a:ext cx="3488233" cy="119876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7FD9C4"/>
                </a:solidFill>
                <a:latin typeface="JetBrains Mono" pitchFamily="49" charset="0"/>
                <a:ea typeface="JetBrains Mono" pitchFamily="49" charset="-122"/>
                <a:cs typeface="JetBrains Mono" pitchFamily="49" charset="-120"/>
              </a:rPr>
              <a:t>Walk a neighbour through it</a:t>
            </a:r>
            <a:endParaRPr lang="en-US" sz="2800" dirty="0"/>
          </a:p>
        </p:txBody>
      </p:sp>
      <p:sp>
        <p:nvSpPr>
          <p:cNvPr id="7" name="Text 5"/>
          <p:cNvSpPr/>
          <p:nvPr/>
        </p:nvSpPr>
        <p:spPr>
          <a:xfrm>
            <a:off x="812800" y="397123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What surprised you about your own map?</a:t>
            </a:r>
            <a:endParaRPr lang="en-US" sz="1600" dirty="0"/>
          </a:p>
        </p:txBody>
      </p:sp>
      <p:sp>
        <p:nvSpPr>
          <p:cNvPr id="8" name="Shape 6"/>
          <p:cNvSpPr/>
          <p:nvPr/>
        </p:nvSpPr>
        <p:spPr>
          <a:xfrm>
            <a:off x="4402634" y="2197199"/>
            <a:ext cx="3386683" cy="0"/>
          </a:xfrm>
          <a:prstGeom prst="line">
            <a:avLst/>
          </a:prstGeom>
          <a:noFill/>
          <a:ln w="12700">
            <a:solidFill>
              <a:srgbClr val="E8BD78"/>
            </a:solidFill>
            <a:prstDash val="solid"/>
          </a:ln>
        </p:spPr>
      </p:sp>
      <p:sp>
        <p:nvSpPr>
          <p:cNvPr id="9" name="Text 7"/>
          <p:cNvSpPr/>
          <p:nvPr/>
        </p:nvSpPr>
        <p:spPr>
          <a:xfrm>
            <a:off x="4402634" y="2381349"/>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WALL · 5 MIN</a:t>
            </a:r>
            <a:endParaRPr lang="en-US" sz="1200" dirty="0"/>
          </a:p>
        </p:txBody>
      </p:sp>
      <p:sp>
        <p:nvSpPr>
          <p:cNvPr id="10" name="Text 8"/>
          <p:cNvSpPr/>
          <p:nvPr/>
        </p:nvSpPr>
        <p:spPr>
          <a:xfrm>
            <a:off x="4402634" y="2696270"/>
            <a:ext cx="3488284"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8BD78"/>
                </a:solidFill>
                <a:latin typeface="JetBrains Mono" pitchFamily="49" charset="0"/>
                <a:ea typeface="JetBrains Mono" pitchFamily="49" charset="-122"/>
                <a:cs typeface="JetBrains Mono" pitchFamily="49" charset="-120"/>
              </a:rPr>
              <a:t>Dot the lines</a:t>
            </a:r>
            <a:endParaRPr lang="en-US" sz="2800" dirty="0"/>
          </a:p>
        </p:txBody>
      </p:sp>
      <p:sp>
        <p:nvSpPr>
          <p:cNvPr id="11" name="Text 9"/>
          <p:cNvSpPr/>
          <p:nvPr/>
        </p:nvSpPr>
        <p:spPr>
          <a:xfrm>
            <a:off x="4402634" y="3188990"/>
            <a:ext cx="3488284"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Green: a connection that helped.</a:t>
            </a:r>
            <a:endParaRPr lang="en-US" sz="1600" dirty="0"/>
          </a:p>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Red: one that cost you something.</a:t>
            </a:r>
            <a:endParaRPr lang="en-US" sz="1600" dirty="0"/>
          </a:p>
        </p:txBody>
      </p:sp>
      <p:sp>
        <p:nvSpPr>
          <p:cNvPr id="12" name="Shape 10"/>
          <p:cNvSpPr/>
          <p:nvPr/>
        </p:nvSpPr>
        <p:spPr>
          <a:xfrm>
            <a:off x="7992517" y="2197199"/>
            <a:ext cx="3386683" cy="0"/>
          </a:xfrm>
          <a:prstGeom prst="line">
            <a:avLst/>
          </a:prstGeom>
          <a:noFill/>
          <a:ln w="12700">
            <a:solidFill>
              <a:srgbClr val="FF6A4D"/>
            </a:solidFill>
            <a:prstDash val="solid"/>
          </a:ln>
        </p:spPr>
      </p:sp>
      <p:sp>
        <p:nvSpPr>
          <p:cNvPr id="13" name="Text 11"/>
          <p:cNvSpPr/>
          <p:nvPr/>
        </p:nvSpPr>
        <p:spPr>
          <a:xfrm>
            <a:off x="7992517" y="2381349"/>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DEBRIEF · 5 MIN</a:t>
            </a:r>
            <a:endParaRPr lang="en-US" sz="1200" dirty="0"/>
          </a:p>
        </p:txBody>
      </p:sp>
      <p:sp>
        <p:nvSpPr>
          <p:cNvPr id="14" name="Text 12"/>
          <p:cNvSpPr/>
          <p:nvPr/>
        </p:nvSpPr>
        <p:spPr>
          <a:xfrm>
            <a:off x="7992517" y="2696270"/>
            <a:ext cx="3488284"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FF6A4D"/>
                </a:solidFill>
                <a:latin typeface="JetBrains Mono" pitchFamily="49" charset="0"/>
                <a:ea typeface="JetBrains Mono" pitchFamily="49" charset="-122"/>
                <a:cs typeface="JetBrains Mono" pitchFamily="49" charset="-120"/>
              </a:rPr>
              <a:t>Look at the circles</a:t>
            </a:r>
            <a:endParaRPr lang="en-US" sz="2800" dirty="0"/>
          </a:p>
        </p:txBody>
      </p:sp>
      <p:sp>
        <p:nvSpPr>
          <p:cNvPr id="15" name="Text 13"/>
          <p:cNvSpPr/>
          <p:nvPr/>
        </p:nvSpPr>
        <p:spPr>
          <a:xfrm>
            <a:off x="7992517" y="3580110"/>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Where did a tool stand in for a person? Who would have noticed?</a:t>
            </a:r>
            <a:endParaRPr lang="en-US" sz="1600" dirty="0"/>
          </a:p>
        </p:txBody>
      </p:sp>
      <p:sp>
        <p:nvSpPr>
          <p:cNvPr id="16" name="Text 14"/>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You just did design research: observe first, then make sense of it.</a:t>
            </a:r>
            <a:endParaRPr lang="en-US" sz="2400" dirty="0"/>
          </a:p>
        </p:txBody>
      </p:sp>
      <p:sp>
        <p:nvSpPr>
          <p:cNvPr id="17" name="Text 1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8"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27 / 34</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TURN TO A NEIGHBOUR · 2 MIN</a:t>
            </a:r>
            <a:endParaRPr lang="en-US" sz="1200" dirty="0"/>
          </a:p>
        </p:txBody>
      </p:sp>
      <p:sp>
        <p:nvSpPr>
          <p:cNvPr id="3" name="Text 1"/>
          <p:cNvSpPr/>
          <p:nvPr>
            <p:ph type="title"/>
          </p:nvPr>
        </p:nvSpPr>
        <p:spPr>
          <a:xfrm>
            <a:off x="812800" y="2380010"/>
            <a:ext cx="9810750" cy="186938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F2F1EC"/>
                </a:solidFill>
                <a:latin typeface="JetBrains Mono" pitchFamily="49" charset="0"/>
                <a:ea typeface="JetBrains Mono" pitchFamily="49" charset="-122"/>
                <a:cs typeface="JetBrains Mono" pitchFamily="49" charset="-120"/>
              </a:rPr>
              <a:t>What would a platform know about you, and what would your map know?</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Two minutes with the same partner. Look at your map while you talk.</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28 / 34</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WHO’S MEASURING</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Someone is measuring. Are we?</a:t>
            </a:r>
            <a:endParaRPr lang="en-US" sz="3600" dirty="0"/>
          </a:p>
        </p:txBody>
      </p:sp>
      <p:sp>
        <p:nvSpPr>
          <p:cNvPr id="4" name="Text 2"/>
          <p:cNvSpPr/>
          <p:nvPr/>
        </p:nvSpPr>
        <p:spPr>
          <a:xfrm>
            <a:off x="812800" y="1884611"/>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IMPACTBENCH · AI NUTRITION LABEL · 2026</a:t>
            </a:r>
            <a:endParaRPr lang="en-US" sz="1200" dirty="0"/>
          </a:p>
        </p:txBody>
      </p:sp>
      <p:sp>
        <p:nvSpPr>
          <p:cNvPr id="5" name="Text 3"/>
          <p:cNvSpPr/>
          <p:nvPr/>
        </p:nvSpPr>
        <p:spPr>
          <a:xfrm>
            <a:off x="812800" y="2301131"/>
            <a:ext cx="32918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Showed helpful behaviour</a:t>
            </a:r>
            <a:endParaRPr lang="en-US" sz="1500" dirty="0"/>
          </a:p>
        </p:txBody>
      </p:sp>
      <p:sp>
        <p:nvSpPr>
          <p:cNvPr id="6" name="Text 4"/>
          <p:cNvSpPr/>
          <p:nvPr/>
        </p:nvSpPr>
        <p:spPr>
          <a:xfrm>
            <a:off x="5227320" y="2301131"/>
            <a:ext cx="41148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7FD9C4"/>
                </a:solidFill>
                <a:latin typeface="JetBrains Mono" pitchFamily="49" charset="0"/>
                <a:ea typeface="JetBrains Mono" pitchFamily="49" charset="-122"/>
                <a:cs typeface="JetBrains Mono" pitchFamily="49" charset="-120"/>
              </a:rPr>
              <a:t>69%</a:t>
            </a:r>
            <a:endParaRPr lang="en-US" sz="1500" dirty="0"/>
          </a:p>
        </p:txBody>
      </p:sp>
      <p:sp>
        <p:nvSpPr>
          <p:cNvPr id="7" name="Shape 5"/>
          <p:cNvSpPr/>
          <p:nvPr/>
        </p:nvSpPr>
        <p:spPr>
          <a:xfrm>
            <a:off x="812800" y="2644031"/>
            <a:ext cx="3329930" cy="127000"/>
          </a:xfrm>
          <a:prstGeom prst="rect">
            <a:avLst/>
          </a:prstGeom>
          <a:solidFill>
            <a:srgbClr val="7FD9C4"/>
          </a:solidFill>
          <a:ln/>
        </p:spPr>
      </p:sp>
      <p:sp>
        <p:nvSpPr>
          <p:cNvPr id="8" name="Shape 6"/>
          <p:cNvSpPr/>
          <p:nvPr/>
        </p:nvSpPr>
        <p:spPr>
          <a:xfrm>
            <a:off x="4142730" y="2644031"/>
            <a:ext cx="1496070" cy="127000"/>
          </a:xfrm>
          <a:prstGeom prst="rect">
            <a:avLst/>
          </a:prstGeom>
          <a:solidFill>
            <a:srgbClr val="2A2A28"/>
          </a:solidFill>
          <a:ln/>
        </p:spPr>
      </p:sp>
      <p:sp>
        <p:nvSpPr>
          <p:cNvPr id="9" name="Text 7"/>
          <p:cNvSpPr/>
          <p:nvPr/>
        </p:nvSpPr>
        <p:spPr>
          <a:xfrm>
            <a:off x="812800" y="2974231"/>
            <a:ext cx="3429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Avoided harmful behaviour</a:t>
            </a:r>
            <a:endParaRPr lang="en-US" sz="1500" dirty="0"/>
          </a:p>
        </p:txBody>
      </p:sp>
      <p:sp>
        <p:nvSpPr>
          <p:cNvPr id="10" name="Text 8"/>
          <p:cNvSpPr/>
          <p:nvPr/>
        </p:nvSpPr>
        <p:spPr>
          <a:xfrm>
            <a:off x="5227320" y="2974231"/>
            <a:ext cx="41148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FF6A4D"/>
                </a:solidFill>
                <a:latin typeface="JetBrains Mono" pitchFamily="49" charset="0"/>
                <a:ea typeface="JetBrains Mono" pitchFamily="49" charset="-122"/>
                <a:cs typeface="JetBrains Mono" pitchFamily="49" charset="-120"/>
              </a:rPr>
              <a:t>53%</a:t>
            </a:r>
            <a:endParaRPr lang="en-US" sz="1500" dirty="0"/>
          </a:p>
        </p:txBody>
      </p:sp>
      <p:sp>
        <p:nvSpPr>
          <p:cNvPr id="11" name="Shape 9"/>
          <p:cNvSpPr/>
          <p:nvPr/>
        </p:nvSpPr>
        <p:spPr>
          <a:xfrm>
            <a:off x="812800" y="3317131"/>
            <a:ext cx="2557760" cy="127000"/>
          </a:xfrm>
          <a:prstGeom prst="rect">
            <a:avLst/>
          </a:prstGeom>
          <a:solidFill>
            <a:srgbClr val="FF6A4D"/>
          </a:solidFill>
          <a:ln/>
        </p:spPr>
      </p:sp>
      <p:sp>
        <p:nvSpPr>
          <p:cNvPr id="12" name="Shape 10"/>
          <p:cNvSpPr/>
          <p:nvPr/>
        </p:nvSpPr>
        <p:spPr>
          <a:xfrm>
            <a:off x="3370560" y="3317131"/>
            <a:ext cx="2268240" cy="127000"/>
          </a:xfrm>
          <a:prstGeom prst="rect">
            <a:avLst/>
          </a:prstGeom>
          <a:solidFill>
            <a:srgbClr val="2A2A28"/>
          </a:solidFill>
          <a:ln/>
        </p:spPr>
      </p:sp>
      <p:sp>
        <p:nvSpPr>
          <p:cNvPr id="13" name="Text 11"/>
          <p:cNvSpPr/>
          <p:nvPr/>
        </p:nvSpPr>
        <p:spPr>
          <a:xfrm>
            <a:off x="812800" y="3647331"/>
            <a:ext cx="497078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B4AE"/>
                </a:solidFill>
                <a:latin typeface="JetBrains Mono" pitchFamily="49" charset="0"/>
                <a:ea typeface="JetBrains Mono" pitchFamily="49" charset="-122"/>
                <a:cs typeface="JetBrains Mono" pitchFamily="49" charset="-120"/>
              </a:rPr>
              <a:t>800+ metrics · 48,540 simulated conversations. Weakest area: supporting the user’s own agency.</a:t>
            </a:r>
            <a:endParaRPr lang="en-US" sz="1400" dirty="0"/>
          </a:p>
        </p:txBody>
      </p:sp>
      <p:sp>
        <p:nvSpPr>
          <p:cNvPr id="14" name="Text 12"/>
          <p:cNvSpPr/>
          <p:nvPr/>
        </p:nvSpPr>
        <p:spPr>
          <a:xfrm>
            <a:off x="6248400" y="188461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HARMS OF AI COMPANIONS · CHI 2025</a:t>
            </a:r>
            <a:endParaRPr lang="en-US" sz="1200" dirty="0"/>
          </a:p>
        </p:txBody>
      </p:sp>
      <p:sp>
        <p:nvSpPr>
          <p:cNvPr id="15" name="Text 13"/>
          <p:cNvSpPr/>
          <p:nvPr/>
        </p:nvSpPr>
        <p:spPr>
          <a:xfrm>
            <a:off x="6248400" y="21995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Relational transgression</a:t>
            </a:r>
            <a:endParaRPr lang="en-US" sz="1400" dirty="0"/>
          </a:p>
        </p:txBody>
      </p:sp>
      <p:sp>
        <p:nvSpPr>
          <p:cNvPr id="16" name="Shape 14"/>
          <p:cNvSpPr/>
          <p:nvPr/>
        </p:nvSpPr>
        <p:spPr>
          <a:xfrm>
            <a:off x="6257925" y="2199531"/>
            <a:ext cx="0" cy="647700"/>
          </a:xfrm>
          <a:prstGeom prst="line">
            <a:avLst/>
          </a:prstGeom>
          <a:noFill/>
          <a:ln w="19050">
            <a:solidFill>
              <a:srgbClr val="FF6A4D"/>
            </a:solidFill>
            <a:prstDash val="solid"/>
          </a:ln>
        </p:spPr>
      </p:sp>
      <p:sp>
        <p:nvSpPr>
          <p:cNvPr id="17" name="Text 15"/>
          <p:cNvSpPr/>
          <p:nvPr/>
        </p:nvSpPr>
        <p:spPr>
          <a:xfrm>
            <a:off x="8851900" y="21995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Verbal abuse and hate</a:t>
            </a:r>
            <a:endParaRPr lang="en-US" sz="1400" dirty="0"/>
          </a:p>
        </p:txBody>
      </p:sp>
      <p:sp>
        <p:nvSpPr>
          <p:cNvPr id="18" name="Shape 16"/>
          <p:cNvSpPr/>
          <p:nvPr/>
        </p:nvSpPr>
        <p:spPr>
          <a:xfrm>
            <a:off x="8861425" y="2199531"/>
            <a:ext cx="0" cy="647700"/>
          </a:xfrm>
          <a:prstGeom prst="line">
            <a:avLst/>
          </a:prstGeom>
          <a:noFill/>
          <a:ln w="19050">
            <a:solidFill>
              <a:srgbClr val="FF6A4D"/>
            </a:solidFill>
            <a:prstDash val="solid"/>
          </a:ln>
        </p:spPr>
      </p:sp>
      <p:sp>
        <p:nvSpPr>
          <p:cNvPr id="19" name="Text 17"/>
          <p:cNvSpPr/>
          <p:nvPr/>
        </p:nvSpPr>
        <p:spPr>
          <a:xfrm>
            <a:off x="6248400" y="29234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Self-inflicted harm</a:t>
            </a:r>
            <a:endParaRPr lang="en-US" sz="1400" dirty="0"/>
          </a:p>
        </p:txBody>
      </p:sp>
      <p:sp>
        <p:nvSpPr>
          <p:cNvPr id="20" name="Shape 18"/>
          <p:cNvSpPr/>
          <p:nvPr/>
        </p:nvSpPr>
        <p:spPr>
          <a:xfrm>
            <a:off x="6257925" y="2923431"/>
            <a:ext cx="0" cy="647700"/>
          </a:xfrm>
          <a:prstGeom prst="line">
            <a:avLst/>
          </a:prstGeom>
          <a:noFill/>
          <a:ln w="19050">
            <a:solidFill>
              <a:srgbClr val="FF6A4D"/>
            </a:solidFill>
            <a:prstDash val="solid"/>
          </a:ln>
        </p:spPr>
      </p:sp>
      <p:sp>
        <p:nvSpPr>
          <p:cNvPr id="21" name="Text 19"/>
          <p:cNvSpPr/>
          <p:nvPr/>
        </p:nvSpPr>
        <p:spPr>
          <a:xfrm>
            <a:off x="8851900" y="29234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Harassment and violence</a:t>
            </a:r>
            <a:endParaRPr lang="en-US" sz="1400" dirty="0"/>
          </a:p>
        </p:txBody>
      </p:sp>
      <p:sp>
        <p:nvSpPr>
          <p:cNvPr id="22" name="Shape 20"/>
          <p:cNvSpPr/>
          <p:nvPr/>
        </p:nvSpPr>
        <p:spPr>
          <a:xfrm>
            <a:off x="8861425" y="2923431"/>
            <a:ext cx="0" cy="647700"/>
          </a:xfrm>
          <a:prstGeom prst="line">
            <a:avLst/>
          </a:prstGeom>
          <a:noFill/>
          <a:ln w="19050">
            <a:solidFill>
              <a:srgbClr val="FF6A4D"/>
            </a:solidFill>
            <a:prstDash val="solid"/>
          </a:ln>
        </p:spPr>
      </p:sp>
      <p:sp>
        <p:nvSpPr>
          <p:cNvPr id="23" name="Text 21"/>
          <p:cNvSpPr/>
          <p:nvPr/>
        </p:nvSpPr>
        <p:spPr>
          <a:xfrm>
            <a:off x="6248400" y="3647331"/>
            <a:ext cx="2527300" cy="42545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Mis/disinformation</a:t>
            </a:r>
            <a:endParaRPr lang="en-US" sz="1400" dirty="0"/>
          </a:p>
        </p:txBody>
      </p:sp>
      <p:sp>
        <p:nvSpPr>
          <p:cNvPr id="24" name="Shape 22"/>
          <p:cNvSpPr/>
          <p:nvPr/>
        </p:nvSpPr>
        <p:spPr>
          <a:xfrm>
            <a:off x="6257925" y="3647331"/>
            <a:ext cx="0" cy="425450"/>
          </a:xfrm>
          <a:prstGeom prst="line">
            <a:avLst/>
          </a:prstGeom>
          <a:noFill/>
          <a:ln w="19050">
            <a:solidFill>
              <a:srgbClr val="FF6A4D"/>
            </a:solidFill>
            <a:prstDash val="solid"/>
          </a:ln>
        </p:spPr>
      </p:sp>
      <p:sp>
        <p:nvSpPr>
          <p:cNvPr id="25" name="Text 23"/>
          <p:cNvSpPr/>
          <p:nvPr/>
        </p:nvSpPr>
        <p:spPr>
          <a:xfrm>
            <a:off x="8851900" y="3647331"/>
            <a:ext cx="2527300" cy="42545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Privacy violations</a:t>
            </a:r>
            <a:endParaRPr lang="en-US" sz="1400" dirty="0"/>
          </a:p>
        </p:txBody>
      </p:sp>
      <p:sp>
        <p:nvSpPr>
          <p:cNvPr id="26" name="Shape 24"/>
          <p:cNvSpPr/>
          <p:nvPr/>
        </p:nvSpPr>
        <p:spPr>
          <a:xfrm>
            <a:off x="8861425" y="3647331"/>
            <a:ext cx="0" cy="425450"/>
          </a:xfrm>
          <a:prstGeom prst="line">
            <a:avLst/>
          </a:prstGeom>
          <a:noFill/>
          <a:ln w="19050">
            <a:solidFill>
              <a:srgbClr val="FF6A4D"/>
            </a:solidFill>
            <a:prstDash val="solid"/>
          </a:ln>
        </p:spPr>
      </p:sp>
      <p:sp>
        <p:nvSpPr>
          <p:cNvPr id="27" name="Text 25"/>
          <p:cNvSpPr/>
          <p:nvPr/>
        </p:nvSpPr>
        <p:spPr>
          <a:xfrm>
            <a:off x="6248400" y="417438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From 35,390 Replika conversation excerpts</a:t>
            </a:r>
            <a:endParaRPr lang="en-US" sz="1200" dirty="0"/>
          </a:p>
        </p:txBody>
      </p:sp>
      <p:sp>
        <p:nvSpPr>
          <p:cNvPr id="28" name="Text 26"/>
          <p:cNvSpPr/>
          <p:nvPr/>
        </p:nvSpPr>
        <p:spPr>
          <a:xfrm>
            <a:off x="812800" y="6238280"/>
            <a:ext cx="887603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MIT MEDIA LAB ET AL., 2026 · ZHANG ET AL., 2025 · ALSO: PHARE V2, AILUMINATE</a:t>
            </a:r>
            <a:endParaRPr lang="en-US" sz="1200" dirty="0"/>
          </a:p>
        </p:txBody>
      </p:sp>
      <p:sp>
        <p:nvSpPr>
          <p:cNvPr id="29" name="Text 27"/>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29 / 34</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28749"/>
          </a:xfrm>
          <a:prstGeom prst="rect">
            <a:avLst/>
          </a:prstGeom>
          <a:noFill/>
          <a:ln/>
        </p:spPr>
        <p:txBody>
          <a:bodyPr wrap="square" lIns="0" tIns="0" rIns="0" bIns="0" rtlCol="0" anchor="t">
            <a:normAutofit/>
          </a:bodyPr>
          <a:lstStyle/>
          <a:p>
            <a:pPr algn="l" indent="0" marL="0">
              <a:lnSpc>
                <a:spcPts val="1622"/>
              </a:lnSpc>
              <a:buNone/>
            </a:pPr>
            <a:r>
              <a:rPr lang="en-US" sz="1159" spc="200" kern="0" dirty="0">
                <a:solidFill>
                  <a:srgbClr val="E8BD78"/>
                </a:solidFill>
                <a:latin typeface="JetBrains Mono" pitchFamily="49" charset="0"/>
                <a:ea typeface="JetBrains Mono" pitchFamily="49" charset="-122"/>
                <a:cs typeface="JetBrains Mono" pitchFamily="49" charset="-120"/>
              </a:rPr>
              <a:t>PART 3 · BUILD BETTER</a:t>
            </a:r>
            <a:endParaRPr lang="en-US" sz="1159" dirty="0"/>
          </a:p>
        </p:txBody>
      </p:sp>
      <p:sp>
        <p:nvSpPr>
          <p:cNvPr id="3" name="Text 1"/>
          <p:cNvSpPr/>
          <p:nvPr>
            <p:ph type="title"/>
          </p:nvPr>
        </p:nvSpPr>
        <p:spPr>
          <a:xfrm>
            <a:off x="812800" y="1117749"/>
            <a:ext cx="10883392" cy="504676"/>
          </a:xfrm>
          <a:prstGeom prst="rect">
            <a:avLst/>
          </a:prstGeom>
          <a:noFill/>
          <a:ln/>
        </p:spPr>
        <p:txBody>
          <a:bodyPr wrap="square" lIns="0" tIns="0" rIns="0" bIns="0" rtlCol="0" anchor="t">
            <a:normAutofit/>
          </a:bodyPr>
          <a:lstStyle/>
          <a:p>
            <a:pPr algn="l" indent="0" marL="0">
              <a:lnSpc>
                <a:spcPts val="3774"/>
              </a:lnSpc>
              <a:buNone/>
            </a:pPr>
            <a:r>
              <a:rPr lang="en-US" sz="3431" b="0" i="0" spc="-50" kern="0" dirty="0">
                <a:solidFill>
                  <a:srgbClr val="F2F1EC"/>
                </a:solidFill>
                <a:latin typeface="JetBrains Mono" pitchFamily="49" charset="0"/>
                <a:ea typeface="JetBrains Mono" pitchFamily="49" charset="-122"/>
                <a:cs typeface="JetBrains Mono" pitchFamily="49" charset="-120"/>
              </a:rPr>
              <a:t>Research → what to do on Monday</a:t>
            </a:r>
            <a:endParaRPr lang="en-US" sz="3431" dirty="0"/>
          </a:p>
        </p:txBody>
      </p:sp>
      <p:sp>
        <p:nvSpPr>
          <p:cNvPr id="4" name="Text 2"/>
          <p:cNvSpPr/>
          <p:nvPr/>
        </p:nvSpPr>
        <p:spPr>
          <a:xfrm>
            <a:off x="812800" y="1851025"/>
            <a:ext cx="418592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THE FINDING</a:t>
            </a:r>
            <a:endParaRPr lang="en-US" sz="1200" dirty="0"/>
          </a:p>
        </p:txBody>
      </p:sp>
      <p:sp>
        <p:nvSpPr>
          <p:cNvPr id="5" name="Text 3"/>
          <p:cNvSpPr/>
          <p:nvPr/>
        </p:nvSpPr>
        <p:spPr>
          <a:xfrm>
            <a:off x="5080000" y="1851025"/>
            <a:ext cx="196215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SOURCE</a:t>
            </a:r>
            <a:endParaRPr lang="en-US" sz="1200" dirty="0"/>
          </a:p>
        </p:txBody>
      </p:sp>
      <p:sp>
        <p:nvSpPr>
          <p:cNvPr id="6" name="Text 4"/>
          <p:cNvSpPr/>
          <p:nvPr/>
        </p:nvSpPr>
        <p:spPr>
          <a:xfrm>
            <a:off x="7188200" y="1851025"/>
            <a:ext cx="431673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DO THIS</a:t>
            </a:r>
            <a:endParaRPr lang="en-US" sz="1200" dirty="0"/>
          </a:p>
        </p:txBody>
      </p:sp>
      <p:sp>
        <p:nvSpPr>
          <p:cNvPr id="7" name="Shape 5"/>
          <p:cNvSpPr/>
          <p:nvPr/>
        </p:nvSpPr>
        <p:spPr>
          <a:xfrm>
            <a:off x="812800" y="2118816"/>
            <a:ext cx="10566400" cy="0"/>
          </a:xfrm>
          <a:prstGeom prst="line">
            <a:avLst/>
          </a:prstGeom>
          <a:noFill/>
          <a:ln w="6350">
            <a:solidFill>
              <a:srgbClr val="2A2A28"/>
            </a:solidFill>
            <a:prstDash val="solid"/>
          </a:ln>
        </p:spPr>
      </p:sp>
      <p:sp>
        <p:nvSpPr>
          <p:cNvPr id="8" name="Text 6"/>
          <p:cNvSpPr/>
          <p:nvPr/>
        </p:nvSpPr>
        <p:spPr>
          <a:xfrm>
            <a:off x="812800" y="2210891"/>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More confidence in AI, less critical thinking</a:t>
            </a:r>
            <a:endParaRPr lang="en-US" sz="1400" dirty="0"/>
          </a:p>
        </p:txBody>
      </p:sp>
      <p:sp>
        <p:nvSpPr>
          <p:cNvPr id="9" name="Text 7"/>
          <p:cNvSpPr/>
          <p:nvPr/>
        </p:nvSpPr>
        <p:spPr>
          <a:xfrm>
            <a:off x="5080000" y="2236291"/>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Lee et al., CHI 2025</a:t>
            </a:r>
            <a:endParaRPr lang="en-US" sz="1200" dirty="0"/>
          </a:p>
        </p:txBody>
      </p:sp>
      <p:sp>
        <p:nvSpPr>
          <p:cNvPr id="10" name="Text 8"/>
          <p:cNvSpPr/>
          <p:nvPr/>
        </p:nvSpPr>
        <p:spPr>
          <a:xfrm>
            <a:off x="7188200" y="2210891"/>
            <a:ext cx="431673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Design for checking, not just confidence</a:t>
            </a:r>
            <a:endParaRPr lang="en-US" sz="1400" dirty="0"/>
          </a:p>
        </p:txBody>
      </p:sp>
      <p:sp>
        <p:nvSpPr>
          <p:cNvPr id="11" name="Shape 9"/>
          <p:cNvSpPr/>
          <p:nvPr/>
        </p:nvSpPr>
        <p:spPr>
          <a:xfrm>
            <a:off x="812800" y="2738834"/>
            <a:ext cx="10566400" cy="0"/>
          </a:xfrm>
          <a:prstGeom prst="line">
            <a:avLst/>
          </a:prstGeom>
          <a:noFill/>
          <a:ln w="6350">
            <a:solidFill>
              <a:srgbClr val="2A2A28"/>
            </a:solidFill>
            <a:prstDash val="solid"/>
          </a:ln>
        </p:spPr>
      </p:sp>
      <p:sp>
        <p:nvSpPr>
          <p:cNvPr id="12" name="Text 10"/>
          <p:cNvSpPr/>
          <p:nvPr/>
        </p:nvSpPr>
        <p:spPr>
          <a:xfrm>
            <a:off x="812800" y="2830909"/>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Bonding with a chatbot tracks with loneliness</a:t>
            </a:r>
            <a:endParaRPr lang="en-US" sz="1400" dirty="0"/>
          </a:p>
        </p:txBody>
      </p:sp>
      <p:sp>
        <p:nvSpPr>
          <p:cNvPr id="13" name="Text 11"/>
          <p:cNvSpPr/>
          <p:nvPr/>
        </p:nvSpPr>
        <p:spPr>
          <a:xfrm>
            <a:off x="5080000" y="2856309"/>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Fang et al., 2025</a:t>
            </a:r>
            <a:endParaRPr lang="en-US" sz="1200" dirty="0"/>
          </a:p>
        </p:txBody>
      </p:sp>
      <p:sp>
        <p:nvSpPr>
          <p:cNvPr id="14" name="Text 12"/>
          <p:cNvSpPr/>
          <p:nvPr/>
        </p:nvSpPr>
        <p:spPr>
          <a:xfrm>
            <a:off x="7188200" y="2830909"/>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Measure wellbeing, not just engagement</a:t>
            </a:r>
            <a:endParaRPr lang="en-US" sz="1400" dirty="0"/>
          </a:p>
        </p:txBody>
      </p:sp>
      <p:sp>
        <p:nvSpPr>
          <p:cNvPr id="15" name="Shape 13"/>
          <p:cNvSpPr/>
          <p:nvPr/>
        </p:nvSpPr>
        <p:spPr>
          <a:xfrm>
            <a:off x="812800" y="3358803"/>
            <a:ext cx="10566400" cy="0"/>
          </a:xfrm>
          <a:prstGeom prst="line">
            <a:avLst/>
          </a:prstGeom>
          <a:noFill/>
          <a:ln w="6350">
            <a:solidFill>
              <a:srgbClr val="2A2A28"/>
            </a:solidFill>
            <a:prstDash val="solid"/>
          </a:ln>
        </p:spPr>
      </p:sp>
      <p:sp>
        <p:nvSpPr>
          <p:cNvPr id="16" name="Text 14"/>
          <p:cNvSpPr/>
          <p:nvPr/>
        </p:nvSpPr>
        <p:spPr>
          <a:xfrm>
            <a:off x="812800" y="3450878"/>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Supporting users’ own agency is the weakest area</a:t>
            </a:r>
            <a:endParaRPr lang="en-US" sz="1400" dirty="0"/>
          </a:p>
        </p:txBody>
      </p:sp>
      <p:sp>
        <p:nvSpPr>
          <p:cNvPr id="17" name="Text 15"/>
          <p:cNvSpPr/>
          <p:nvPr/>
        </p:nvSpPr>
        <p:spPr>
          <a:xfrm>
            <a:off x="5080000" y="3476278"/>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ImpactBench, 2026</a:t>
            </a:r>
            <a:endParaRPr lang="en-US" sz="1200" dirty="0"/>
          </a:p>
        </p:txBody>
      </p:sp>
      <p:sp>
        <p:nvSpPr>
          <p:cNvPr id="18" name="Text 16"/>
          <p:cNvSpPr/>
          <p:nvPr/>
        </p:nvSpPr>
        <p:spPr>
          <a:xfrm>
            <a:off x="7188200" y="3450878"/>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Build in override, edit and undo</a:t>
            </a:r>
            <a:endParaRPr lang="en-US" sz="1400" dirty="0"/>
          </a:p>
        </p:txBody>
      </p:sp>
      <p:sp>
        <p:nvSpPr>
          <p:cNvPr id="19" name="Shape 17"/>
          <p:cNvSpPr/>
          <p:nvPr/>
        </p:nvSpPr>
        <p:spPr>
          <a:xfrm>
            <a:off x="812800" y="3978821"/>
            <a:ext cx="10566400" cy="0"/>
          </a:xfrm>
          <a:prstGeom prst="line">
            <a:avLst/>
          </a:prstGeom>
          <a:noFill/>
          <a:ln w="6350">
            <a:solidFill>
              <a:srgbClr val="2A2A28"/>
            </a:solidFill>
            <a:prstDash val="solid"/>
          </a:ln>
        </p:spPr>
      </p:sp>
      <p:sp>
        <p:nvSpPr>
          <p:cNvPr id="20" name="Text 18"/>
          <p:cNvSpPr/>
          <p:nvPr/>
        </p:nvSpPr>
        <p:spPr>
          <a:xfrm>
            <a:off x="812800" y="4070896"/>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People need to know what it can do, and how well</a:t>
            </a:r>
            <a:endParaRPr lang="en-US" sz="1400" dirty="0"/>
          </a:p>
        </p:txBody>
      </p:sp>
      <p:sp>
        <p:nvSpPr>
          <p:cNvPr id="21" name="Text 19"/>
          <p:cNvSpPr/>
          <p:nvPr/>
        </p:nvSpPr>
        <p:spPr>
          <a:xfrm>
            <a:off x="5080000" y="4096296"/>
            <a:ext cx="19621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Amershi et al., CHI 2019</a:t>
            </a:r>
            <a:endParaRPr lang="en-US" sz="1200" dirty="0"/>
          </a:p>
        </p:txBody>
      </p:sp>
      <p:sp>
        <p:nvSpPr>
          <p:cNvPr id="22" name="Text 20"/>
          <p:cNvSpPr/>
          <p:nvPr/>
        </p:nvSpPr>
        <p:spPr>
          <a:xfrm>
            <a:off x="7188200" y="4070896"/>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Show confidence and limits up front</a:t>
            </a:r>
            <a:endParaRPr lang="en-US" sz="1400" dirty="0"/>
          </a:p>
        </p:txBody>
      </p:sp>
      <p:sp>
        <p:nvSpPr>
          <p:cNvPr id="23" name="Shape 21"/>
          <p:cNvSpPr/>
          <p:nvPr/>
        </p:nvSpPr>
        <p:spPr>
          <a:xfrm>
            <a:off x="812800" y="4598789"/>
            <a:ext cx="10566400" cy="0"/>
          </a:xfrm>
          <a:prstGeom prst="line">
            <a:avLst/>
          </a:prstGeom>
          <a:noFill/>
          <a:ln w="6350">
            <a:solidFill>
              <a:srgbClr val="2A2A28"/>
            </a:solidFill>
            <a:prstDash val="solid"/>
          </a:ln>
        </p:spPr>
      </p:sp>
      <p:sp>
        <p:nvSpPr>
          <p:cNvPr id="24" name="Text 22"/>
          <p:cNvSpPr/>
          <p:nvPr/>
        </p:nvSpPr>
        <p:spPr>
          <a:xfrm>
            <a:off x="812800" y="4690864"/>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People treat computers as social actors</a:t>
            </a:r>
            <a:endParaRPr lang="en-US" sz="1400" dirty="0"/>
          </a:p>
        </p:txBody>
      </p:sp>
      <p:sp>
        <p:nvSpPr>
          <p:cNvPr id="25" name="Text 23"/>
          <p:cNvSpPr/>
          <p:nvPr/>
        </p:nvSpPr>
        <p:spPr>
          <a:xfrm>
            <a:off x="5080000" y="4716264"/>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Nass et al., 1994</a:t>
            </a:r>
            <a:endParaRPr lang="en-US" sz="1200" dirty="0"/>
          </a:p>
        </p:txBody>
      </p:sp>
      <p:sp>
        <p:nvSpPr>
          <p:cNvPr id="26" name="Text 24"/>
          <p:cNvSpPr/>
          <p:nvPr/>
        </p:nvSpPr>
        <p:spPr>
          <a:xfrm>
            <a:off x="7188200" y="4690864"/>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Match the personality to the capability</a:t>
            </a:r>
            <a:endParaRPr lang="en-US" sz="1400" dirty="0"/>
          </a:p>
        </p:txBody>
      </p:sp>
      <p:sp>
        <p:nvSpPr>
          <p:cNvPr id="27" name="Shape 25"/>
          <p:cNvSpPr/>
          <p:nvPr/>
        </p:nvSpPr>
        <p:spPr>
          <a:xfrm>
            <a:off x="812800" y="5218807"/>
            <a:ext cx="10566400" cy="0"/>
          </a:xfrm>
          <a:prstGeom prst="line">
            <a:avLst/>
          </a:prstGeom>
          <a:noFill/>
          <a:ln w="6350">
            <a:solidFill>
              <a:srgbClr val="2A2A28"/>
            </a:solidFill>
            <a:prstDash val="solid"/>
          </a:ln>
        </p:spPr>
      </p:sp>
      <p:sp>
        <p:nvSpPr>
          <p:cNvPr id="28" name="Shape 26"/>
          <p:cNvSpPr/>
          <p:nvPr/>
        </p:nvSpPr>
        <p:spPr>
          <a:xfrm>
            <a:off x="812800" y="5838825"/>
            <a:ext cx="10566400" cy="0"/>
          </a:xfrm>
          <a:prstGeom prst="line">
            <a:avLst/>
          </a:prstGeom>
          <a:noFill/>
          <a:ln w="6350">
            <a:solidFill>
              <a:srgbClr val="2A2A28"/>
            </a:solidFill>
            <a:prstDash val="solid"/>
          </a:ln>
        </p:spPr>
      </p:sp>
      <p:sp>
        <p:nvSpPr>
          <p:cNvPr id="29" name="Text 27"/>
          <p:cNvSpPr/>
          <p:nvPr/>
        </p:nvSpPr>
        <p:spPr>
          <a:xfrm>
            <a:off x="812800" y="5310882"/>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Direct manipulation gives people more control than chat</a:t>
            </a:r>
            <a:endParaRPr lang="en-US" sz="1400" dirty="0"/>
          </a:p>
        </p:txBody>
      </p:sp>
      <p:sp>
        <p:nvSpPr>
          <p:cNvPr id="30" name="Text 28"/>
          <p:cNvSpPr/>
          <p:nvPr/>
        </p:nvSpPr>
        <p:spPr>
          <a:xfrm>
            <a:off x="5080000" y="5336282"/>
            <a:ext cx="19621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Shneiderman &amp; Maes, 1997</a:t>
            </a:r>
            <a:endParaRPr lang="en-US" sz="1200" dirty="0"/>
          </a:p>
        </p:txBody>
      </p:sp>
      <p:sp>
        <p:nvSpPr>
          <p:cNvPr id="31" name="Text 29"/>
          <p:cNvSpPr/>
          <p:nvPr/>
        </p:nvSpPr>
        <p:spPr>
          <a:xfrm>
            <a:off x="7188200" y="5310882"/>
            <a:ext cx="431673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Offer a menu of intents; keep chat for exploring</a:t>
            </a:r>
            <a:endParaRPr lang="en-US" sz="1400" dirty="0"/>
          </a:p>
        </p:txBody>
      </p:sp>
      <p:sp>
        <p:nvSpPr>
          <p:cNvPr id="32" name="Text 3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FULL CITATIONS IN THE REFERENCES</a:t>
            </a:r>
            <a:endParaRPr lang="en-US" sz="1200" dirty="0"/>
          </a:p>
        </p:txBody>
      </p:sp>
      <p:sp>
        <p:nvSpPr>
          <p:cNvPr id="33" name="Text 3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30 / 34</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WHAT DISTINGUISHES US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AI-centred vs. human-centred</a:t>
            </a:r>
            <a:endParaRPr lang="en-US" sz="3600" dirty="0"/>
          </a:p>
        </p:txBody>
      </p:sp>
      <p:sp>
        <p:nvSpPr>
          <p:cNvPr id="4" name="Text 2"/>
          <p:cNvSpPr/>
          <p:nvPr/>
        </p:nvSpPr>
        <p:spPr>
          <a:xfrm>
            <a:off x="8128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8A8985"/>
                </a:solidFill>
                <a:latin typeface="JetBrains Mono" pitchFamily="49" charset="0"/>
                <a:ea typeface="JetBrains Mono" pitchFamily="49" charset="-122"/>
                <a:cs typeface="JetBrains Mono" pitchFamily="49" charset="-120"/>
              </a:rPr>
              <a:t>AI-CENTRED</a:t>
            </a:r>
            <a:endParaRPr lang="en-US" sz="1200" dirty="0"/>
          </a:p>
        </p:txBody>
      </p:sp>
      <p:pic>
        <p:nvPicPr>
          <p:cNvPr id="5" name="Image 0" descr="ellipse">    </p:cNvPr>
          <p:cNvPicPr>
            <a:picLocks noChangeAspect="1"/>
          </p:cNvPicPr>
          <p:nvPr/>
        </p:nvPicPr>
        <p:blipFill>
          <a:blip r:embed="rId1"/>
          <a:srcRect l="0" r="0" t="0" b="0"/>
          <a:stretch/>
        </p:blipFill>
        <p:spPr>
          <a:xfrm>
            <a:off x="2273300" y="2151311"/>
            <a:ext cx="2032000" cy="2032000"/>
          </a:xfrm>
          <a:prstGeom prst="rect">
            <a:avLst/>
          </a:prstGeom>
        </p:spPr>
      </p:pic>
      <p:pic>
        <p:nvPicPr>
          <p:cNvPr id="6" name="Image 1" descr="ellipse">    </p:cNvPr>
          <p:cNvPicPr>
            <a:picLocks noChangeAspect="1"/>
          </p:cNvPicPr>
          <p:nvPr/>
        </p:nvPicPr>
        <p:blipFill>
          <a:blip r:embed="rId2"/>
          <a:srcRect l="0" r="0" t="0" b="0"/>
          <a:stretch/>
        </p:blipFill>
        <p:spPr>
          <a:xfrm>
            <a:off x="3162300" y="2024311"/>
            <a:ext cx="254000" cy="254000"/>
          </a:xfrm>
          <a:prstGeom prst="rect">
            <a:avLst/>
          </a:prstGeom>
        </p:spPr>
      </p:pic>
      <p:pic>
        <p:nvPicPr>
          <p:cNvPr id="7" name="Image 2" descr="ellipse">    </p:cNvPr>
          <p:cNvPicPr>
            <a:picLocks noChangeAspect="1"/>
          </p:cNvPicPr>
          <p:nvPr/>
        </p:nvPicPr>
        <p:blipFill>
          <a:blip r:embed="rId3"/>
          <a:srcRect l="0" r="0" t="0" b="0"/>
          <a:stretch/>
        </p:blipFill>
        <p:spPr>
          <a:xfrm>
            <a:off x="4044950" y="2532311"/>
            <a:ext cx="254000" cy="254000"/>
          </a:xfrm>
          <a:prstGeom prst="rect">
            <a:avLst/>
          </a:prstGeom>
        </p:spPr>
      </p:pic>
      <p:pic>
        <p:nvPicPr>
          <p:cNvPr id="8" name="Image 3" descr="ellipse">    </p:cNvPr>
          <p:cNvPicPr>
            <a:picLocks noChangeAspect="1"/>
          </p:cNvPicPr>
          <p:nvPr/>
        </p:nvPicPr>
        <p:blipFill>
          <a:blip r:embed="rId4"/>
          <a:srcRect l="0" r="0" t="0" b="0"/>
          <a:stretch/>
        </p:blipFill>
        <p:spPr>
          <a:xfrm>
            <a:off x="4044950" y="3548311"/>
            <a:ext cx="254000" cy="254000"/>
          </a:xfrm>
          <a:prstGeom prst="rect">
            <a:avLst/>
          </a:prstGeom>
        </p:spPr>
      </p:pic>
      <p:pic>
        <p:nvPicPr>
          <p:cNvPr id="9" name="Image 4" descr="ellipse">    </p:cNvPr>
          <p:cNvPicPr>
            <a:picLocks noChangeAspect="1"/>
          </p:cNvPicPr>
          <p:nvPr/>
        </p:nvPicPr>
        <p:blipFill>
          <a:blip r:embed="rId5"/>
          <a:srcRect l="0" r="0" t="0" b="0"/>
          <a:stretch/>
        </p:blipFill>
        <p:spPr>
          <a:xfrm>
            <a:off x="3162300" y="4056311"/>
            <a:ext cx="254000" cy="254000"/>
          </a:xfrm>
          <a:prstGeom prst="rect">
            <a:avLst/>
          </a:prstGeom>
        </p:spPr>
      </p:pic>
      <p:pic>
        <p:nvPicPr>
          <p:cNvPr id="10" name="Image 5" descr="ellipse">    </p:cNvPr>
          <p:cNvPicPr>
            <a:picLocks noChangeAspect="1"/>
          </p:cNvPicPr>
          <p:nvPr/>
        </p:nvPicPr>
        <p:blipFill>
          <a:blip r:embed="rId6"/>
          <a:srcRect l="0" r="0" t="0" b="0"/>
          <a:stretch/>
        </p:blipFill>
        <p:spPr>
          <a:xfrm>
            <a:off x="2279650" y="3548311"/>
            <a:ext cx="254000" cy="254000"/>
          </a:xfrm>
          <a:prstGeom prst="rect">
            <a:avLst/>
          </a:prstGeom>
        </p:spPr>
      </p:pic>
      <p:pic>
        <p:nvPicPr>
          <p:cNvPr id="11" name="Image 6" descr="ellipse">    </p:cNvPr>
          <p:cNvPicPr>
            <a:picLocks noChangeAspect="1"/>
          </p:cNvPicPr>
          <p:nvPr/>
        </p:nvPicPr>
        <p:blipFill>
          <a:blip r:embed="rId7"/>
          <a:srcRect l="0" r="0" t="0" b="0"/>
          <a:stretch/>
        </p:blipFill>
        <p:spPr>
          <a:xfrm>
            <a:off x="2279650" y="2532311"/>
            <a:ext cx="254000" cy="254000"/>
          </a:xfrm>
          <a:prstGeom prst="rect">
            <a:avLst/>
          </a:prstGeom>
        </p:spPr>
      </p:pic>
      <p:sp>
        <p:nvSpPr>
          <p:cNvPr id="12" name="Text 3"/>
          <p:cNvSpPr/>
          <p:nvPr/>
        </p:nvSpPr>
        <p:spPr>
          <a:xfrm>
            <a:off x="2892425" y="2770436"/>
            <a:ext cx="793750" cy="794246"/>
          </a:xfrm>
          <a:custGeom>
            <a:avLst/>
            <a:gdLst/>
            <a:ahLst/>
            <a:cxnLst/>
            <a:rect l="l" t="t" r="r" b="b"/>
            <a:pathLst>
              <a:path w="793750" h="794246">
                <a:moveTo>
                  <a:pt x="396875" y="0"/>
                </a:moveTo>
                <a:lnTo>
                  <a:pt x="396875" y="0"/>
                </a:lnTo>
                <a:arcTo hR="396875" wR="396875" stAng="16200000" swAng="5400000"/>
                <a:lnTo>
                  <a:pt x="793750" y="397371"/>
                </a:lnTo>
                <a:arcTo hR="396875" wR="396875" stAng="0" swAng="5400000"/>
                <a:lnTo>
                  <a:pt x="396875" y="794246"/>
                </a:lnTo>
                <a:arcTo hR="396875" wR="396875" stAng="5400000" swAng="5400000"/>
                <a:lnTo>
                  <a:pt x="0" y="396875"/>
                </a:lnTo>
                <a:arcTo hR="396875" wR="396875" stAng="10800000" swAng="5400000"/>
                <a:close/>
              </a:path>
            </a:pathLst>
          </a:custGeom>
          <a:solidFill>
            <a:srgbClr val="3A3A36"/>
          </a:solidFill>
          <a:ln w="19050">
            <a:solidFill>
              <a:srgbClr val="3A3A36"/>
            </a:solidFill>
            <a:prstDash val="solid"/>
          </a:ln>
        </p:spPr>
        <p:txBody>
          <a:bodyPr wrap="square" lIns="0" tIns="276225" rIns="0" bIns="250825" rtlCol="0" anchor="t">
            <a:normAutofit/>
          </a:bodyPr>
          <a:lstStyle/>
          <a:p>
            <a:pPr algn="ctr" indent="0" marL="0">
              <a:lnSpc>
                <a:spcPts val="1904"/>
              </a:lnSpc>
              <a:buNone/>
            </a:pPr>
            <a:r>
              <a:rPr lang="en-US" sz="1400" b="1" dirty="0">
                <a:solidFill>
                  <a:srgbClr val="F2F1EC"/>
                </a:solidFill>
                <a:latin typeface="JetBrains Mono" pitchFamily="49" charset="0"/>
                <a:ea typeface="JetBrains Mono" pitchFamily="49" charset="-122"/>
                <a:cs typeface="JetBrains Mono" pitchFamily="49" charset="-120"/>
              </a:rPr>
              <a:t>AI</a:t>
            </a:r>
            <a:endParaRPr lang="en-US" sz="1400" dirty="0"/>
          </a:p>
        </p:txBody>
      </p:sp>
      <p:sp>
        <p:nvSpPr>
          <p:cNvPr id="13" name="Text 4"/>
          <p:cNvSpPr/>
          <p:nvPr/>
        </p:nvSpPr>
        <p:spPr>
          <a:xfrm>
            <a:off x="812800" y="4437311"/>
            <a:ext cx="510159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What can the agent do?</a:t>
            </a:r>
            <a:endParaRPr lang="en-US" sz="1800" dirty="0"/>
          </a:p>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Fit people around it.</a:t>
            </a:r>
            <a:endParaRPr lang="en-US" sz="1800" dirty="0"/>
          </a:p>
        </p:txBody>
      </p:sp>
      <p:sp>
        <p:nvSpPr>
          <p:cNvPr id="14" name="Text 5"/>
          <p:cNvSpPr/>
          <p:nvPr/>
        </p:nvSpPr>
        <p:spPr>
          <a:xfrm>
            <a:off x="64262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E8BD78"/>
                </a:solidFill>
                <a:latin typeface="JetBrains Mono" pitchFamily="49" charset="0"/>
                <a:ea typeface="JetBrains Mono" pitchFamily="49" charset="-122"/>
                <a:cs typeface="JetBrains Mono" pitchFamily="49" charset="-120"/>
              </a:rPr>
              <a:t>HUMAN-CENTRED</a:t>
            </a:r>
            <a:endParaRPr lang="en-US" sz="1200" dirty="0"/>
          </a:p>
        </p:txBody>
      </p:sp>
      <p:pic>
        <p:nvPicPr>
          <p:cNvPr id="15" name="Image 7" descr="ellipse">    </p:cNvPr>
          <p:cNvPicPr>
            <a:picLocks noChangeAspect="1"/>
          </p:cNvPicPr>
          <p:nvPr/>
        </p:nvPicPr>
        <p:blipFill>
          <a:blip r:embed="rId8"/>
          <a:srcRect l="0" r="0" t="0" b="0"/>
          <a:stretch/>
        </p:blipFill>
        <p:spPr>
          <a:xfrm>
            <a:off x="7886700" y="2151311"/>
            <a:ext cx="2032000" cy="2032000"/>
          </a:xfrm>
          <a:prstGeom prst="rect">
            <a:avLst/>
          </a:prstGeom>
        </p:spPr>
      </p:pic>
      <p:pic>
        <p:nvPicPr>
          <p:cNvPr id="16" name="Image 8" descr="ellipse">    </p:cNvPr>
          <p:cNvPicPr>
            <a:picLocks noChangeAspect="1"/>
          </p:cNvPicPr>
          <p:nvPr/>
        </p:nvPicPr>
        <p:blipFill>
          <a:blip r:embed="rId9"/>
          <a:srcRect l="0" r="0" t="0" b="0"/>
          <a:stretch/>
        </p:blipFill>
        <p:spPr>
          <a:xfrm>
            <a:off x="8775700" y="2024311"/>
            <a:ext cx="254000" cy="254000"/>
          </a:xfrm>
          <a:prstGeom prst="rect">
            <a:avLst/>
          </a:prstGeom>
        </p:spPr>
      </p:pic>
      <p:pic>
        <p:nvPicPr>
          <p:cNvPr id="17" name="Image 9" descr="rect">    </p:cNvPr>
          <p:cNvPicPr>
            <a:picLocks noChangeAspect="1"/>
          </p:cNvPicPr>
          <p:nvPr/>
        </p:nvPicPr>
        <p:blipFill>
          <a:blip r:embed="rId10"/>
          <a:srcRect l="0" r="0" t="0" b="0"/>
          <a:stretch/>
        </p:blipFill>
        <p:spPr>
          <a:xfrm>
            <a:off x="9671050" y="2545011"/>
            <a:ext cx="228600" cy="228600"/>
          </a:xfrm>
          <a:prstGeom prst="rect">
            <a:avLst/>
          </a:prstGeom>
        </p:spPr>
      </p:pic>
      <p:pic>
        <p:nvPicPr>
          <p:cNvPr id="18" name="Image 10" descr="ellipse">    </p:cNvPr>
          <p:cNvPicPr>
            <a:picLocks noChangeAspect="1"/>
          </p:cNvPicPr>
          <p:nvPr/>
        </p:nvPicPr>
        <p:blipFill>
          <a:blip r:embed="rId11"/>
          <a:srcRect l="0" r="0" t="0" b="0"/>
          <a:stretch/>
        </p:blipFill>
        <p:spPr>
          <a:xfrm>
            <a:off x="9658350" y="3548311"/>
            <a:ext cx="254000" cy="254000"/>
          </a:xfrm>
          <a:prstGeom prst="rect">
            <a:avLst/>
          </a:prstGeom>
        </p:spPr>
      </p:pic>
      <p:pic>
        <p:nvPicPr>
          <p:cNvPr id="19" name="Image 11" descr="Star">    </p:cNvPr>
          <p:cNvPicPr>
            <a:picLocks noChangeAspect="1"/>
          </p:cNvPicPr>
          <p:nvPr/>
        </p:nvPicPr>
        <p:blipFill>
          <a:blip r:embed="rId12"/>
          <a:srcRect l="0" r="0" t="0" b="0"/>
          <a:stretch/>
        </p:blipFill>
        <p:spPr>
          <a:xfrm>
            <a:off x="8763000" y="4043611"/>
            <a:ext cx="279400" cy="279400"/>
          </a:xfrm>
          <a:prstGeom prst="rect">
            <a:avLst/>
          </a:prstGeom>
        </p:spPr>
      </p:pic>
      <p:pic>
        <p:nvPicPr>
          <p:cNvPr id="20" name="Image 12" descr="ellipse">    </p:cNvPr>
          <p:cNvPicPr>
            <a:picLocks noChangeAspect="1"/>
          </p:cNvPicPr>
          <p:nvPr/>
        </p:nvPicPr>
        <p:blipFill>
          <a:blip r:embed="rId13"/>
          <a:srcRect l="0" r="0" t="0" b="0"/>
          <a:stretch/>
        </p:blipFill>
        <p:spPr>
          <a:xfrm>
            <a:off x="7893050" y="3548311"/>
            <a:ext cx="254000" cy="254000"/>
          </a:xfrm>
          <a:prstGeom prst="rect">
            <a:avLst/>
          </a:prstGeom>
        </p:spPr>
      </p:pic>
      <p:pic>
        <p:nvPicPr>
          <p:cNvPr id="21" name="Image 13" descr="rect">    </p:cNvPr>
          <p:cNvPicPr>
            <a:picLocks noChangeAspect="1"/>
          </p:cNvPicPr>
          <p:nvPr/>
        </p:nvPicPr>
        <p:blipFill>
          <a:blip r:embed="rId14"/>
          <a:srcRect l="0" r="0" t="0" b="0"/>
          <a:stretch/>
        </p:blipFill>
        <p:spPr>
          <a:xfrm>
            <a:off x="7905750" y="2545011"/>
            <a:ext cx="228600" cy="228600"/>
          </a:xfrm>
          <a:prstGeom prst="rect">
            <a:avLst/>
          </a:prstGeom>
        </p:spPr>
      </p:pic>
      <p:sp>
        <p:nvSpPr>
          <p:cNvPr id="22" name="Text 6"/>
          <p:cNvSpPr/>
          <p:nvPr/>
        </p:nvSpPr>
        <p:spPr>
          <a:xfrm>
            <a:off x="8505825" y="2770436"/>
            <a:ext cx="793750" cy="794246"/>
          </a:xfrm>
          <a:custGeom>
            <a:avLst/>
            <a:gdLst/>
            <a:ahLst/>
            <a:cxnLst/>
            <a:rect l="l" t="t" r="r" b="b"/>
            <a:pathLst>
              <a:path w="793750" h="794246">
                <a:moveTo>
                  <a:pt x="396875" y="0"/>
                </a:moveTo>
                <a:lnTo>
                  <a:pt x="396875" y="0"/>
                </a:lnTo>
                <a:arcTo hR="396875" wR="396875" stAng="16200000" swAng="5400000"/>
                <a:lnTo>
                  <a:pt x="793750" y="397371"/>
                </a:lnTo>
                <a:arcTo hR="396875" wR="396875" stAng="0" swAng="5400000"/>
                <a:lnTo>
                  <a:pt x="396875" y="794246"/>
                </a:lnTo>
                <a:arcTo hR="396875" wR="396875" stAng="5400000" swAng="5400000"/>
                <a:lnTo>
                  <a:pt x="0" y="396875"/>
                </a:lnTo>
                <a:arcTo hR="396875" wR="396875" stAng="10800000" swAng="5400000"/>
                <a:close/>
              </a:path>
            </a:pathLst>
          </a:custGeom>
          <a:solidFill>
            <a:srgbClr val="7FD9C4"/>
          </a:solidFill>
          <a:ln w="19050">
            <a:solidFill>
              <a:srgbClr val="7FD9C4"/>
            </a:solidFill>
            <a:prstDash val="solid"/>
          </a:ln>
        </p:spPr>
        <p:txBody>
          <a:bodyPr wrap="square" lIns="0" tIns="276225" rIns="0" bIns="250825" rtlCol="0" anchor="t">
            <a:normAutofit/>
          </a:bodyPr>
          <a:lstStyle/>
          <a:p>
            <a:pPr algn="ctr" indent="0" marL="0">
              <a:lnSpc>
                <a:spcPts val="1904"/>
              </a:lnSpc>
              <a:buNone/>
            </a:pPr>
            <a:r>
              <a:rPr lang="en-US" sz="1400" b="1" dirty="0">
                <a:solidFill>
                  <a:srgbClr val="0B0B0A"/>
                </a:solidFill>
                <a:latin typeface="JetBrains Mono" pitchFamily="49" charset="0"/>
                <a:ea typeface="JetBrains Mono" pitchFamily="49" charset="-122"/>
                <a:cs typeface="JetBrains Mono" pitchFamily="49" charset="-120"/>
              </a:rPr>
              <a:t>ME</a:t>
            </a:r>
            <a:endParaRPr lang="en-US" sz="1400" dirty="0"/>
          </a:p>
        </p:txBody>
      </p:sp>
      <p:sp>
        <p:nvSpPr>
          <p:cNvPr id="23" name="Text 7"/>
          <p:cNvSpPr/>
          <p:nvPr/>
        </p:nvSpPr>
        <p:spPr>
          <a:xfrm>
            <a:off x="6426200" y="4437311"/>
            <a:ext cx="510159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What do people need?</a:t>
            </a:r>
            <a:endParaRPr lang="en-US" sz="1800" dirty="0"/>
          </a:p>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Fit AI where it helps.</a:t>
            </a:r>
            <a:endParaRPr lang="en-US" sz="1800" dirty="0"/>
          </a:p>
        </p:txBody>
      </p:sp>
      <p:sp>
        <p:nvSpPr>
          <p:cNvPr id="24" name="Text 8"/>
          <p:cNvSpPr/>
          <p:nvPr/>
        </p:nvSpPr>
        <p:spPr>
          <a:xfrm>
            <a:off x="812800" y="5275511"/>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Our edge is a human-centred perspective.</a:t>
            </a:r>
            <a:endParaRPr lang="en-US" sz="2000" dirty="0"/>
          </a:p>
        </p:txBody>
      </p:sp>
      <p:sp>
        <p:nvSpPr>
          <p:cNvPr id="25" name="Text 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NORMAN, 2023 · SHNEIDERMAN, 2022</a:t>
            </a:r>
            <a:endParaRPr lang="en-US" sz="1200" dirty="0"/>
          </a:p>
        </p:txBody>
      </p:sp>
      <p:sp>
        <p:nvSpPr>
          <p:cNvPr id="26" name="Text 1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31 / 34</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CRAFT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Craft matters more than ever</a:t>
            </a:r>
            <a:endParaRPr lang="en-US" sz="3600" dirty="0"/>
          </a:p>
        </p:txBody>
      </p:sp>
      <p:sp>
        <p:nvSpPr>
          <p:cNvPr id="4" name="Shape 2"/>
          <p:cNvSpPr/>
          <p:nvPr/>
        </p:nvSpPr>
        <p:spPr>
          <a:xfrm>
            <a:off x="815975" y="2042815"/>
            <a:ext cx="4438650" cy="999430"/>
          </a:xfrm>
          <a:prstGeom prst="roundRect">
            <a:avLst>
              <a:gd name="adj" fmla="val 4765"/>
            </a:avLst>
          </a:prstGeom>
          <a:noFill/>
          <a:ln w="6350">
            <a:solidFill>
              <a:srgbClr val="33332F"/>
            </a:solidFill>
            <a:prstDash val="solid"/>
          </a:ln>
        </p:spPr>
      </p:sp>
      <p:sp>
        <p:nvSpPr>
          <p:cNvPr id="5" name="Text 3"/>
          <p:cNvSpPr/>
          <p:nvPr/>
        </p:nvSpPr>
        <p:spPr>
          <a:xfrm>
            <a:off x="1022350" y="2249190"/>
            <a:ext cx="41466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GENERATED</a:t>
            </a:r>
            <a:endParaRPr lang="en-US" sz="1200" dirty="0"/>
          </a:p>
        </p:txBody>
      </p:sp>
      <p:sp>
        <p:nvSpPr>
          <p:cNvPr id="6" name="Text 4"/>
          <p:cNvSpPr/>
          <p:nvPr/>
        </p:nvSpPr>
        <p:spPr>
          <a:xfrm>
            <a:off x="1022350" y="2538710"/>
            <a:ext cx="4146677"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Fast · Cheap · Everywhere</a:t>
            </a:r>
            <a:endParaRPr lang="en-US" sz="1800" dirty="0"/>
          </a:p>
        </p:txBody>
      </p:sp>
      <p:sp>
        <p:nvSpPr>
          <p:cNvPr id="7" name="Shape 5"/>
          <p:cNvSpPr/>
          <p:nvPr/>
        </p:nvSpPr>
        <p:spPr>
          <a:xfrm>
            <a:off x="815975" y="3200995"/>
            <a:ext cx="4438650" cy="1593751"/>
          </a:xfrm>
          <a:prstGeom prst="roundRect">
            <a:avLst>
              <a:gd name="adj" fmla="val 2988"/>
            </a:avLst>
          </a:prstGeom>
          <a:noFill/>
          <a:ln w="6350">
            <a:solidFill>
              <a:srgbClr val="E8BD78"/>
            </a:solidFill>
            <a:prstDash val="solid"/>
          </a:ln>
        </p:spPr>
      </p:sp>
      <p:sp>
        <p:nvSpPr>
          <p:cNvPr id="8" name="Text 6"/>
          <p:cNvSpPr/>
          <p:nvPr/>
        </p:nvSpPr>
        <p:spPr>
          <a:xfrm>
            <a:off x="1022350" y="3407370"/>
            <a:ext cx="41466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CRAFTED</a:t>
            </a:r>
            <a:endParaRPr lang="en-US" sz="1200" dirty="0"/>
          </a:p>
        </p:txBody>
      </p:sp>
      <p:sp>
        <p:nvSpPr>
          <p:cNvPr id="9" name="Text 7"/>
          <p:cNvSpPr/>
          <p:nvPr/>
        </p:nvSpPr>
        <p:spPr>
          <a:xfrm>
            <a:off x="1022350" y="3696891"/>
            <a:ext cx="4146677"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Conscious choices · Good information · Lived experience</a:t>
            </a:r>
            <a:endParaRPr lang="en-US" sz="1800" dirty="0"/>
          </a:p>
        </p:txBody>
      </p:sp>
      <p:sp>
        <p:nvSpPr>
          <p:cNvPr id="10" name="Text 8"/>
          <p:cNvSpPr/>
          <p:nvPr/>
        </p:nvSpPr>
        <p:spPr>
          <a:xfrm>
            <a:off x="6019800" y="2275780"/>
            <a:ext cx="235458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FF6A4D"/>
                </a:solidFill>
                <a:latin typeface="JetBrains Mono" pitchFamily="49" charset="0"/>
                <a:ea typeface="JetBrains Mono" pitchFamily="49" charset="-122"/>
                <a:cs typeface="JetBrains Mono" pitchFamily="49" charset="-120"/>
              </a:rPr>
              <a:t>TRUST IN AI</a:t>
            </a:r>
            <a:endParaRPr lang="en-US" sz="1200" dirty="0"/>
          </a:p>
        </p:txBody>
      </p:sp>
      <p:pic>
        <p:nvPicPr>
          <p:cNvPr id="11" name="Image 0" descr="rect">    </p:cNvPr>
          <p:cNvPicPr>
            <a:picLocks noChangeAspect="1"/>
          </p:cNvPicPr>
          <p:nvPr/>
        </p:nvPicPr>
        <p:blipFill>
          <a:blip r:embed="rId1"/>
          <a:srcRect l="0" r="0" t="0" b="0"/>
          <a:stretch/>
        </p:blipFill>
        <p:spPr>
          <a:xfrm>
            <a:off x="6019800" y="2656780"/>
            <a:ext cx="19050" cy="1524000"/>
          </a:xfrm>
          <a:prstGeom prst="rect">
            <a:avLst/>
          </a:prstGeom>
        </p:spPr>
      </p:pic>
      <p:pic>
        <p:nvPicPr>
          <p:cNvPr id="12" name="Image 1" descr="rect">    </p:cNvPr>
          <p:cNvPicPr>
            <a:picLocks noChangeAspect="1"/>
          </p:cNvPicPr>
          <p:nvPr/>
        </p:nvPicPr>
        <p:blipFill>
          <a:blip r:embed="rId2"/>
          <a:srcRect l="0" r="0" t="0" b="0"/>
          <a:stretch/>
        </p:blipFill>
        <p:spPr>
          <a:xfrm>
            <a:off x="6019800" y="4161730"/>
            <a:ext cx="2159000" cy="19050"/>
          </a:xfrm>
          <a:prstGeom prst="rect">
            <a:avLst/>
          </a:prstGeom>
        </p:spPr>
      </p:pic>
      <p:sp>
        <p:nvSpPr>
          <p:cNvPr id="13" name="Text 9"/>
          <p:cNvSpPr/>
          <p:nvPr/>
        </p:nvSpPr>
        <p:spPr>
          <a:xfrm>
            <a:off x="6096000" y="2605980"/>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Critical thinking</a:t>
            </a:r>
            <a:endParaRPr lang="en-US" sz="1200" dirty="0"/>
          </a:p>
        </p:txBody>
      </p:sp>
      <p:sp>
        <p:nvSpPr>
          <p:cNvPr id="14" name="Text 10"/>
          <p:cNvSpPr/>
          <p:nvPr/>
        </p:nvSpPr>
        <p:spPr>
          <a:xfrm>
            <a:off x="6019800" y="4256980"/>
            <a:ext cx="2590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More confidence in AI →</a:t>
            </a:r>
            <a:endParaRPr lang="en-US" sz="1200" dirty="0"/>
          </a:p>
        </p:txBody>
      </p:sp>
      <p:pic>
        <p:nvPicPr>
          <p:cNvPr id="15" name="Image 2" descr="connector">    </p:cNvPr>
          <p:cNvPicPr>
            <a:picLocks noChangeAspect="1"/>
          </p:cNvPicPr>
          <p:nvPr/>
        </p:nvPicPr>
        <p:blipFill>
          <a:blip r:embed="rId3"/>
          <a:srcRect l="0" r="0" t="0" b="0"/>
          <a:stretch/>
        </p:blipFill>
        <p:spPr>
          <a:xfrm>
            <a:off x="6146800" y="2910780"/>
            <a:ext cx="1968500" cy="1016000"/>
          </a:xfrm>
          <a:prstGeom prst="rect">
            <a:avLst/>
          </a:prstGeom>
        </p:spPr>
      </p:pic>
      <p:sp>
        <p:nvSpPr>
          <p:cNvPr id="16" name="Text 11"/>
          <p:cNvSpPr/>
          <p:nvPr/>
        </p:nvSpPr>
        <p:spPr>
          <a:xfrm>
            <a:off x="8686800" y="2275780"/>
            <a:ext cx="235458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7FD9C4"/>
                </a:solidFill>
                <a:latin typeface="JetBrains Mono" pitchFamily="49" charset="0"/>
                <a:ea typeface="JetBrains Mono" pitchFamily="49" charset="-122"/>
                <a:cs typeface="JetBrains Mono" pitchFamily="49" charset="-120"/>
              </a:rPr>
              <a:t>TRUST IN YOURSELF</a:t>
            </a:r>
            <a:endParaRPr lang="en-US" sz="1200" dirty="0"/>
          </a:p>
        </p:txBody>
      </p:sp>
      <p:pic>
        <p:nvPicPr>
          <p:cNvPr id="17" name="Image 3" descr="rect">    </p:cNvPr>
          <p:cNvPicPr>
            <a:picLocks noChangeAspect="1"/>
          </p:cNvPicPr>
          <p:nvPr/>
        </p:nvPicPr>
        <p:blipFill>
          <a:blip r:embed="rId4"/>
          <a:srcRect l="0" r="0" t="0" b="0"/>
          <a:stretch/>
        </p:blipFill>
        <p:spPr>
          <a:xfrm>
            <a:off x="8686800" y="2656780"/>
            <a:ext cx="19050" cy="1524000"/>
          </a:xfrm>
          <a:prstGeom prst="rect">
            <a:avLst/>
          </a:prstGeom>
        </p:spPr>
      </p:pic>
      <p:pic>
        <p:nvPicPr>
          <p:cNvPr id="18" name="Image 4" descr="rect">    </p:cNvPr>
          <p:cNvPicPr>
            <a:picLocks noChangeAspect="1"/>
          </p:cNvPicPr>
          <p:nvPr/>
        </p:nvPicPr>
        <p:blipFill>
          <a:blip r:embed="rId5"/>
          <a:srcRect l="0" r="0" t="0" b="0"/>
          <a:stretch/>
        </p:blipFill>
        <p:spPr>
          <a:xfrm>
            <a:off x="8686800" y="4161730"/>
            <a:ext cx="2159000" cy="19050"/>
          </a:xfrm>
          <a:prstGeom prst="rect">
            <a:avLst/>
          </a:prstGeom>
        </p:spPr>
      </p:pic>
      <p:sp>
        <p:nvSpPr>
          <p:cNvPr id="19" name="Text 12"/>
          <p:cNvSpPr/>
          <p:nvPr/>
        </p:nvSpPr>
        <p:spPr>
          <a:xfrm>
            <a:off x="8763000" y="2605980"/>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Critical thinking</a:t>
            </a:r>
            <a:endParaRPr lang="en-US" sz="1200" dirty="0"/>
          </a:p>
        </p:txBody>
      </p:sp>
      <p:sp>
        <p:nvSpPr>
          <p:cNvPr id="20" name="Text 13"/>
          <p:cNvSpPr/>
          <p:nvPr/>
        </p:nvSpPr>
        <p:spPr>
          <a:xfrm>
            <a:off x="8686800" y="4256980"/>
            <a:ext cx="222377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More self-confidence →</a:t>
            </a:r>
            <a:endParaRPr lang="en-US" sz="1200" dirty="0"/>
          </a:p>
        </p:txBody>
      </p:sp>
      <p:pic>
        <p:nvPicPr>
          <p:cNvPr id="21" name="Image 5" descr="connector">    </p:cNvPr>
          <p:cNvPicPr>
            <a:picLocks noChangeAspect="1"/>
          </p:cNvPicPr>
          <p:nvPr/>
        </p:nvPicPr>
        <p:blipFill>
          <a:blip r:embed="rId6"/>
          <a:srcRect l="0" r="0" t="0" b="0"/>
          <a:stretch/>
        </p:blipFill>
        <p:spPr>
          <a:xfrm>
            <a:off x="8813800" y="2910780"/>
            <a:ext cx="1968500" cy="1016000"/>
          </a:xfrm>
          <a:prstGeom prst="rect">
            <a:avLst/>
          </a:prstGeom>
        </p:spPr>
      </p:pic>
      <p:sp>
        <p:nvSpPr>
          <p:cNvPr id="22" name="Text 14"/>
          <p:cNvSpPr/>
          <p:nvPr/>
        </p:nvSpPr>
        <p:spPr>
          <a:xfrm>
            <a:off x="812800" y="5207000"/>
            <a:ext cx="1088339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Craft is knowing you’re making choices, and making them with good information.</a:t>
            </a:r>
            <a:endParaRPr lang="en-US" sz="2000" dirty="0"/>
          </a:p>
        </p:txBody>
      </p:sp>
      <p:sp>
        <p:nvSpPr>
          <p:cNvPr id="23" name="Text 15"/>
          <p:cNvSpPr/>
          <p:nvPr/>
        </p:nvSpPr>
        <p:spPr>
          <a:xfrm>
            <a:off x="812800" y="6238280"/>
            <a:ext cx="649837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LEE ET AL., CHI 2025 · DIRECTION OF EFFECT, NOT DATA</a:t>
            </a:r>
            <a:endParaRPr lang="en-US" sz="1200" dirty="0"/>
          </a:p>
        </p:txBody>
      </p:sp>
      <p:sp>
        <p:nvSpPr>
          <p:cNvPr id="24"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32 / 34</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A"/>
        </a:solidFill>
      </p:bgPr>
    </p:bg>
    <p:spTree>
      <p:nvGrpSpPr>
        <p:cNvPr id="1" name=""/>
        <p:cNvGrpSpPr/>
        <p:nvPr/>
      </p:nvGrpSpPr>
      <p:grpSpPr>
        <a:xfrm>
          <a:off x="0" y="0"/>
          <a:ext cx="0" cy="0"/>
          <a:chOff x="0" y="0"/>
          <a:chExt cx="0" cy="0"/>
        </a:xfrm>
      </p:grpSpPr>
      <p:pic>
        <p:nvPicPr>
          <p:cNvPr id="2" name="Image 0" descr="A small social graph. Me in the centre, linked to Mom and Dad. Mom is linked to ChatGPT and Dad to Suno, each by two parallel lines: a teal line for what the tool opens up, and a red line for what it can co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CLOSING · BACK TO THE MAP</a:t>
            </a:r>
            <a:endParaRPr lang="en-US" sz="1200" dirty="0"/>
          </a:p>
        </p:txBody>
      </p:sp>
      <p:sp>
        <p:nvSpPr>
          <p:cNvPr id="4" name="Text 1"/>
          <p:cNvSpPr/>
          <p:nvPr>
            <p:ph type="title"/>
          </p:nvPr>
        </p:nvSpPr>
        <p:spPr>
          <a:xfrm>
            <a:off x="812800" y="1127720"/>
            <a:ext cx="3924300"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Which line wins?</a:t>
            </a:r>
            <a:endParaRPr lang="en-US" sz="3600" dirty="0"/>
          </a:p>
        </p:txBody>
      </p:sp>
      <p:sp>
        <p:nvSpPr>
          <p:cNvPr id="5" name="Text 2"/>
          <p:cNvSpPr/>
          <p:nvPr/>
        </p:nvSpPr>
        <p:spPr>
          <a:xfrm>
            <a:off x="812800" y="2387501"/>
            <a:ext cx="3924300"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My map still has both lines. Picture yours. What future do we want, and how do we get there?</a:t>
            </a:r>
            <a:endParaRPr lang="en-US" sz="1600" dirty="0"/>
          </a:p>
        </p:txBody>
      </p:sp>
      <p:sp>
        <p:nvSpPr>
          <p:cNvPr id="6" name="Shape 3"/>
          <p:cNvSpPr/>
          <p:nvPr/>
        </p:nvSpPr>
        <p:spPr>
          <a:xfrm>
            <a:off x="812800" y="3741837"/>
            <a:ext cx="3810000" cy="0"/>
          </a:xfrm>
          <a:prstGeom prst="line">
            <a:avLst/>
          </a:prstGeom>
          <a:noFill/>
          <a:ln w="6350">
            <a:solidFill>
              <a:srgbClr val="2A2A28"/>
            </a:solidFill>
            <a:prstDash val="solid"/>
          </a:ln>
        </p:spPr>
      </p:sp>
      <p:sp>
        <p:nvSpPr>
          <p:cNvPr id="7" name="Shape 4"/>
          <p:cNvSpPr/>
          <p:nvPr/>
        </p:nvSpPr>
        <p:spPr>
          <a:xfrm>
            <a:off x="812800" y="4581227"/>
            <a:ext cx="3810000" cy="0"/>
          </a:xfrm>
          <a:prstGeom prst="line">
            <a:avLst/>
          </a:prstGeom>
          <a:noFill/>
          <a:ln w="6350">
            <a:solidFill>
              <a:srgbClr val="2A2A28"/>
            </a:solidFill>
            <a:prstDash val="solid"/>
          </a:ln>
        </p:spPr>
      </p:sp>
      <p:sp>
        <p:nvSpPr>
          <p:cNvPr id="8" name="Shape 5"/>
          <p:cNvSpPr/>
          <p:nvPr/>
        </p:nvSpPr>
        <p:spPr>
          <a:xfrm>
            <a:off x="812800" y="3988197"/>
            <a:ext cx="355600" cy="31750"/>
          </a:xfrm>
          <a:prstGeom prst="rect">
            <a:avLst/>
          </a:prstGeom>
          <a:solidFill>
            <a:srgbClr val="7FD9C4"/>
          </a:solidFill>
          <a:ln/>
        </p:spPr>
      </p:sp>
      <p:sp>
        <p:nvSpPr>
          <p:cNvPr id="9" name="Text 6"/>
          <p:cNvSpPr/>
          <p:nvPr/>
        </p:nvSpPr>
        <p:spPr>
          <a:xfrm>
            <a:off x="1295400" y="3897412"/>
            <a:ext cx="16246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D9C4"/>
                </a:solidFill>
                <a:latin typeface="JetBrains Mono" pitchFamily="49" charset="0"/>
                <a:ea typeface="JetBrains Mono" pitchFamily="49" charset="-122"/>
                <a:cs typeface="JetBrains Mono" pitchFamily="49" charset="-120"/>
              </a:rPr>
              <a:t>WHAT IT OPENS</a:t>
            </a:r>
            <a:endParaRPr lang="en-US" sz="1200" dirty="0"/>
          </a:p>
        </p:txBody>
      </p:sp>
      <p:sp>
        <p:nvSpPr>
          <p:cNvPr id="10" name="Shape 7"/>
          <p:cNvSpPr/>
          <p:nvPr/>
        </p:nvSpPr>
        <p:spPr>
          <a:xfrm>
            <a:off x="812800" y="4303117"/>
            <a:ext cx="355600" cy="31750"/>
          </a:xfrm>
          <a:prstGeom prst="rect">
            <a:avLst/>
          </a:prstGeom>
          <a:solidFill>
            <a:srgbClr val="FF6A4D"/>
          </a:solidFill>
          <a:ln/>
        </p:spPr>
      </p:sp>
      <p:sp>
        <p:nvSpPr>
          <p:cNvPr id="11" name="Text 8"/>
          <p:cNvSpPr/>
          <p:nvPr/>
        </p:nvSpPr>
        <p:spPr>
          <a:xfrm>
            <a:off x="1295400" y="4212332"/>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6A4D"/>
                </a:solidFill>
                <a:latin typeface="JetBrains Mono" pitchFamily="49" charset="0"/>
                <a:ea typeface="JetBrains Mono" pitchFamily="49" charset="-122"/>
                <a:cs typeface="JetBrains Mono" pitchFamily="49" charset="-120"/>
              </a:rPr>
              <a:t>WHAT IT CAN COST</a:t>
            </a:r>
            <a:endParaRPr lang="en-US" sz="1200" dirty="0"/>
          </a:p>
        </p:txBody>
      </p:sp>
      <p:sp>
        <p:nvSpPr>
          <p:cNvPr id="12" name="Text 9"/>
          <p:cNvSpPr/>
          <p:nvPr/>
        </p:nvSpPr>
        <p:spPr>
          <a:xfrm>
            <a:off x="5221982" y="3276898"/>
            <a:ext cx="985986" cy="303510"/>
          </a:xfrm>
          <a:custGeom>
            <a:avLst/>
            <a:gdLst/>
            <a:ahLst/>
            <a:cxnLst/>
            <a:rect l="l" t="t" r="r" b="b"/>
            <a:pathLst>
              <a:path w="985986" h="303510">
                <a:moveTo>
                  <a:pt x="151755" y="0"/>
                </a:moveTo>
                <a:lnTo>
                  <a:pt x="834231" y="0"/>
                </a:lnTo>
                <a:arcTo hR="151755" wR="151755" stAng="16200000" swAng="5400000"/>
                <a:lnTo>
                  <a:pt x="985986" y="151755"/>
                </a:lnTo>
                <a:arcTo hR="151755" wR="151755" stAng="0" swAng="5400000"/>
                <a:lnTo>
                  <a:pt x="151755" y="303510"/>
                </a:lnTo>
                <a:arcTo hR="151755" wR="151755" stAng="5400000" swAng="5400000"/>
                <a:lnTo>
                  <a:pt x="0" y="151755"/>
                </a:lnTo>
                <a:arcTo hR="151755" wR="151755" stAng="10800000" swAng="5400000"/>
                <a:close/>
              </a:path>
            </a:pathLst>
          </a:custGeom>
          <a:solidFill>
            <a:srgbClr val="E8BD78"/>
          </a:solidFill>
          <a:ln w="19050">
            <a:solidFill>
              <a:srgbClr val="E8BD78"/>
            </a:solidFill>
            <a:prstDash val="solid"/>
          </a:ln>
        </p:spPr>
        <p:txBody>
          <a:bodyPr wrap="square" lIns="0" tIns="9525" rIns="0" bIns="0" rtlCol="0" anchor="t">
            <a:normAutofit/>
          </a:bodyPr>
          <a:lstStyle/>
          <a:p>
            <a:pPr algn="ctr" indent="0" marL="0">
              <a:lnSpc>
                <a:spcPts val="2240"/>
              </a:lnSpc>
              <a:buNone/>
            </a:pPr>
            <a:r>
              <a:rPr lang="en-US" sz="1600" b="1" dirty="0">
                <a:solidFill>
                  <a:srgbClr val="0B0B0A"/>
                </a:solidFill>
                <a:latin typeface="JetBrains Mono" pitchFamily="49" charset="0"/>
                <a:ea typeface="JetBrains Mono" pitchFamily="49" charset="-122"/>
                <a:cs typeface="JetBrains Mono" pitchFamily="49" charset="-120"/>
              </a:rPr>
              <a:t>ME</a:t>
            </a:r>
            <a:endParaRPr lang="en-US" sz="1600" dirty="0"/>
          </a:p>
        </p:txBody>
      </p:sp>
      <p:sp>
        <p:nvSpPr>
          <p:cNvPr id="13" name="Text 10"/>
          <p:cNvSpPr/>
          <p:nvPr/>
        </p:nvSpPr>
        <p:spPr>
          <a:xfrm>
            <a:off x="4927600" y="3911600"/>
            <a:ext cx="1574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Designer who</a:t>
            </a:r>
            <a:endParaRPr lang="en-US" sz="1200" dirty="0"/>
          </a:p>
          <a:p>
            <a:pPr algn="ctr"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studies this</a:t>
            </a:r>
            <a:endParaRPr lang="en-US" sz="1200" dirty="0"/>
          </a:p>
        </p:txBody>
      </p:sp>
      <p:sp>
        <p:nvSpPr>
          <p:cNvPr id="14" name="Text 11"/>
          <p:cNvSpPr/>
          <p:nvPr/>
        </p:nvSpPr>
        <p:spPr>
          <a:xfrm>
            <a:off x="7375525" y="1533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MOM</a:t>
            </a:r>
            <a:endParaRPr lang="en-US" sz="1400" dirty="0"/>
          </a:p>
        </p:txBody>
      </p:sp>
      <p:sp>
        <p:nvSpPr>
          <p:cNvPr id="15" name="Text 12"/>
          <p:cNvSpPr/>
          <p:nvPr/>
        </p:nvSpPr>
        <p:spPr>
          <a:xfrm>
            <a:off x="7375525" y="4454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DAD</a:t>
            </a:r>
            <a:endParaRPr lang="en-US" sz="1400" dirty="0"/>
          </a:p>
        </p:txBody>
      </p:sp>
      <p:sp>
        <p:nvSpPr>
          <p:cNvPr id="16" name="Text 13"/>
          <p:cNvSpPr/>
          <p:nvPr/>
        </p:nvSpPr>
        <p:spPr>
          <a:xfrm>
            <a:off x="9661525" y="1660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F2F1EC"/>
                </a:solidFill>
                <a:latin typeface="JetBrains Mono" pitchFamily="49" charset="0"/>
                <a:ea typeface="JetBrains Mono" pitchFamily="49" charset="-122"/>
                <a:cs typeface="JetBrains Mono" pitchFamily="49" charset="-120"/>
              </a:rPr>
              <a:t>★ ChatGPT</a:t>
            </a:r>
            <a:endParaRPr lang="en-US" sz="1400" dirty="0"/>
          </a:p>
        </p:txBody>
      </p:sp>
      <p:sp>
        <p:nvSpPr>
          <p:cNvPr id="17" name="Text 14"/>
          <p:cNvSpPr/>
          <p:nvPr/>
        </p:nvSpPr>
        <p:spPr>
          <a:xfrm>
            <a:off x="9661525" y="4581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F2F1EC"/>
                </a:solidFill>
                <a:latin typeface="JetBrains Mono" pitchFamily="49" charset="0"/>
                <a:ea typeface="JetBrains Mono" pitchFamily="49" charset="-122"/>
                <a:cs typeface="JetBrains Mono" pitchFamily="49" charset="-120"/>
              </a:rPr>
              <a:t>★ Suno</a:t>
            </a:r>
            <a:endParaRPr lang="en-US" sz="1400" dirty="0"/>
          </a:p>
        </p:txBody>
      </p:sp>
      <p:sp>
        <p:nvSpPr>
          <p:cNvPr id="18" name="Text 15"/>
          <p:cNvSpPr/>
          <p:nvPr/>
        </p:nvSpPr>
        <p:spPr>
          <a:xfrm>
            <a:off x="8191500" y="1270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Help in her</a:t>
            </a:r>
            <a:endParaRPr lang="en-US" sz="1200" dirty="0"/>
          </a:p>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own language</a:t>
            </a:r>
            <a:endParaRPr lang="en-US" sz="1200" dirty="0"/>
          </a:p>
        </p:txBody>
      </p:sp>
      <p:sp>
        <p:nvSpPr>
          <p:cNvPr id="19" name="Text 16"/>
          <p:cNvSpPr/>
          <p:nvPr/>
        </p:nvSpPr>
        <p:spPr>
          <a:xfrm>
            <a:off x="8191500" y="20574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Emotional</a:t>
            </a:r>
            <a:endParaRPr lang="en-US" sz="1200" dirty="0"/>
          </a:p>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reliance</a:t>
            </a:r>
            <a:endParaRPr lang="en-US" sz="1200" dirty="0"/>
          </a:p>
        </p:txBody>
      </p:sp>
      <p:sp>
        <p:nvSpPr>
          <p:cNvPr id="20" name="Text 17"/>
          <p:cNvSpPr/>
          <p:nvPr/>
        </p:nvSpPr>
        <p:spPr>
          <a:xfrm>
            <a:off x="8191500" y="4191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A creative</a:t>
            </a:r>
            <a:endParaRPr lang="en-US" sz="1200" dirty="0"/>
          </a:p>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outlet</a:t>
            </a:r>
            <a:endParaRPr lang="en-US" sz="1200" dirty="0"/>
          </a:p>
        </p:txBody>
      </p:sp>
      <p:sp>
        <p:nvSpPr>
          <p:cNvPr id="21" name="Text 18"/>
          <p:cNvSpPr/>
          <p:nvPr/>
        </p:nvSpPr>
        <p:spPr>
          <a:xfrm>
            <a:off x="8191500" y="4978400"/>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Designed to</a:t>
            </a:r>
            <a:endParaRPr lang="en-US" sz="1200" dirty="0"/>
          </a:p>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keep you going</a:t>
            </a:r>
            <a:endParaRPr lang="en-US" sz="1200" dirty="0"/>
          </a:p>
        </p:txBody>
      </p:sp>
      <p:sp>
        <p:nvSpPr>
          <p:cNvPr id="22" name="Text 19"/>
          <p:cNvSpPr/>
          <p:nvPr/>
        </p:nvSpPr>
        <p:spPr>
          <a:xfrm>
            <a:off x="812800" y="6238280"/>
            <a:ext cx="487418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CIRCLES: PEOPLE · SQUARES: TOOLS · ★ AI</a:t>
            </a:r>
            <a:endParaRPr lang="en-US" sz="1200" dirty="0"/>
          </a:p>
        </p:txBody>
      </p:sp>
      <p:sp>
        <p:nvSpPr>
          <p:cNvPr id="23" name="Text 2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33 / 34</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WHERE TO START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research already exists</a:t>
            </a:r>
            <a:endParaRPr lang="en-US" sz="3600" dirty="0"/>
          </a:p>
        </p:txBody>
      </p:sp>
      <p:sp>
        <p:nvSpPr>
          <p:cNvPr id="4" name="Shape 2"/>
          <p:cNvSpPr/>
          <p:nvPr/>
        </p:nvSpPr>
        <p:spPr>
          <a:xfrm>
            <a:off x="812800" y="1884611"/>
            <a:ext cx="2451100" cy="25400"/>
          </a:xfrm>
          <a:prstGeom prst="rect">
            <a:avLst/>
          </a:prstGeom>
          <a:solidFill>
            <a:srgbClr val="7FD9C4"/>
          </a:solidFill>
          <a:ln/>
        </p:spPr>
      </p:sp>
      <p:sp>
        <p:nvSpPr>
          <p:cNvPr id="5" name="Text 3"/>
          <p:cNvSpPr/>
          <p:nvPr/>
        </p:nvSpPr>
        <p:spPr>
          <a:xfrm>
            <a:off x="8128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HUMAN–AI &amp; WELLBEING</a:t>
            </a:r>
            <a:endParaRPr lang="en-US" sz="1200" dirty="0"/>
          </a:p>
        </p:txBody>
      </p:sp>
      <p:sp>
        <p:nvSpPr>
          <p:cNvPr id="6" name="Shape 4"/>
          <p:cNvSpPr/>
          <p:nvPr/>
        </p:nvSpPr>
        <p:spPr>
          <a:xfrm>
            <a:off x="812800" y="2329706"/>
            <a:ext cx="2451100" cy="0"/>
          </a:xfrm>
          <a:prstGeom prst="line">
            <a:avLst/>
          </a:prstGeom>
          <a:noFill/>
          <a:ln w="6350">
            <a:solidFill>
              <a:srgbClr val="2A2A28"/>
            </a:solidFill>
            <a:prstDash val="solid"/>
          </a:ln>
        </p:spPr>
      </p:sp>
      <p:sp>
        <p:nvSpPr>
          <p:cNvPr id="7" name="Text 5"/>
          <p:cNvSpPr/>
          <p:nvPr/>
        </p:nvSpPr>
        <p:spPr>
          <a:xfrm>
            <a:off x="8128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COPHEE</a:t>
            </a:r>
            <a:endParaRPr lang="en-US" sz="1400" dirty="0"/>
          </a:p>
        </p:txBody>
      </p:sp>
      <p:sp>
        <p:nvSpPr>
          <p:cNvPr id="8" name="Text 6"/>
          <p:cNvSpPr/>
          <p:nvPr/>
        </p:nvSpPr>
        <p:spPr>
          <a:xfrm>
            <a:off x="8128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NYU Tandon. Where I study, with Vedant Das Swain.</a:t>
            </a:r>
            <a:endParaRPr lang="en-US" sz="1200" dirty="0"/>
          </a:p>
        </p:txBody>
      </p:sp>
      <p:sp>
        <p:nvSpPr>
          <p:cNvPr id="9" name="Text 7"/>
          <p:cNvSpPr/>
          <p:nvPr/>
        </p:nvSpPr>
        <p:spPr>
          <a:xfrm>
            <a:off x="8128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7FD9C4"/>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cophee-lab.com</a:t>
            </a:r>
            <a:endParaRPr lang="en-US" sz="1200" dirty="0"/>
          </a:p>
        </p:txBody>
      </p:sp>
      <p:sp>
        <p:nvSpPr>
          <p:cNvPr id="10" name="Shape 8"/>
          <p:cNvSpPr/>
          <p:nvPr/>
        </p:nvSpPr>
        <p:spPr>
          <a:xfrm>
            <a:off x="812800" y="3473847"/>
            <a:ext cx="2451100" cy="0"/>
          </a:xfrm>
          <a:prstGeom prst="line">
            <a:avLst/>
          </a:prstGeom>
          <a:noFill/>
          <a:ln w="6350">
            <a:solidFill>
              <a:srgbClr val="2A2A28"/>
            </a:solidFill>
            <a:prstDash val="solid"/>
          </a:ln>
        </p:spPr>
      </p:sp>
      <p:sp>
        <p:nvSpPr>
          <p:cNvPr id="11" name="Text 9"/>
          <p:cNvSpPr/>
          <p:nvPr/>
        </p:nvSpPr>
        <p:spPr>
          <a:xfrm>
            <a:off x="8128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AHA</a:t>
            </a:r>
            <a:endParaRPr lang="en-US" sz="1400" dirty="0"/>
          </a:p>
        </p:txBody>
      </p:sp>
      <p:sp>
        <p:nvSpPr>
          <p:cNvPr id="12" name="Text 10"/>
          <p:cNvSpPr/>
          <p:nvPr/>
        </p:nvSpPr>
        <p:spPr>
          <a:xfrm>
            <a:off x="8128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MIT Media Lab. Living with pervasive AI.</a:t>
            </a:r>
            <a:endParaRPr lang="en-US" sz="1200" dirty="0"/>
          </a:p>
        </p:txBody>
      </p:sp>
      <p:sp>
        <p:nvSpPr>
          <p:cNvPr id="13" name="Text 11"/>
          <p:cNvSpPr/>
          <p:nvPr/>
        </p:nvSpPr>
        <p:spPr>
          <a:xfrm>
            <a:off x="8128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7FD9C4"/>
                </a:solidFill>
                <a:latin typeface="JetBrains Mono" pitchFamily="49" charset="0"/>
                <a:ea typeface="JetBrains Mono" pitchFamily="49" charset="-122"/>
                <a:cs typeface="JetBrains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aha.media.mit.edu</a:t>
            </a:r>
            <a:endParaRPr lang="en-US" sz="1200" dirty="0"/>
          </a:p>
        </p:txBody>
      </p:sp>
      <p:sp>
        <p:nvSpPr>
          <p:cNvPr id="14" name="Shape 12"/>
          <p:cNvSpPr/>
          <p:nvPr/>
        </p:nvSpPr>
        <p:spPr>
          <a:xfrm>
            <a:off x="812800" y="4617988"/>
            <a:ext cx="2451100" cy="0"/>
          </a:xfrm>
          <a:prstGeom prst="line">
            <a:avLst/>
          </a:prstGeom>
          <a:noFill/>
          <a:ln w="6350">
            <a:solidFill>
              <a:srgbClr val="2A2A28"/>
            </a:solidFill>
            <a:prstDash val="solid"/>
          </a:ln>
        </p:spPr>
      </p:sp>
      <p:sp>
        <p:nvSpPr>
          <p:cNvPr id="15" name="Text 13"/>
          <p:cNvSpPr/>
          <p:nvPr/>
        </p:nvSpPr>
        <p:spPr>
          <a:xfrm>
            <a:off x="812800" y="4710063"/>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HAI</a:t>
            </a:r>
            <a:endParaRPr lang="en-US" sz="1400" dirty="0"/>
          </a:p>
        </p:txBody>
      </p:sp>
      <p:sp>
        <p:nvSpPr>
          <p:cNvPr id="16" name="Text 14"/>
          <p:cNvSpPr/>
          <p:nvPr/>
        </p:nvSpPr>
        <p:spPr>
          <a:xfrm>
            <a:off x="812800" y="4984353"/>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Stanford. Human-centred AI research and policy.</a:t>
            </a:r>
            <a:endParaRPr lang="en-US" sz="1200" dirty="0"/>
          </a:p>
        </p:txBody>
      </p:sp>
      <p:sp>
        <p:nvSpPr>
          <p:cNvPr id="17" name="Text 15"/>
          <p:cNvSpPr/>
          <p:nvPr/>
        </p:nvSpPr>
        <p:spPr>
          <a:xfrm>
            <a:off x="812800" y="5405934"/>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7FD9C4"/>
                </a:solidFill>
                <a:latin typeface="JetBrains Mono" pitchFamily="49" charset="0"/>
                <a:ea typeface="JetBrains Mono" pitchFamily="49" charset="-122"/>
                <a:cs typeface="JetBrains Mono" pitchFamily="49" charset="-120"/>
                <a:hlinkClick r:id="rId3" invalidUrl="" action="" tgtFrame="" tooltip="" history="1" highlightClick="0" endSnd="0">
                  <a:extLst>
                    <a:ext uri="{A12FA001-AC4F-418D-AE19-62706E023703}">
                      <ahyp:hlinkClr xmlns:ahyp="http://schemas.microsoft.com/office/drawing/2018/hyperlinkcolor" val="tx"/>
                    </a:ext>
                  </a:extLst>
                </a:hlinkClick>
              </a:rPr>
              <a:t>hai.stanford.edu</a:t>
            </a:r>
            <a:endParaRPr lang="en-US" sz="1200" dirty="0"/>
          </a:p>
        </p:txBody>
      </p:sp>
      <p:sp>
        <p:nvSpPr>
          <p:cNvPr id="18" name="Shape 16"/>
          <p:cNvSpPr/>
          <p:nvPr/>
        </p:nvSpPr>
        <p:spPr>
          <a:xfrm>
            <a:off x="3517900" y="1884611"/>
            <a:ext cx="2451100" cy="25400"/>
          </a:xfrm>
          <a:prstGeom prst="rect">
            <a:avLst/>
          </a:prstGeom>
          <a:solidFill>
            <a:srgbClr val="B7ADFF"/>
          </a:solidFill>
          <a:ln/>
        </p:spPr>
      </p:sp>
      <p:sp>
        <p:nvSpPr>
          <p:cNvPr id="19" name="Text 17"/>
          <p:cNvSpPr/>
          <p:nvPr/>
        </p:nvSpPr>
        <p:spPr>
          <a:xfrm>
            <a:off x="35179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7ADFF"/>
                </a:solidFill>
                <a:latin typeface="JetBrains Mono" pitchFamily="49" charset="0"/>
                <a:ea typeface="JetBrains Mono" pitchFamily="49" charset="-122"/>
                <a:cs typeface="JetBrains Mono" pitchFamily="49" charset="-120"/>
              </a:rPr>
              <a:t>SAFETY &amp; ALIGNMENT</a:t>
            </a:r>
            <a:endParaRPr lang="en-US" sz="1200" dirty="0"/>
          </a:p>
        </p:txBody>
      </p:sp>
      <p:sp>
        <p:nvSpPr>
          <p:cNvPr id="20" name="Shape 18"/>
          <p:cNvSpPr/>
          <p:nvPr/>
        </p:nvSpPr>
        <p:spPr>
          <a:xfrm>
            <a:off x="3517900" y="2329706"/>
            <a:ext cx="2451100" cy="0"/>
          </a:xfrm>
          <a:prstGeom prst="line">
            <a:avLst/>
          </a:prstGeom>
          <a:noFill/>
          <a:ln w="6350">
            <a:solidFill>
              <a:srgbClr val="2A2A28"/>
            </a:solidFill>
            <a:prstDash val="solid"/>
          </a:ln>
        </p:spPr>
      </p:sp>
      <p:sp>
        <p:nvSpPr>
          <p:cNvPr id="21" name="Text 19"/>
          <p:cNvSpPr/>
          <p:nvPr/>
        </p:nvSpPr>
        <p:spPr>
          <a:xfrm>
            <a:off x="35179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CHAI</a:t>
            </a:r>
            <a:endParaRPr lang="en-US" sz="1400" dirty="0"/>
          </a:p>
        </p:txBody>
      </p:sp>
      <p:sp>
        <p:nvSpPr>
          <p:cNvPr id="22" name="Text 20"/>
          <p:cNvSpPr/>
          <p:nvPr/>
        </p:nvSpPr>
        <p:spPr>
          <a:xfrm>
            <a:off x="35179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UC Berkeley. AI that is beneficial to people.</a:t>
            </a:r>
            <a:endParaRPr lang="en-US" sz="1200" dirty="0"/>
          </a:p>
        </p:txBody>
      </p:sp>
      <p:sp>
        <p:nvSpPr>
          <p:cNvPr id="23" name="Text 21"/>
          <p:cNvSpPr/>
          <p:nvPr/>
        </p:nvSpPr>
        <p:spPr>
          <a:xfrm>
            <a:off x="35179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B7ADFF"/>
                </a:solidFill>
                <a:latin typeface="JetBrains Mono" pitchFamily="49" charset="0"/>
                <a:ea typeface="JetBrains Mono" pitchFamily="49" charset="-122"/>
                <a:cs typeface="JetBrains Mono" pitchFamily="49" charset="-120"/>
                <a:hlinkClick r:id="rId4" invalidUrl="" action="" tgtFrame="" tooltip="" history="1" highlightClick="0" endSnd="0">
                  <a:extLst>
                    <a:ext uri="{A12FA001-AC4F-418D-AE19-62706E023703}">
                      <ahyp:hlinkClr xmlns:ahyp="http://schemas.microsoft.com/office/drawing/2018/hyperlinkcolor" val="tx"/>
                    </a:ext>
                  </a:extLst>
                </a:hlinkClick>
              </a:rPr>
              <a:t>humancompatible.ai</a:t>
            </a:r>
            <a:endParaRPr lang="en-US" sz="1200" dirty="0"/>
          </a:p>
        </p:txBody>
      </p:sp>
      <p:sp>
        <p:nvSpPr>
          <p:cNvPr id="24" name="Shape 22"/>
          <p:cNvSpPr/>
          <p:nvPr/>
        </p:nvSpPr>
        <p:spPr>
          <a:xfrm>
            <a:off x="3517900" y="3473847"/>
            <a:ext cx="2451100" cy="0"/>
          </a:xfrm>
          <a:prstGeom prst="line">
            <a:avLst/>
          </a:prstGeom>
          <a:noFill/>
          <a:ln w="6350">
            <a:solidFill>
              <a:srgbClr val="2A2A28"/>
            </a:solidFill>
            <a:prstDash val="solid"/>
          </a:ln>
        </p:spPr>
      </p:sp>
      <p:sp>
        <p:nvSpPr>
          <p:cNvPr id="25" name="Text 23"/>
          <p:cNvSpPr/>
          <p:nvPr/>
        </p:nvSpPr>
        <p:spPr>
          <a:xfrm>
            <a:off x="35179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AI Security Institute</a:t>
            </a:r>
            <a:endParaRPr lang="en-US" sz="1400" dirty="0"/>
          </a:p>
        </p:txBody>
      </p:sp>
      <p:sp>
        <p:nvSpPr>
          <p:cNvPr id="26" name="Text 24"/>
          <p:cNvSpPr/>
          <p:nvPr/>
        </p:nvSpPr>
        <p:spPr>
          <a:xfrm>
            <a:off x="35179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UK government. Tests frontier AI.</a:t>
            </a:r>
            <a:endParaRPr lang="en-US" sz="1200" dirty="0"/>
          </a:p>
        </p:txBody>
      </p:sp>
      <p:sp>
        <p:nvSpPr>
          <p:cNvPr id="27" name="Text 25"/>
          <p:cNvSpPr/>
          <p:nvPr/>
        </p:nvSpPr>
        <p:spPr>
          <a:xfrm>
            <a:off x="35179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B7ADFF"/>
                </a:solidFill>
                <a:latin typeface="JetBrains Mono" pitchFamily="49" charset="0"/>
                <a:ea typeface="JetBrains Mono" pitchFamily="49" charset="-122"/>
                <a:cs typeface="JetBrains Mono" pitchFamily="49" charset="-120"/>
                <a:hlinkClick r:id="rId5" invalidUrl="" action="" tgtFrame="" tooltip="" history="1" highlightClick="0" endSnd="0">
                  <a:extLst>
                    <a:ext uri="{A12FA001-AC4F-418D-AE19-62706E023703}">
                      <ahyp:hlinkClr xmlns:ahyp="http://schemas.microsoft.com/office/drawing/2018/hyperlinkcolor" val="tx"/>
                    </a:ext>
                  </a:extLst>
                </a:hlinkClick>
              </a:rPr>
              <a:t>aisi.gov.uk</a:t>
            </a:r>
            <a:endParaRPr lang="en-US" sz="1200" dirty="0"/>
          </a:p>
        </p:txBody>
      </p:sp>
      <p:sp>
        <p:nvSpPr>
          <p:cNvPr id="28" name="Shape 26"/>
          <p:cNvSpPr/>
          <p:nvPr/>
        </p:nvSpPr>
        <p:spPr>
          <a:xfrm>
            <a:off x="6223000" y="1884611"/>
            <a:ext cx="2451100" cy="25400"/>
          </a:xfrm>
          <a:prstGeom prst="rect">
            <a:avLst/>
          </a:prstGeom>
          <a:solidFill>
            <a:srgbClr val="FF6A4D"/>
          </a:solidFill>
          <a:ln/>
        </p:spPr>
      </p:sp>
      <p:sp>
        <p:nvSpPr>
          <p:cNvPr id="29" name="Text 27"/>
          <p:cNvSpPr/>
          <p:nvPr/>
        </p:nvSpPr>
        <p:spPr>
          <a:xfrm>
            <a:off x="62230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6A4D"/>
                </a:solidFill>
                <a:latin typeface="JetBrains Mono" pitchFamily="49" charset="0"/>
                <a:ea typeface="JetBrains Mono" pitchFamily="49" charset="-122"/>
                <a:cs typeface="JetBrains Mono" pitchFamily="49" charset="-120"/>
              </a:rPr>
              <a:t>BENCHMARKS</a:t>
            </a:r>
            <a:endParaRPr lang="en-US" sz="1200" dirty="0"/>
          </a:p>
        </p:txBody>
      </p:sp>
      <p:sp>
        <p:nvSpPr>
          <p:cNvPr id="30" name="Shape 28"/>
          <p:cNvSpPr/>
          <p:nvPr/>
        </p:nvSpPr>
        <p:spPr>
          <a:xfrm>
            <a:off x="6223000" y="2329706"/>
            <a:ext cx="2451100" cy="0"/>
          </a:xfrm>
          <a:prstGeom prst="line">
            <a:avLst/>
          </a:prstGeom>
          <a:noFill/>
          <a:ln w="6350">
            <a:solidFill>
              <a:srgbClr val="2A2A28"/>
            </a:solidFill>
            <a:prstDash val="solid"/>
          </a:ln>
        </p:spPr>
      </p:sp>
      <p:sp>
        <p:nvSpPr>
          <p:cNvPr id="31" name="Text 29"/>
          <p:cNvSpPr/>
          <p:nvPr/>
        </p:nvSpPr>
        <p:spPr>
          <a:xfrm>
            <a:off x="62230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ImpactBench</a:t>
            </a:r>
            <a:endParaRPr lang="en-US" sz="1400" dirty="0"/>
          </a:p>
        </p:txBody>
      </p:sp>
      <p:sp>
        <p:nvSpPr>
          <p:cNvPr id="32" name="Text 30"/>
          <p:cNvSpPr/>
          <p:nvPr/>
        </p:nvSpPr>
        <p:spPr>
          <a:xfrm>
            <a:off x="62230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MIT Media Lab. AI’s effect on human wellbeing.</a:t>
            </a:r>
            <a:endParaRPr lang="en-US" sz="1200" dirty="0"/>
          </a:p>
        </p:txBody>
      </p:sp>
      <p:sp>
        <p:nvSpPr>
          <p:cNvPr id="33" name="Text 31"/>
          <p:cNvSpPr/>
          <p:nvPr/>
        </p:nvSpPr>
        <p:spPr>
          <a:xfrm>
            <a:off x="62230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FF6A4D"/>
                </a:solidFill>
                <a:latin typeface="JetBrains Mono" pitchFamily="49" charset="0"/>
                <a:ea typeface="JetBrains Mono" pitchFamily="49" charset="-122"/>
                <a:cs typeface="JetBrains Mono" pitchFamily="49" charset="-120"/>
                <a:hlinkClick r:id="rId6" invalidUrl="" action="" tgtFrame="" tooltip="" history="1" highlightClick="0" endSnd="0">
                  <a:extLst>
                    <a:ext uri="{A12FA001-AC4F-418D-AE19-62706E023703}">
                      <ahyp:hlinkClr xmlns:ahyp="http://schemas.microsoft.com/office/drawing/2018/hyperlinkcolor" val="tx"/>
                    </a:ext>
                  </a:extLst>
                </a:hlinkClick>
              </a:rPr>
              <a:t>impactbench.media.mit.edu</a:t>
            </a:r>
            <a:endParaRPr lang="en-US" sz="1200" dirty="0"/>
          </a:p>
        </p:txBody>
      </p:sp>
      <p:sp>
        <p:nvSpPr>
          <p:cNvPr id="34" name="Shape 32"/>
          <p:cNvSpPr/>
          <p:nvPr/>
        </p:nvSpPr>
        <p:spPr>
          <a:xfrm>
            <a:off x="6223000" y="3473847"/>
            <a:ext cx="2451100" cy="0"/>
          </a:xfrm>
          <a:prstGeom prst="line">
            <a:avLst/>
          </a:prstGeom>
          <a:noFill/>
          <a:ln w="6350">
            <a:solidFill>
              <a:srgbClr val="2A2A28"/>
            </a:solidFill>
            <a:prstDash val="solid"/>
          </a:ln>
        </p:spPr>
      </p:sp>
      <p:sp>
        <p:nvSpPr>
          <p:cNvPr id="35" name="Text 33"/>
          <p:cNvSpPr/>
          <p:nvPr/>
        </p:nvSpPr>
        <p:spPr>
          <a:xfrm>
            <a:off x="62230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AILuminate</a:t>
            </a:r>
            <a:endParaRPr lang="en-US" sz="1400" dirty="0"/>
          </a:p>
        </p:txBody>
      </p:sp>
      <p:sp>
        <p:nvSpPr>
          <p:cNvPr id="36" name="Text 34"/>
          <p:cNvSpPr/>
          <p:nvPr/>
        </p:nvSpPr>
        <p:spPr>
          <a:xfrm>
            <a:off x="62230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MLCommons. Open AI risk benchmark.</a:t>
            </a:r>
            <a:endParaRPr lang="en-US" sz="1200" dirty="0"/>
          </a:p>
        </p:txBody>
      </p:sp>
      <p:sp>
        <p:nvSpPr>
          <p:cNvPr id="37" name="Text 35"/>
          <p:cNvSpPr/>
          <p:nvPr/>
        </p:nvSpPr>
        <p:spPr>
          <a:xfrm>
            <a:off x="62230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FF6A4D"/>
                </a:solidFill>
                <a:latin typeface="JetBrains Mono" pitchFamily="49" charset="0"/>
                <a:ea typeface="JetBrains Mono" pitchFamily="49" charset="-122"/>
                <a:cs typeface="JetBrains Mono" pitchFamily="49" charset="-120"/>
                <a:hlinkClick r:id="rId7" invalidUrl="" action="" tgtFrame="" tooltip="" history="1" highlightClick="0" endSnd="0">
                  <a:extLst>
                    <a:ext uri="{A12FA001-AC4F-418D-AE19-62706E023703}">
                      <ahyp:hlinkClr xmlns:ahyp="http://schemas.microsoft.com/office/drawing/2018/hyperlinkcolor" val="tx"/>
                    </a:ext>
                  </a:extLst>
                </a:hlinkClick>
              </a:rPr>
              <a:t>mlcommons.org</a:t>
            </a:r>
            <a:endParaRPr lang="en-US" sz="1200" dirty="0"/>
          </a:p>
        </p:txBody>
      </p:sp>
      <p:sp>
        <p:nvSpPr>
          <p:cNvPr id="38" name="Shape 36"/>
          <p:cNvSpPr/>
          <p:nvPr/>
        </p:nvSpPr>
        <p:spPr>
          <a:xfrm>
            <a:off x="6223000" y="4617988"/>
            <a:ext cx="2451100" cy="0"/>
          </a:xfrm>
          <a:prstGeom prst="line">
            <a:avLst/>
          </a:prstGeom>
          <a:noFill/>
          <a:ln w="6350">
            <a:solidFill>
              <a:srgbClr val="2A2A28"/>
            </a:solidFill>
            <a:prstDash val="solid"/>
          </a:ln>
        </p:spPr>
      </p:sp>
      <p:sp>
        <p:nvSpPr>
          <p:cNvPr id="39" name="Text 37"/>
          <p:cNvSpPr/>
          <p:nvPr/>
        </p:nvSpPr>
        <p:spPr>
          <a:xfrm>
            <a:off x="6223000" y="4710063"/>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HELM</a:t>
            </a:r>
            <a:endParaRPr lang="en-US" sz="1400" dirty="0"/>
          </a:p>
        </p:txBody>
      </p:sp>
      <p:sp>
        <p:nvSpPr>
          <p:cNvPr id="40" name="Text 38"/>
          <p:cNvSpPr/>
          <p:nvPr/>
        </p:nvSpPr>
        <p:spPr>
          <a:xfrm>
            <a:off x="6223000" y="4984353"/>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Stanford CRFM. Holistic model evaluation.</a:t>
            </a:r>
            <a:endParaRPr lang="en-US" sz="1200" dirty="0"/>
          </a:p>
        </p:txBody>
      </p:sp>
      <p:sp>
        <p:nvSpPr>
          <p:cNvPr id="41" name="Text 39"/>
          <p:cNvSpPr/>
          <p:nvPr/>
        </p:nvSpPr>
        <p:spPr>
          <a:xfrm>
            <a:off x="6223000" y="5405934"/>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FF6A4D"/>
                </a:solidFill>
                <a:latin typeface="JetBrains Mono" pitchFamily="49" charset="0"/>
                <a:ea typeface="JetBrains Mono" pitchFamily="49" charset="-122"/>
                <a:cs typeface="JetBrains Mono" pitchFamily="49" charset="-120"/>
                <a:hlinkClick r:id="rId8" invalidUrl="" action="" tgtFrame="" tooltip="" history="1" highlightClick="0" endSnd="0">
                  <a:extLst>
                    <a:ext uri="{A12FA001-AC4F-418D-AE19-62706E023703}">
                      <ahyp:hlinkClr xmlns:ahyp="http://schemas.microsoft.com/office/drawing/2018/hyperlinkcolor" val="tx"/>
                    </a:ext>
                  </a:extLst>
                </a:hlinkClick>
              </a:rPr>
              <a:t>crfm.stanford.edu/helm</a:t>
            </a:r>
            <a:endParaRPr lang="en-US" sz="1200" dirty="0"/>
          </a:p>
        </p:txBody>
      </p:sp>
      <p:sp>
        <p:nvSpPr>
          <p:cNvPr id="42" name="Shape 40"/>
          <p:cNvSpPr/>
          <p:nvPr/>
        </p:nvSpPr>
        <p:spPr>
          <a:xfrm>
            <a:off x="8928100" y="1884611"/>
            <a:ext cx="2451100" cy="25400"/>
          </a:xfrm>
          <a:prstGeom prst="rect">
            <a:avLst/>
          </a:prstGeom>
          <a:solidFill>
            <a:srgbClr val="E8BD78"/>
          </a:solidFill>
          <a:ln/>
        </p:spPr>
      </p:sp>
      <p:sp>
        <p:nvSpPr>
          <p:cNvPr id="43" name="Text 41"/>
          <p:cNvSpPr/>
          <p:nvPr/>
        </p:nvSpPr>
        <p:spPr>
          <a:xfrm>
            <a:off x="89281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SOCIETY &amp; HCI</a:t>
            </a:r>
            <a:endParaRPr lang="en-US" sz="1200" dirty="0"/>
          </a:p>
        </p:txBody>
      </p:sp>
      <p:sp>
        <p:nvSpPr>
          <p:cNvPr id="44" name="Shape 42"/>
          <p:cNvSpPr/>
          <p:nvPr/>
        </p:nvSpPr>
        <p:spPr>
          <a:xfrm>
            <a:off x="8928100" y="2329706"/>
            <a:ext cx="2451100" cy="0"/>
          </a:xfrm>
          <a:prstGeom prst="line">
            <a:avLst/>
          </a:prstGeom>
          <a:noFill/>
          <a:ln w="6350">
            <a:solidFill>
              <a:srgbClr val="2A2A28"/>
            </a:solidFill>
            <a:prstDash val="solid"/>
          </a:ln>
        </p:spPr>
      </p:sp>
      <p:sp>
        <p:nvSpPr>
          <p:cNvPr id="45" name="Text 43"/>
          <p:cNvSpPr/>
          <p:nvPr/>
        </p:nvSpPr>
        <p:spPr>
          <a:xfrm>
            <a:off x="89281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HCII</a:t>
            </a:r>
            <a:endParaRPr lang="en-US" sz="1400" dirty="0"/>
          </a:p>
        </p:txBody>
      </p:sp>
      <p:sp>
        <p:nvSpPr>
          <p:cNvPr id="46" name="Text 44"/>
          <p:cNvSpPr/>
          <p:nvPr/>
        </p:nvSpPr>
        <p:spPr>
          <a:xfrm>
            <a:off x="89281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Carnegie Mellon. HCI research and design.</a:t>
            </a:r>
            <a:endParaRPr lang="en-US" sz="1200" dirty="0"/>
          </a:p>
        </p:txBody>
      </p:sp>
      <p:sp>
        <p:nvSpPr>
          <p:cNvPr id="47" name="Text 45"/>
          <p:cNvSpPr/>
          <p:nvPr/>
        </p:nvSpPr>
        <p:spPr>
          <a:xfrm>
            <a:off x="89281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8BD78"/>
                </a:solidFill>
                <a:latin typeface="JetBrains Mono" pitchFamily="49" charset="0"/>
                <a:ea typeface="JetBrains Mono" pitchFamily="49" charset="-122"/>
                <a:cs typeface="JetBrains Mono" pitchFamily="49" charset="-120"/>
                <a:hlinkClick r:id="rId9" invalidUrl="" action="" tgtFrame="" tooltip="" history="1" highlightClick="0" endSnd="0">
                  <a:extLst>
                    <a:ext uri="{A12FA001-AC4F-418D-AE19-62706E023703}">
                      <ahyp:hlinkClr xmlns:ahyp="http://schemas.microsoft.com/office/drawing/2018/hyperlinkcolor" val="tx"/>
                    </a:ext>
                  </a:extLst>
                </a:hlinkClick>
              </a:rPr>
              <a:t>hcii.cmu.edu</a:t>
            </a:r>
            <a:endParaRPr lang="en-US" sz="1200" dirty="0"/>
          </a:p>
        </p:txBody>
      </p:sp>
      <p:sp>
        <p:nvSpPr>
          <p:cNvPr id="48" name="Shape 46"/>
          <p:cNvSpPr/>
          <p:nvPr/>
        </p:nvSpPr>
        <p:spPr>
          <a:xfrm>
            <a:off x="8928100" y="3473847"/>
            <a:ext cx="2451100" cy="0"/>
          </a:xfrm>
          <a:prstGeom prst="line">
            <a:avLst/>
          </a:prstGeom>
          <a:noFill/>
          <a:ln w="6350">
            <a:solidFill>
              <a:srgbClr val="2A2A28"/>
            </a:solidFill>
            <a:prstDash val="solid"/>
          </a:ln>
        </p:spPr>
      </p:sp>
      <p:sp>
        <p:nvSpPr>
          <p:cNvPr id="49" name="Text 47"/>
          <p:cNvSpPr/>
          <p:nvPr/>
        </p:nvSpPr>
        <p:spPr>
          <a:xfrm>
            <a:off x="89281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Data &amp; Society</a:t>
            </a:r>
            <a:endParaRPr lang="en-US" sz="1400" dirty="0"/>
          </a:p>
        </p:txBody>
      </p:sp>
      <p:sp>
        <p:nvSpPr>
          <p:cNvPr id="50" name="Text 48"/>
          <p:cNvSpPr/>
          <p:nvPr/>
        </p:nvSpPr>
        <p:spPr>
          <a:xfrm>
            <a:off x="89281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Independent. Social impact of data and automation.</a:t>
            </a:r>
            <a:endParaRPr lang="en-US" sz="1200" dirty="0"/>
          </a:p>
        </p:txBody>
      </p:sp>
      <p:sp>
        <p:nvSpPr>
          <p:cNvPr id="51" name="Text 49"/>
          <p:cNvSpPr/>
          <p:nvPr/>
        </p:nvSpPr>
        <p:spPr>
          <a:xfrm>
            <a:off x="89281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8BD78"/>
                </a:solidFill>
                <a:latin typeface="JetBrains Mono" pitchFamily="49" charset="0"/>
                <a:ea typeface="JetBrains Mono" pitchFamily="49" charset="-122"/>
                <a:cs typeface="JetBrains Mono" pitchFamily="49" charset="-120"/>
                <a:hlinkClick r:id="rId10" invalidUrl="" action="" tgtFrame="" tooltip="" history="1" highlightClick="0" endSnd="0">
                  <a:extLst>
                    <a:ext uri="{A12FA001-AC4F-418D-AE19-62706E023703}">
                      <ahyp:hlinkClr xmlns:ahyp="http://schemas.microsoft.com/office/drawing/2018/hyperlinkcolor" val="tx"/>
                    </a:ext>
                  </a:extLst>
                </a:hlinkClick>
              </a:rPr>
              <a:t>datasociety.net</a:t>
            </a:r>
            <a:endParaRPr lang="en-US" sz="1200" dirty="0"/>
          </a:p>
        </p:txBody>
      </p:sp>
      <p:sp>
        <p:nvSpPr>
          <p:cNvPr id="52" name="Text 50"/>
          <p:cNvSpPr/>
          <p:nvPr/>
        </p:nvSpPr>
        <p:spPr>
          <a:xfrm>
            <a:off x="812800" y="6238280"/>
            <a:ext cx="47488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NOT A COMPLETE LIST · A PLACE TO START</a:t>
            </a:r>
            <a:endParaRPr lang="en-US" sz="1200" dirty="0"/>
          </a:p>
        </p:txBody>
      </p:sp>
      <p:sp>
        <p:nvSpPr>
          <p:cNvPr id="53" name="Text 5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34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B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References </a:t>
            </a:r>
            <a:r>
              <a:rPr lang="en-US" sz="3600" b="0" i="0" spc="-50" kern="0" dirty="0">
                <a:solidFill>
                  <a:srgbClr val="8A8985"/>
                </a:solidFill>
                <a:latin typeface="JetBrains Mono" pitchFamily="49" charset="0"/>
                <a:ea typeface="JetBrains Mono" pitchFamily="49" charset="-122"/>
                <a:cs typeface="JetBrains Mono" pitchFamily="49" charset="-120"/>
              </a:rPr>
              <a:t>1/3</a:t>
            </a:r>
            <a:endParaRPr lang="en-US" sz="3600" dirty="0"/>
          </a:p>
        </p:txBody>
      </p:sp>
      <p:sp>
        <p:nvSpPr>
          <p:cNvPr id="3" name="Text 1"/>
          <p:cNvSpPr/>
          <p:nvPr/>
        </p:nvSpPr>
        <p:spPr>
          <a:xfrm>
            <a:off x="812800" y="156969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Abbott, A. (1988). </a:t>
            </a:r>
            <a:r>
              <a:rPr lang="en-US" sz="1200" i="1" dirty="0">
                <a:solidFill>
                  <a:srgbClr val="B5B4AE"/>
                </a:solidFill>
                <a:latin typeface="JetBrains Mono" pitchFamily="49" charset="0"/>
                <a:ea typeface="JetBrains Mono" pitchFamily="49" charset="-122"/>
                <a:cs typeface="JetBrains Mono" pitchFamily="49" charset="-120"/>
              </a:rPr>
              <a:t>The system of professions</a:t>
            </a:r>
            <a:r>
              <a:rPr lang="en-US" sz="1200" dirty="0">
                <a:solidFill>
                  <a:srgbClr val="B5B4AE"/>
                </a:solidFill>
                <a:latin typeface="JetBrains Mono" pitchFamily="49" charset="0"/>
                <a:ea typeface="JetBrains Mono" pitchFamily="49" charset="-122"/>
                <a:cs typeface="JetBrains Mono" pitchFamily="49" charset="-120"/>
              </a:rPr>
              <a:t>. University of Chicago Press.</a:t>
            </a:r>
            <a:endParaRPr lang="en-US" sz="1200" dirty="0"/>
          </a:p>
        </p:txBody>
      </p:sp>
      <p:sp>
        <p:nvSpPr>
          <p:cNvPr id="4" name="Text 2"/>
          <p:cNvSpPr/>
          <p:nvPr/>
        </p:nvSpPr>
        <p:spPr>
          <a:xfrm>
            <a:off x="812800" y="209545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Ahuja, S., Pemer, F., &amp; Mastio, E. (2026). AI and identity work. </a:t>
            </a:r>
            <a:r>
              <a:rPr lang="en-US" sz="1200" i="1" dirty="0">
                <a:solidFill>
                  <a:srgbClr val="B5B4AE"/>
                </a:solidFill>
                <a:latin typeface="JetBrains Mono" pitchFamily="49" charset="0"/>
                <a:ea typeface="JetBrains Mono" pitchFamily="49" charset="-122"/>
                <a:cs typeface="JetBrains Mono" pitchFamily="49" charset="-120"/>
              </a:rPr>
              <a:t>Information and Organization, 36</a:t>
            </a:r>
            <a:r>
              <a:rPr lang="en-US" sz="1200" dirty="0">
                <a:solidFill>
                  <a:srgbClr val="B5B4AE"/>
                </a:solidFill>
                <a:latin typeface="JetBrains Mono" pitchFamily="49" charset="0"/>
                <a:ea typeface="JetBrains Mono" pitchFamily="49" charset="-122"/>
                <a:cs typeface="JetBrains Mono" pitchFamily="49" charset="-120"/>
              </a:rPr>
              <a:t>(3).</a:t>
            </a:r>
            <a:endParaRPr lang="en-US" sz="1200" dirty="0"/>
          </a:p>
        </p:txBody>
      </p:sp>
      <p:sp>
        <p:nvSpPr>
          <p:cNvPr id="5" name="Text 3"/>
          <p:cNvSpPr/>
          <p:nvPr/>
        </p:nvSpPr>
        <p:spPr>
          <a:xfrm>
            <a:off x="812800" y="262121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Amershi, S., et al. (2019). Guidelines for human-AI interaction. </a:t>
            </a:r>
            <a:r>
              <a:rPr lang="en-US" sz="1200" i="1" dirty="0">
                <a:solidFill>
                  <a:srgbClr val="B5B4AE"/>
                </a:solidFill>
                <a:latin typeface="JetBrains Mono" pitchFamily="49" charset="0"/>
                <a:ea typeface="JetBrains Mono" pitchFamily="49" charset="-122"/>
                <a:cs typeface="JetBrains Mono" pitchFamily="49" charset="-120"/>
              </a:rPr>
              <a:t>CHI '19</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812800" y="314697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Gabriel, I. (2020). Artificial intelligence, values, and alignment. </a:t>
            </a:r>
            <a:r>
              <a:rPr lang="en-US" sz="1200" i="1" dirty="0">
                <a:solidFill>
                  <a:srgbClr val="B5B4AE"/>
                </a:solidFill>
                <a:latin typeface="JetBrains Mono" pitchFamily="49" charset="0"/>
                <a:ea typeface="JetBrains Mono" pitchFamily="49" charset="-122"/>
                <a:cs typeface="JetBrains Mono" pitchFamily="49" charset="-120"/>
              </a:rPr>
              <a:t>Minds and Machines, 30</a:t>
            </a:r>
            <a:r>
              <a:rPr lang="en-US" sz="1200" dirty="0">
                <a:solidFill>
                  <a:srgbClr val="B5B4AE"/>
                </a:solidFill>
                <a:latin typeface="JetBrains Mono" pitchFamily="49" charset="0"/>
                <a:ea typeface="JetBrains Mono" pitchFamily="49" charset="-122"/>
                <a:cs typeface="JetBrains Mono" pitchFamily="49" charset="-120"/>
              </a:rPr>
              <a:t>, 411–437.</a:t>
            </a:r>
            <a:endParaRPr lang="en-US" sz="1200" dirty="0"/>
          </a:p>
        </p:txBody>
      </p:sp>
      <p:sp>
        <p:nvSpPr>
          <p:cNvPr id="7" name="Text 5"/>
          <p:cNvSpPr/>
          <p:nvPr/>
        </p:nvSpPr>
        <p:spPr>
          <a:xfrm>
            <a:off x="8128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Giskard. (2025). </a:t>
            </a:r>
            <a:r>
              <a:rPr lang="en-US" sz="1200" i="1" dirty="0">
                <a:solidFill>
                  <a:srgbClr val="B5B4AE"/>
                </a:solidFill>
                <a:latin typeface="JetBrains Mono" pitchFamily="49" charset="0"/>
                <a:ea typeface="JetBrains Mono" pitchFamily="49" charset="-122"/>
                <a:cs typeface="JetBrains Mono" pitchFamily="49" charset="-120"/>
              </a:rPr>
              <a:t>Phare LLM benchmark V2</a:t>
            </a:r>
            <a:r>
              <a:rPr lang="en-US" sz="1200" dirty="0">
                <a:solidFill>
                  <a:srgbClr val="B5B4AE"/>
                </a:solidFill>
                <a:latin typeface="JetBrains Mono" pitchFamily="49" charset="0"/>
                <a:ea typeface="JetBrains Mono" pitchFamily="49" charset="-122"/>
                <a:cs typeface="JetBrains Mono" pitchFamily="49" charset="-120"/>
              </a:rPr>
              <a:t>: Reasoning models don't guarantee better security.</a:t>
            </a:r>
            <a:endParaRPr lang="en-US" sz="1200" dirty="0"/>
          </a:p>
        </p:txBody>
      </p:sp>
      <p:sp>
        <p:nvSpPr>
          <p:cNvPr id="8" name="Text 6"/>
          <p:cNvSpPr/>
          <p:nvPr/>
        </p:nvSpPr>
        <p:spPr>
          <a:xfrm>
            <a:off x="8128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Masson, D., Malacria, S., Casiez, G., &amp; Vogel, D. (2024). DirectGPT. </a:t>
            </a:r>
            <a:r>
              <a:rPr lang="en-US" sz="1200" i="1" dirty="0">
                <a:solidFill>
                  <a:srgbClr val="B5B4AE"/>
                </a:solidFill>
                <a:latin typeface="JetBrains Mono" pitchFamily="49" charset="0"/>
                <a:ea typeface="JetBrains Mono" pitchFamily="49" charset="-122"/>
                <a:cs typeface="JetBrains Mono" pitchFamily="49" charset="-120"/>
              </a:rPr>
              <a:t>CHI '24</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9" name="Text 7"/>
          <p:cNvSpPr/>
          <p:nvPr/>
        </p:nvSpPr>
        <p:spPr>
          <a:xfrm>
            <a:off x="62992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MIT Media Lab, USC, UC Berkeley, &amp; Psychology of Technology Institute. (2026). </a:t>
            </a:r>
            <a:r>
              <a:rPr lang="en-US" sz="1200" i="1" dirty="0">
                <a:solidFill>
                  <a:srgbClr val="B5B4AE"/>
                </a:solidFill>
                <a:latin typeface="JetBrains Mono" pitchFamily="49" charset="0"/>
                <a:ea typeface="JetBrains Mono" pitchFamily="49" charset="-122"/>
                <a:cs typeface="JetBrains Mono" pitchFamily="49" charset="-120"/>
              </a:rPr>
              <a:t>ImpactBench: Open benchmark of AI impact on humans</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6299200" y="2301180"/>
            <a:ext cx="52324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MLCommons. (2025). </a:t>
            </a:r>
            <a:r>
              <a:rPr lang="en-US" sz="1200" i="1" dirty="0">
                <a:solidFill>
                  <a:srgbClr val="B5B4AE"/>
                </a:solidFill>
                <a:latin typeface="JetBrains Mono" pitchFamily="49" charset="0"/>
                <a:ea typeface="JetBrains Mono" pitchFamily="49" charset="-122"/>
                <a:cs typeface="JetBrains Mono" pitchFamily="49" charset="-120"/>
              </a:rPr>
              <a:t>AILuminate</a:t>
            </a:r>
            <a:r>
              <a:rPr lang="en-US" sz="1200" dirty="0">
                <a:solidFill>
                  <a:srgbClr val="B5B4AE"/>
                </a:solidFill>
                <a:latin typeface="JetBrains Mono" pitchFamily="49" charset="0"/>
                <a:ea typeface="JetBrains Mono" pitchFamily="49" charset="-122"/>
                <a:cs typeface="JetBrains Mono" pitchFamily="49" charset="-120"/>
              </a:rPr>
              <a:t> safety benchmark.</a:t>
            </a:r>
            <a:endParaRPr lang="en-US" sz="1200" dirty="0"/>
          </a:p>
        </p:txBody>
      </p:sp>
      <p:sp>
        <p:nvSpPr>
          <p:cNvPr id="11" name="Text 9"/>
          <p:cNvSpPr/>
          <p:nvPr/>
        </p:nvSpPr>
        <p:spPr>
          <a:xfrm>
            <a:off x="6299200" y="262121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Nass, C., &amp; Moon, Y. (2000). Machines and mindlessness. </a:t>
            </a:r>
            <a:r>
              <a:rPr lang="en-US" sz="1200" i="1" dirty="0">
                <a:solidFill>
                  <a:srgbClr val="B5B4AE"/>
                </a:solidFill>
                <a:latin typeface="JetBrains Mono" pitchFamily="49" charset="0"/>
                <a:ea typeface="JetBrains Mono" pitchFamily="49" charset="-122"/>
                <a:cs typeface="JetBrains Mono" pitchFamily="49" charset="-120"/>
              </a:rPr>
              <a:t>Journal of Social Issues, 56</a:t>
            </a:r>
            <a:r>
              <a:rPr lang="en-US" sz="1200" dirty="0">
                <a:solidFill>
                  <a:srgbClr val="B5B4AE"/>
                </a:solidFill>
                <a:latin typeface="JetBrains Mono" pitchFamily="49" charset="0"/>
                <a:ea typeface="JetBrains Mono" pitchFamily="49" charset="-122"/>
                <a:cs typeface="JetBrains Mono" pitchFamily="49" charset="-120"/>
              </a:rPr>
              <a:t>(1), 81–103.</a:t>
            </a:r>
            <a:endParaRPr lang="en-US" sz="1200" dirty="0"/>
          </a:p>
        </p:txBody>
      </p:sp>
      <p:sp>
        <p:nvSpPr>
          <p:cNvPr id="12" name="Text 10"/>
          <p:cNvSpPr/>
          <p:nvPr/>
        </p:nvSpPr>
        <p:spPr>
          <a:xfrm>
            <a:off x="6299200" y="314697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Nass, C., Steuer, J., &amp; Tauber, E. R. (1994). Computers are social actors. </a:t>
            </a:r>
            <a:r>
              <a:rPr lang="en-US" sz="1200" i="1" dirty="0">
                <a:solidFill>
                  <a:srgbClr val="B5B4AE"/>
                </a:solidFill>
                <a:latin typeface="JetBrains Mono" pitchFamily="49" charset="0"/>
                <a:ea typeface="JetBrains Mono" pitchFamily="49" charset="-122"/>
                <a:cs typeface="JetBrains Mono" pitchFamily="49" charset="-120"/>
              </a:rPr>
              <a:t>CHI '94</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3" name="Text 11"/>
          <p:cNvSpPr/>
          <p:nvPr/>
        </p:nvSpPr>
        <p:spPr>
          <a:xfrm>
            <a:off x="62992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Norman, D. A. (1988). </a:t>
            </a:r>
            <a:r>
              <a:rPr lang="en-US" sz="1200" i="1" dirty="0">
                <a:solidFill>
                  <a:srgbClr val="B5B4AE"/>
                </a:solidFill>
                <a:latin typeface="JetBrains Mono" pitchFamily="49" charset="0"/>
                <a:ea typeface="JetBrains Mono" pitchFamily="49" charset="-122"/>
                <a:cs typeface="JetBrains Mono" pitchFamily="49" charset="-120"/>
              </a:rPr>
              <a:t>The psychology of everyday things</a:t>
            </a:r>
            <a:r>
              <a:rPr lang="en-US" sz="1200" dirty="0">
                <a:solidFill>
                  <a:srgbClr val="B5B4AE"/>
                </a:solidFill>
                <a:latin typeface="JetBrains Mono" pitchFamily="49" charset="0"/>
                <a:ea typeface="JetBrains Mono" pitchFamily="49" charset="-122"/>
                <a:cs typeface="JetBrains Mono" pitchFamily="49" charset="-120"/>
              </a:rPr>
              <a:t>. Basic Books.</a:t>
            </a:r>
            <a:endParaRPr lang="en-US" sz="1200" dirty="0"/>
          </a:p>
        </p:txBody>
      </p:sp>
      <p:sp>
        <p:nvSpPr>
          <p:cNvPr id="14" name="Text 12"/>
          <p:cNvSpPr/>
          <p:nvPr/>
        </p:nvSpPr>
        <p:spPr>
          <a:xfrm>
            <a:off x="62992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Rahwan, I. (2018). Society-in-the-loop. </a:t>
            </a:r>
            <a:r>
              <a:rPr lang="en-US" sz="1200" i="1" dirty="0">
                <a:solidFill>
                  <a:srgbClr val="B5B4AE"/>
                </a:solidFill>
                <a:latin typeface="JetBrains Mono" pitchFamily="49" charset="0"/>
                <a:ea typeface="JetBrains Mono" pitchFamily="49" charset="-122"/>
                <a:cs typeface="JetBrains Mono" pitchFamily="49" charset="-120"/>
              </a:rPr>
              <a:t>Ethics and Information Technology, 20</a:t>
            </a:r>
            <a:r>
              <a:rPr lang="en-US" sz="1200" dirty="0">
                <a:solidFill>
                  <a:srgbClr val="B5B4AE"/>
                </a:solidFill>
                <a:latin typeface="JetBrains Mono" pitchFamily="49" charset="0"/>
                <a:ea typeface="JetBrains Mono" pitchFamily="49" charset="-122"/>
                <a:cs typeface="JetBrains Mono" pitchFamily="49" charset="-120"/>
              </a:rPr>
              <a:t>, 5–14.</a:t>
            </a:r>
            <a:endParaRPr lang="en-US" sz="1200" dirty="0"/>
          </a:p>
        </p:txBody>
      </p:sp>
      <p:sp>
        <p:nvSpPr>
          <p:cNvPr id="15" name="Text 13"/>
          <p:cNvSpPr/>
          <p:nvPr/>
        </p:nvSpPr>
        <p:spPr>
          <a:xfrm>
            <a:off x="812800" y="6238280"/>
            <a:ext cx="845949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ALSO: </a:t>
            </a:r>
            <a:r>
              <a:rPr lang="en-US" sz="1200" i="1" spc="100" kern="0" dirty="0">
                <a:solidFill>
                  <a:srgbClr val="8A8985"/>
                </a:solidFill>
                <a:latin typeface="JetBrains Mono" pitchFamily="49" charset="0"/>
                <a:ea typeface="JetBrains Mono" pitchFamily="49" charset="-122"/>
                <a:cs typeface="JetBrains Mono" pitchFamily="49" charset="-120"/>
              </a:rPr>
              <a:t>HER</a:t>
            </a:r>
            <a:r>
              <a:rPr lang="en-US" sz="1200" spc="100" kern="0" dirty="0">
                <a:solidFill>
                  <a:srgbClr val="8A8985"/>
                </a:solidFill>
                <a:latin typeface="JetBrains Mono" pitchFamily="49" charset="0"/>
                <a:ea typeface="JetBrains Mono" pitchFamily="49" charset="-122"/>
                <a:cs typeface="JetBrains Mono" pitchFamily="49" charset="-120"/>
              </a:rPr>
              <a:t> · MICO · GROK COMPANIONS · META AI STUDIO · CAC DRAFT RULES</a:t>
            </a:r>
            <a:endParaRPr lang="en-US" sz="1200" dirty="0"/>
          </a:p>
        </p:txBody>
      </p:sp>
      <p:sp>
        <p:nvSpPr>
          <p:cNvPr id="16" name="Text 14"/>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APPENDIX</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B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References </a:t>
            </a:r>
            <a:r>
              <a:rPr lang="en-US" sz="3600" b="0" i="0" spc="-50" kern="0" dirty="0">
                <a:solidFill>
                  <a:srgbClr val="8A8985"/>
                </a:solidFill>
                <a:latin typeface="JetBrains Mono" pitchFamily="49" charset="0"/>
                <a:ea typeface="JetBrains Mono" pitchFamily="49" charset="-122"/>
                <a:cs typeface="JetBrains Mono" pitchFamily="49" charset="-120"/>
              </a:rPr>
              <a:t>2/3</a:t>
            </a:r>
            <a:endParaRPr lang="en-US" sz="3600" dirty="0"/>
          </a:p>
        </p:txBody>
      </p:sp>
      <p:sp>
        <p:nvSpPr>
          <p:cNvPr id="3" name="Text 1"/>
          <p:cNvSpPr/>
          <p:nvPr/>
        </p:nvSpPr>
        <p:spPr>
          <a:xfrm>
            <a:off x="8128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Reeken, T., Salous, M., &amp; Abdenebaoui, L. (2025). Un-trusting the chat: Designing for calibrated trust in retrieval-augmented conversations. </a:t>
            </a:r>
            <a:r>
              <a:rPr lang="en-US" sz="1200" i="1" dirty="0">
                <a:solidFill>
                  <a:srgbClr val="B5B4AE"/>
                </a:solidFill>
                <a:latin typeface="JetBrains Mono" pitchFamily="49" charset="0"/>
                <a:ea typeface="JetBrains Mono" pitchFamily="49" charset="-122"/>
                <a:cs typeface="JetBrains Mono" pitchFamily="49" charset="-120"/>
              </a:rPr>
              <a:t>CUI '25</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4" name="Text 2"/>
          <p:cNvSpPr/>
          <p:nvPr/>
        </p:nvSpPr>
        <p:spPr>
          <a:xfrm>
            <a:off x="812800" y="23011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Reeves, B., &amp; Nass, C. (1996). </a:t>
            </a:r>
            <a:r>
              <a:rPr lang="en-US" sz="1200" i="1" dirty="0">
                <a:solidFill>
                  <a:srgbClr val="B5B4AE"/>
                </a:solidFill>
                <a:latin typeface="JetBrains Mono" pitchFamily="49" charset="0"/>
                <a:ea typeface="JetBrains Mono" pitchFamily="49" charset="-122"/>
                <a:cs typeface="JetBrains Mono" pitchFamily="49" charset="-120"/>
              </a:rPr>
              <a:t>The media equation</a:t>
            </a:r>
            <a:r>
              <a:rPr lang="en-US" sz="1200" dirty="0">
                <a:solidFill>
                  <a:srgbClr val="B5B4AE"/>
                </a:solidFill>
                <a:latin typeface="JetBrains Mono" pitchFamily="49" charset="0"/>
                <a:ea typeface="JetBrains Mono" pitchFamily="49" charset="-122"/>
                <a:cs typeface="JetBrains Mono" pitchFamily="49" charset="-120"/>
              </a:rPr>
              <a:t>. CSLI / Cambridge University Press.</a:t>
            </a:r>
            <a:endParaRPr lang="en-US" sz="1200" dirty="0"/>
          </a:p>
        </p:txBody>
      </p:sp>
      <p:sp>
        <p:nvSpPr>
          <p:cNvPr id="5" name="Text 3"/>
          <p:cNvSpPr/>
          <p:nvPr/>
        </p:nvSpPr>
        <p:spPr>
          <a:xfrm>
            <a:off x="812800" y="2826941"/>
            <a:ext cx="523240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Robinson, R. B., et al. (2024). “That's not good science!”: An argument for the thoughtful use of formative situations in research through design. </a:t>
            </a:r>
            <a:r>
              <a:rPr lang="en-US" sz="1200" i="1" dirty="0">
                <a:solidFill>
                  <a:srgbClr val="B5B4AE"/>
                </a:solidFill>
                <a:latin typeface="JetBrains Mono" pitchFamily="49" charset="0"/>
                <a:ea typeface="JetBrains Mono" pitchFamily="49" charset="-122"/>
                <a:cs typeface="JetBrains Mono" pitchFamily="49" charset="-120"/>
              </a:rPr>
              <a:t>CHI EA '24</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812800" y="376416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Shneiderman, B. (1983). Direct manipulation. </a:t>
            </a:r>
            <a:r>
              <a:rPr lang="en-US" sz="1200" i="1" dirty="0">
                <a:solidFill>
                  <a:srgbClr val="B5B4AE"/>
                </a:solidFill>
                <a:latin typeface="JetBrains Mono" pitchFamily="49" charset="0"/>
                <a:ea typeface="JetBrains Mono" pitchFamily="49" charset="-122"/>
                <a:cs typeface="JetBrains Mono" pitchFamily="49" charset="-120"/>
              </a:rPr>
              <a:t>IEEE Computer, 16</a:t>
            </a:r>
            <a:r>
              <a:rPr lang="en-US" sz="1200" dirty="0">
                <a:solidFill>
                  <a:srgbClr val="B5B4AE"/>
                </a:solidFill>
                <a:latin typeface="JetBrains Mono" pitchFamily="49" charset="0"/>
                <a:ea typeface="JetBrains Mono" pitchFamily="49" charset="-122"/>
                <a:cs typeface="JetBrains Mono" pitchFamily="49" charset="-120"/>
              </a:rPr>
              <a:t>(8), 57–69.</a:t>
            </a:r>
            <a:endParaRPr lang="en-US" sz="1200" dirty="0"/>
          </a:p>
        </p:txBody>
      </p:sp>
      <p:sp>
        <p:nvSpPr>
          <p:cNvPr id="7" name="Text 5"/>
          <p:cNvSpPr/>
          <p:nvPr/>
        </p:nvSpPr>
        <p:spPr>
          <a:xfrm>
            <a:off x="812800" y="428992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Shneiderman, B. (2022). </a:t>
            </a:r>
            <a:r>
              <a:rPr lang="en-US" sz="1200" i="1" dirty="0">
                <a:solidFill>
                  <a:srgbClr val="B5B4AE"/>
                </a:solidFill>
                <a:latin typeface="JetBrains Mono" pitchFamily="49" charset="0"/>
                <a:ea typeface="JetBrains Mono" pitchFamily="49" charset="-122"/>
                <a:cs typeface="JetBrains Mono" pitchFamily="49" charset="-120"/>
              </a:rPr>
              <a:t>Human-centered AI</a:t>
            </a:r>
            <a:r>
              <a:rPr lang="en-US" sz="1200" dirty="0">
                <a:solidFill>
                  <a:srgbClr val="B5B4AE"/>
                </a:solidFill>
                <a:latin typeface="JetBrains Mono" pitchFamily="49" charset="0"/>
                <a:ea typeface="JetBrains Mono" pitchFamily="49" charset="-122"/>
                <a:cs typeface="JetBrains Mono" pitchFamily="49" charset="-120"/>
              </a:rPr>
              <a:t>. Oxford University Press.</a:t>
            </a:r>
            <a:endParaRPr lang="en-US" sz="1200" dirty="0"/>
          </a:p>
        </p:txBody>
      </p:sp>
      <p:sp>
        <p:nvSpPr>
          <p:cNvPr id="8" name="Text 6"/>
          <p:cNvSpPr/>
          <p:nvPr/>
        </p:nvSpPr>
        <p:spPr>
          <a:xfrm>
            <a:off x="812800" y="481568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Shneiderman, B., &amp; Maes, P. (1997). Direct manipulation vs. interface agents. </a:t>
            </a:r>
            <a:r>
              <a:rPr lang="en-US" sz="1200" i="1" dirty="0">
                <a:solidFill>
                  <a:srgbClr val="B5B4AE"/>
                </a:solidFill>
                <a:latin typeface="JetBrains Mono" pitchFamily="49" charset="0"/>
                <a:ea typeface="JetBrains Mono" pitchFamily="49" charset="-122"/>
                <a:cs typeface="JetBrains Mono" pitchFamily="49" charset="-120"/>
              </a:rPr>
              <a:t>interactions, 4</a:t>
            </a:r>
            <a:r>
              <a:rPr lang="en-US" sz="1200" dirty="0">
                <a:solidFill>
                  <a:srgbClr val="B5B4AE"/>
                </a:solidFill>
                <a:latin typeface="JetBrains Mono" pitchFamily="49" charset="0"/>
                <a:ea typeface="JetBrains Mono" pitchFamily="49" charset="-122"/>
                <a:cs typeface="JetBrains Mono" pitchFamily="49" charset="-120"/>
              </a:rPr>
              <a:t>(6), 42–61.</a:t>
            </a:r>
            <a:endParaRPr lang="en-US" sz="1200" dirty="0"/>
          </a:p>
        </p:txBody>
      </p:sp>
      <p:sp>
        <p:nvSpPr>
          <p:cNvPr id="9" name="Text 7"/>
          <p:cNvSpPr/>
          <p:nvPr/>
        </p:nvSpPr>
        <p:spPr>
          <a:xfrm>
            <a:off x="62992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Waytz, A., Cacioppo, J., &amp; Epley, N. (2010). Who sees human? </a:t>
            </a:r>
            <a:r>
              <a:rPr lang="en-US" sz="1200" i="1" dirty="0">
                <a:solidFill>
                  <a:srgbClr val="B5B4AE"/>
                </a:solidFill>
                <a:latin typeface="JetBrains Mono" pitchFamily="49" charset="0"/>
                <a:ea typeface="JetBrains Mono" pitchFamily="49" charset="-122"/>
                <a:cs typeface="JetBrains Mono" pitchFamily="49" charset="-120"/>
              </a:rPr>
              <a:t>Perspectives on Psychological Science, 5</a:t>
            </a:r>
            <a:r>
              <a:rPr lang="en-US" sz="1200" dirty="0">
                <a:solidFill>
                  <a:srgbClr val="B5B4AE"/>
                </a:solidFill>
                <a:latin typeface="JetBrains Mono" pitchFamily="49" charset="0"/>
                <a:ea typeface="JetBrains Mono" pitchFamily="49" charset="-122"/>
                <a:cs typeface="JetBrains Mono" pitchFamily="49" charset="-120"/>
              </a:rPr>
              <a:t>(3), 219–232.</a:t>
            </a:r>
            <a:endParaRPr lang="en-US" sz="1200" dirty="0"/>
          </a:p>
        </p:txBody>
      </p:sp>
      <p:sp>
        <p:nvSpPr>
          <p:cNvPr id="10" name="Text 8"/>
          <p:cNvSpPr/>
          <p:nvPr/>
        </p:nvSpPr>
        <p:spPr>
          <a:xfrm>
            <a:off x="6299200" y="23011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Weizenbaum, J. (1966). ELIZA. </a:t>
            </a:r>
            <a:r>
              <a:rPr lang="en-US" sz="1200" i="1" dirty="0">
                <a:solidFill>
                  <a:srgbClr val="B5B4AE"/>
                </a:solidFill>
                <a:latin typeface="JetBrains Mono" pitchFamily="49" charset="0"/>
                <a:ea typeface="JetBrains Mono" pitchFamily="49" charset="-122"/>
                <a:cs typeface="JetBrains Mono" pitchFamily="49" charset="-120"/>
              </a:rPr>
              <a:t>Communications of the ACM, 9</a:t>
            </a:r>
            <a:r>
              <a:rPr lang="en-US" sz="1200" dirty="0">
                <a:solidFill>
                  <a:srgbClr val="B5B4AE"/>
                </a:solidFill>
                <a:latin typeface="JetBrains Mono" pitchFamily="49" charset="0"/>
                <a:ea typeface="JetBrains Mono" pitchFamily="49" charset="-122"/>
                <a:cs typeface="JetBrains Mono" pitchFamily="49" charset="-120"/>
              </a:rPr>
              <a:t>(1), 36–45.</a:t>
            </a:r>
            <a:endParaRPr lang="en-US" sz="1200" dirty="0"/>
          </a:p>
        </p:txBody>
      </p:sp>
      <p:sp>
        <p:nvSpPr>
          <p:cNvPr id="11" name="Text 9"/>
          <p:cNvSpPr/>
          <p:nvPr/>
        </p:nvSpPr>
        <p:spPr>
          <a:xfrm>
            <a:off x="6299200" y="282694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Weizenbaum, J. (1976). </a:t>
            </a:r>
            <a:r>
              <a:rPr lang="en-US" sz="1200" i="1" dirty="0">
                <a:solidFill>
                  <a:srgbClr val="B5B4AE"/>
                </a:solidFill>
                <a:latin typeface="JetBrains Mono" pitchFamily="49" charset="0"/>
                <a:ea typeface="JetBrains Mono" pitchFamily="49" charset="-122"/>
                <a:cs typeface="JetBrains Mono" pitchFamily="49" charset="-120"/>
              </a:rPr>
              <a:t>Computer power and human reason</a:t>
            </a:r>
            <a:r>
              <a:rPr lang="en-US" sz="1200" dirty="0">
                <a:solidFill>
                  <a:srgbClr val="B5B4AE"/>
                </a:solidFill>
                <a:latin typeface="JetBrains Mono" pitchFamily="49" charset="0"/>
                <a:ea typeface="JetBrains Mono" pitchFamily="49" charset="-122"/>
                <a:cs typeface="JetBrains Mono" pitchFamily="49" charset="-120"/>
              </a:rPr>
              <a:t>. W. H. Freeman.</a:t>
            </a:r>
            <a:endParaRPr lang="en-US" sz="1200" dirty="0"/>
          </a:p>
        </p:txBody>
      </p:sp>
      <p:sp>
        <p:nvSpPr>
          <p:cNvPr id="12" name="Text 10"/>
          <p:cNvSpPr/>
          <p:nvPr/>
        </p:nvSpPr>
        <p:spPr>
          <a:xfrm>
            <a:off x="6299200" y="335270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Zhang, R., Li, H., Meng, H., Zhan, J., Gan, H., &amp; Lee, Y.-C. (2025). The dark side of AI companionship. </a:t>
            </a:r>
            <a:r>
              <a:rPr lang="en-US" sz="1200" i="1" dirty="0">
                <a:solidFill>
                  <a:srgbClr val="B5B4AE"/>
                </a:solidFill>
                <a:latin typeface="JetBrains Mono" pitchFamily="49" charset="0"/>
                <a:ea typeface="JetBrains Mono" pitchFamily="49" charset="-122"/>
                <a:cs typeface="JetBrains Mono" pitchFamily="49" charset="-120"/>
              </a:rPr>
              <a:t>CHI '25</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3" name="Text 11"/>
          <p:cNvSpPr/>
          <p:nvPr/>
        </p:nvSpPr>
        <p:spPr>
          <a:xfrm>
            <a:off x="6299200" y="408419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Zimmerman, J., Forlizzi, J., &amp; Evenson, S. (2007). Research through design as a method for interaction design research in HCI. </a:t>
            </a:r>
            <a:r>
              <a:rPr lang="en-US" sz="1200" i="1" dirty="0">
                <a:solidFill>
                  <a:srgbClr val="B5B4AE"/>
                </a:solidFill>
                <a:latin typeface="JetBrains Mono" pitchFamily="49" charset="0"/>
                <a:ea typeface="JetBrains Mono" pitchFamily="49" charset="-122"/>
                <a:cs typeface="JetBrains Mono" pitchFamily="49" charset="-120"/>
              </a:rPr>
              <a:t>CHI '07</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4" name="Text 1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5" name="Text 13"/>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APPENDIX</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B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References </a:t>
            </a:r>
            <a:r>
              <a:rPr lang="en-US" sz="3600" b="0" i="0" spc="-50" kern="0" dirty="0">
                <a:solidFill>
                  <a:srgbClr val="8A8985"/>
                </a:solidFill>
                <a:latin typeface="JetBrains Mono" pitchFamily="49" charset="0"/>
                <a:ea typeface="JetBrains Mono" pitchFamily="49" charset="-122"/>
                <a:cs typeface="JetBrains Mono" pitchFamily="49" charset="-120"/>
              </a:rPr>
              <a:t>3/3</a:t>
            </a:r>
            <a:endParaRPr lang="en-US" sz="3600" dirty="0"/>
          </a:p>
        </p:txBody>
      </p:sp>
      <p:sp>
        <p:nvSpPr>
          <p:cNvPr id="3" name="Text 1"/>
          <p:cNvSpPr/>
          <p:nvPr/>
        </p:nvSpPr>
        <p:spPr>
          <a:xfrm>
            <a:off x="8128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Akbulut, C., Weidinger, L., Manzini, A., Gabriel, I., &amp; Rieser, V. (2024). All too human? Mapping and mitigating the risk from anthropomorphic AI. </a:t>
            </a:r>
            <a:r>
              <a:rPr lang="en-US" sz="1200" i="1" dirty="0">
                <a:solidFill>
                  <a:srgbClr val="B5B4AE"/>
                </a:solidFill>
                <a:latin typeface="JetBrains Mono" pitchFamily="49" charset="0"/>
                <a:ea typeface="JetBrains Mono" pitchFamily="49" charset="-122"/>
                <a:cs typeface="JetBrains Mono" pitchFamily="49" charset="-120"/>
              </a:rPr>
              <a:t>AIES '24</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4" name="Text 2"/>
          <p:cNvSpPr/>
          <p:nvPr/>
        </p:nvSpPr>
        <p:spPr>
          <a:xfrm>
            <a:off x="812800" y="230118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Candello, H., et al. (2025). The emerging use of GenAI for UX research in software development: Challenges and opportunities. </a:t>
            </a:r>
            <a:r>
              <a:rPr lang="en-US" sz="1200" i="1" dirty="0">
                <a:solidFill>
                  <a:srgbClr val="B5B4AE"/>
                </a:solidFill>
                <a:latin typeface="JetBrains Mono" pitchFamily="49" charset="0"/>
                <a:ea typeface="JetBrains Mono" pitchFamily="49" charset="-122"/>
                <a:cs typeface="JetBrains Mono" pitchFamily="49" charset="-120"/>
              </a:rPr>
              <a:t>arXiv:2512.15944</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5" name="Text 3"/>
          <p:cNvSpPr/>
          <p:nvPr/>
        </p:nvSpPr>
        <p:spPr>
          <a:xfrm>
            <a:off x="812800" y="3032671"/>
            <a:ext cx="523240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Fang, C. M., et al. (2025). How AI and human behaviors shape psychosocial effects of chatbot use: A longitudinal randomized controlled study. </a:t>
            </a:r>
            <a:r>
              <a:rPr lang="en-US" sz="1200" i="1" dirty="0">
                <a:solidFill>
                  <a:srgbClr val="B5B4AE"/>
                </a:solidFill>
                <a:latin typeface="JetBrains Mono" pitchFamily="49" charset="0"/>
                <a:ea typeface="JetBrains Mono" pitchFamily="49" charset="-122"/>
                <a:cs typeface="JetBrains Mono" pitchFamily="49" charset="-120"/>
              </a:rPr>
              <a:t>arXiv:2503.17473</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812800" y="396989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Federal Trade Commission. (2025, September 11). FTC launches inquiry into AI chatbots acting as companions [Press release].</a:t>
            </a:r>
            <a:endParaRPr lang="en-US" sz="1200" dirty="0"/>
          </a:p>
        </p:txBody>
      </p:sp>
      <p:sp>
        <p:nvSpPr>
          <p:cNvPr id="7" name="Text 5"/>
          <p:cNvSpPr/>
          <p:nvPr/>
        </p:nvSpPr>
        <p:spPr>
          <a:xfrm>
            <a:off x="812800" y="470138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Lee, H.-P., Sarkar, A., Tankelevitch, L., Drosos, I., Rintel, S., Banks, R., &amp; Wilson, N. (2025). The impact of generative AI on critical thinking. </a:t>
            </a:r>
            <a:r>
              <a:rPr lang="en-US" sz="1200" i="1" dirty="0">
                <a:solidFill>
                  <a:srgbClr val="B5B4AE"/>
                </a:solidFill>
                <a:latin typeface="JetBrains Mono" pitchFamily="49" charset="0"/>
                <a:ea typeface="JetBrains Mono" pitchFamily="49" charset="-122"/>
                <a:cs typeface="JetBrains Mono" pitchFamily="49" charset="-120"/>
              </a:rPr>
              <a:t>CHI '25</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8" name="Text 6"/>
          <p:cNvSpPr/>
          <p:nvPr/>
        </p:nvSpPr>
        <p:spPr>
          <a:xfrm>
            <a:off x="812800" y="5432871"/>
            <a:ext cx="60960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Ng, A. (2025, August). Interview. </a:t>
            </a:r>
            <a:r>
              <a:rPr lang="en-US" sz="1200" i="1" dirty="0">
                <a:solidFill>
                  <a:srgbClr val="B5B4AE"/>
                </a:solidFill>
                <a:latin typeface="JetBrains Mono" pitchFamily="49" charset="0"/>
                <a:ea typeface="JetBrains Mono" pitchFamily="49" charset="-122"/>
                <a:cs typeface="JetBrains Mono" pitchFamily="49" charset="-120"/>
              </a:rPr>
              <a:t>No Priors</a:t>
            </a:r>
            <a:r>
              <a:rPr lang="en-US" sz="1200" dirty="0">
                <a:solidFill>
                  <a:srgbClr val="B5B4AE"/>
                </a:solidFill>
                <a:latin typeface="JetBrains Mono" pitchFamily="49" charset="0"/>
                <a:ea typeface="JetBrains Mono" pitchFamily="49" charset="-122"/>
                <a:cs typeface="JetBrains Mono" pitchFamily="49" charset="-120"/>
              </a:rPr>
              <a:t> [Podcast].</a:t>
            </a:r>
            <a:endParaRPr lang="en-US" sz="1200" dirty="0"/>
          </a:p>
        </p:txBody>
      </p:sp>
      <p:sp>
        <p:nvSpPr>
          <p:cNvPr id="9" name="Text 7"/>
          <p:cNvSpPr/>
          <p:nvPr/>
        </p:nvSpPr>
        <p:spPr>
          <a:xfrm>
            <a:off x="6299200" y="1569690"/>
            <a:ext cx="52324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Nielsen Norman Group. (2026). </a:t>
            </a:r>
            <a:r>
              <a:rPr lang="en-US" sz="1200" i="1" dirty="0">
                <a:solidFill>
                  <a:srgbClr val="B5B4AE"/>
                </a:solidFill>
                <a:latin typeface="JetBrains Mono" pitchFamily="49" charset="0"/>
                <a:ea typeface="JetBrains Mono" pitchFamily="49" charset="-122"/>
                <a:cs typeface="JetBrains Mono" pitchFamily="49" charset="-120"/>
              </a:rPr>
              <a:t>State of UX 2026</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6299200" y="188972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Norman, D. A. (2023). </a:t>
            </a:r>
            <a:r>
              <a:rPr lang="en-US" sz="1200" i="1" dirty="0">
                <a:solidFill>
                  <a:srgbClr val="B5B4AE"/>
                </a:solidFill>
                <a:latin typeface="JetBrains Mono" pitchFamily="49" charset="0"/>
                <a:ea typeface="JetBrains Mono" pitchFamily="49" charset="-122"/>
                <a:cs typeface="JetBrains Mono" pitchFamily="49" charset="-120"/>
              </a:rPr>
              <a:t>Design for a better world: Meaningful, sustainable, humanity centered</a:t>
            </a:r>
            <a:r>
              <a:rPr lang="en-US" sz="1200" dirty="0">
                <a:solidFill>
                  <a:srgbClr val="B5B4AE"/>
                </a:solidFill>
                <a:latin typeface="JetBrains Mono" pitchFamily="49" charset="0"/>
                <a:ea typeface="JetBrains Mono" pitchFamily="49" charset="-122"/>
                <a:cs typeface="JetBrains Mono" pitchFamily="49" charset="-120"/>
              </a:rPr>
              <a:t>. MIT Press.</a:t>
            </a:r>
            <a:endParaRPr lang="en-US" sz="1200" dirty="0"/>
          </a:p>
        </p:txBody>
      </p:sp>
      <p:sp>
        <p:nvSpPr>
          <p:cNvPr id="11" name="Text 9"/>
          <p:cNvSpPr/>
          <p:nvPr/>
        </p:nvSpPr>
        <p:spPr>
          <a:xfrm>
            <a:off x="6299200" y="24154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Phang, J., et al. (2025). Investigating affective use and emotional well-being on ChatGPT. </a:t>
            </a:r>
            <a:r>
              <a:rPr lang="en-US" sz="1200" i="1" dirty="0">
                <a:solidFill>
                  <a:srgbClr val="B5B4AE"/>
                </a:solidFill>
                <a:latin typeface="JetBrains Mono" pitchFamily="49" charset="0"/>
                <a:ea typeface="JetBrains Mono" pitchFamily="49" charset="-122"/>
                <a:cs typeface="JetBrains Mono" pitchFamily="49" charset="-120"/>
              </a:rPr>
              <a:t>arXiv:2504.03888</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2" name="Text 10"/>
          <p:cNvSpPr/>
          <p:nvPr/>
        </p:nvSpPr>
        <p:spPr>
          <a:xfrm>
            <a:off x="6299200" y="294124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Rosala, M., &amp; Moran, K. (2024). Synthetic users: If, when, and how to use AI-generated “research.” Nielsen Norman Group.</a:t>
            </a:r>
            <a:endParaRPr lang="en-US" sz="1200" dirty="0"/>
          </a:p>
        </p:txBody>
      </p:sp>
      <p:sp>
        <p:nvSpPr>
          <p:cNvPr id="13" name="Text 11"/>
          <p:cNvSpPr/>
          <p:nvPr/>
        </p:nvSpPr>
        <p:spPr>
          <a:xfrm>
            <a:off x="62992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User Interviews. (2026). </a:t>
            </a:r>
            <a:r>
              <a:rPr lang="en-US" sz="1200" i="1" dirty="0">
                <a:solidFill>
                  <a:srgbClr val="B5B4AE"/>
                </a:solidFill>
                <a:latin typeface="JetBrains Mono" pitchFamily="49" charset="0"/>
                <a:ea typeface="JetBrains Mono" pitchFamily="49" charset="-122"/>
                <a:cs typeface="JetBrains Mono" pitchFamily="49" charset="-120"/>
              </a:rPr>
              <a:t>The state of user research 2026</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4" name="Text 12"/>
          <p:cNvSpPr/>
          <p:nvPr/>
        </p:nvSpPr>
        <p:spPr>
          <a:xfrm>
            <a:off x="62992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Wen, J. (2026). The design process is dead. Here’s what’s replacing it. </a:t>
            </a:r>
            <a:r>
              <a:rPr lang="en-US" sz="1200" i="1" dirty="0">
                <a:solidFill>
                  <a:srgbClr val="B5B4AE"/>
                </a:solidFill>
                <a:latin typeface="JetBrains Mono" pitchFamily="49" charset="0"/>
                <a:ea typeface="JetBrains Mono" pitchFamily="49" charset="-122"/>
                <a:cs typeface="JetBrains Mono" pitchFamily="49" charset="-120"/>
              </a:rPr>
              <a:t>Lenny's Podcast</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6" name="Text 14"/>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APPENDIX</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One pipeline, many tools</a:t>
            </a:r>
            <a:endParaRPr lang="en-US" sz="3600" dirty="0"/>
          </a:p>
        </p:txBody>
      </p:sp>
      <p:sp>
        <p:nvSpPr>
          <p:cNvPr id="4" name="Shape 2"/>
          <p:cNvSpPr/>
          <p:nvPr/>
        </p:nvSpPr>
        <p:spPr>
          <a:xfrm>
            <a:off x="815975" y="2395885"/>
            <a:ext cx="3190230" cy="1070570"/>
          </a:xfrm>
          <a:prstGeom prst="roundRect">
            <a:avLst>
              <a:gd name="adj" fmla="val 4449"/>
            </a:avLst>
          </a:prstGeom>
          <a:noFill/>
          <a:ln w="6350">
            <a:solidFill>
              <a:srgbClr val="7FD9C4"/>
            </a:solidFill>
            <a:prstDash val="solid"/>
          </a:ln>
        </p:spPr>
      </p:sp>
      <p:sp>
        <p:nvSpPr>
          <p:cNvPr id="5" name="Text 3"/>
          <p:cNvSpPr/>
          <p:nvPr/>
        </p:nvSpPr>
        <p:spPr>
          <a:xfrm>
            <a:off x="1047750" y="2627660"/>
            <a:ext cx="28084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PRODUCT</a:t>
            </a:r>
            <a:endParaRPr lang="en-US" sz="1200" dirty="0"/>
          </a:p>
        </p:txBody>
      </p:sp>
      <p:sp>
        <p:nvSpPr>
          <p:cNvPr id="6" name="Text 4"/>
          <p:cNvSpPr/>
          <p:nvPr/>
        </p:nvSpPr>
        <p:spPr>
          <a:xfrm>
            <a:off x="1047750" y="2917180"/>
            <a:ext cx="2808480"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AI-written brief</a:t>
            </a:r>
            <a:endParaRPr lang="en-US" sz="2000" dirty="0"/>
          </a:p>
        </p:txBody>
      </p:sp>
      <p:sp>
        <p:nvSpPr>
          <p:cNvPr id="7" name="Text 5"/>
          <p:cNvSpPr/>
          <p:nvPr/>
        </p:nvSpPr>
        <p:spPr>
          <a:xfrm>
            <a:off x="4161780" y="2717800"/>
            <a:ext cx="234305"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7FD9C4"/>
                </a:solidFill>
                <a:latin typeface="JetBrains Mono" pitchFamily="49" charset="0"/>
                <a:ea typeface="JetBrains Mono" pitchFamily="49" charset="-122"/>
                <a:cs typeface="JetBrains Mono" pitchFamily="49" charset="-120"/>
              </a:rPr>
              <a:t>→</a:t>
            </a:r>
            <a:endParaRPr lang="en-US" sz="2400" dirty="0"/>
          </a:p>
        </p:txBody>
      </p:sp>
      <p:sp>
        <p:nvSpPr>
          <p:cNvPr id="8" name="Shape 6"/>
          <p:cNvSpPr/>
          <p:nvPr/>
        </p:nvSpPr>
        <p:spPr>
          <a:xfrm>
            <a:off x="4500860" y="2237135"/>
            <a:ext cx="3190280" cy="1388070"/>
          </a:xfrm>
          <a:prstGeom prst="roundRect">
            <a:avLst>
              <a:gd name="adj" fmla="val 3431"/>
            </a:avLst>
          </a:prstGeom>
          <a:noFill/>
          <a:ln w="6350">
            <a:solidFill>
              <a:srgbClr val="7FD9C4"/>
            </a:solidFill>
            <a:prstDash val="solid"/>
          </a:ln>
        </p:spPr>
      </p:sp>
      <p:sp>
        <p:nvSpPr>
          <p:cNvPr id="9" name="Text 7"/>
          <p:cNvSpPr/>
          <p:nvPr/>
        </p:nvSpPr>
        <p:spPr>
          <a:xfrm>
            <a:off x="4732635" y="2468910"/>
            <a:ext cx="280853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a:t>
            </a:r>
            <a:endParaRPr lang="en-US" sz="1200" dirty="0"/>
          </a:p>
        </p:txBody>
      </p:sp>
      <p:sp>
        <p:nvSpPr>
          <p:cNvPr id="10" name="Text 8"/>
          <p:cNvSpPr/>
          <p:nvPr/>
        </p:nvSpPr>
        <p:spPr>
          <a:xfrm>
            <a:off x="4732635" y="2758430"/>
            <a:ext cx="280853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Figma Make · Lovable</a:t>
            </a:r>
            <a:endParaRPr lang="en-US" sz="2000" dirty="0"/>
          </a:p>
        </p:txBody>
      </p:sp>
      <p:sp>
        <p:nvSpPr>
          <p:cNvPr id="11" name="Text 9"/>
          <p:cNvSpPr/>
          <p:nvPr/>
        </p:nvSpPr>
        <p:spPr>
          <a:xfrm>
            <a:off x="7846715" y="2717800"/>
            <a:ext cx="234305"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7FD9C4"/>
                </a:solidFill>
                <a:latin typeface="JetBrains Mono" pitchFamily="49" charset="0"/>
                <a:ea typeface="JetBrains Mono" pitchFamily="49" charset="-122"/>
                <a:cs typeface="JetBrains Mono" pitchFamily="49" charset="-120"/>
              </a:rPr>
              <a:t>→</a:t>
            </a:r>
            <a:endParaRPr lang="en-US" sz="2400" dirty="0"/>
          </a:p>
        </p:txBody>
      </p:sp>
      <p:sp>
        <p:nvSpPr>
          <p:cNvPr id="12" name="Shape 10"/>
          <p:cNvSpPr/>
          <p:nvPr/>
        </p:nvSpPr>
        <p:spPr>
          <a:xfrm>
            <a:off x="8185795" y="2395885"/>
            <a:ext cx="3190230" cy="1070570"/>
          </a:xfrm>
          <a:prstGeom prst="roundRect">
            <a:avLst>
              <a:gd name="adj" fmla="val 4449"/>
            </a:avLst>
          </a:prstGeom>
          <a:noFill/>
          <a:ln w="6350">
            <a:solidFill>
              <a:srgbClr val="7FD9C4"/>
            </a:solidFill>
            <a:prstDash val="solid"/>
          </a:ln>
        </p:spPr>
      </p:sp>
      <p:sp>
        <p:nvSpPr>
          <p:cNvPr id="13" name="Text 11"/>
          <p:cNvSpPr/>
          <p:nvPr/>
        </p:nvSpPr>
        <p:spPr>
          <a:xfrm>
            <a:off x="8417570" y="2627660"/>
            <a:ext cx="28084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ENGINEERING</a:t>
            </a:r>
            <a:endParaRPr lang="en-US" sz="1200" dirty="0"/>
          </a:p>
        </p:txBody>
      </p:sp>
      <p:sp>
        <p:nvSpPr>
          <p:cNvPr id="14" name="Text 12"/>
          <p:cNvSpPr/>
          <p:nvPr/>
        </p:nvSpPr>
        <p:spPr>
          <a:xfrm>
            <a:off x="8417570" y="2917180"/>
            <a:ext cx="2808480"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Code</a:t>
            </a:r>
            <a:endParaRPr lang="en-US" sz="2000" dirty="0"/>
          </a:p>
        </p:txBody>
      </p:sp>
      <p:sp>
        <p:nvSpPr>
          <p:cNvPr id="15" name="Shape 13"/>
          <p:cNvSpPr/>
          <p:nvPr/>
        </p:nvSpPr>
        <p:spPr>
          <a:xfrm>
            <a:off x="815975" y="3783955"/>
            <a:ext cx="10560050" cy="1070570"/>
          </a:xfrm>
          <a:prstGeom prst="roundRect">
            <a:avLst>
              <a:gd name="adj" fmla="val 4449"/>
            </a:avLst>
          </a:prstGeom>
          <a:noFill/>
          <a:ln w="6350">
            <a:solidFill>
              <a:srgbClr val="5C5C58"/>
            </a:solidFill>
            <a:prstDash val="dash"/>
          </a:ln>
        </p:spPr>
      </p:sp>
      <p:sp>
        <p:nvSpPr>
          <p:cNvPr id="16" name="Text 14"/>
          <p:cNvSpPr/>
          <p:nvPr/>
        </p:nvSpPr>
        <p:spPr>
          <a:xfrm>
            <a:off x="1047750" y="4015730"/>
            <a:ext cx="1039939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RESEARCH</a:t>
            </a:r>
            <a:endParaRPr lang="en-US" sz="1200" dirty="0"/>
          </a:p>
        </p:txBody>
      </p:sp>
      <p:sp>
        <p:nvSpPr>
          <p:cNvPr id="17" name="Text 15"/>
          <p:cNvSpPr/>
          <p:nvPr/>
        </p:nvSpPr>
        <p:spPr>
          <a:xfrm>
            <a:off x="1047750" y="4305250"/>
            <a:ext cx="10399395"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AI synthesis at scale, feeding every stage</a:t>
            </a:r>
            <a:endParaRPr lang="en-US" sz="2000" dirty="0"/>
          </a:p>
        </p:txBody>
      </p:sp>
      <p:sp>
        <p:nvSpPr>
          <p:cNvPr id="18" name="Text 16"/>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F2F1EC"/>
                </a:solidFill>
                <a:latin typeface="JetBrains Mono" pitchFamily="49" charset="0"/>
                <a:ea typeface="JetBrains Mono" pitchFamily="49" charset="-122"/>
                <a:cs typeface="JetBrains Mono" pitchFamily="49" charset="-120"/>
              </a:rPr>
              <a:t>Faster and wider. </a:t>
            </a:r>
            <a:r>
              <a:rPr lang="en-US" sz="2400" dirty="0">
                <a:solidFill>
                  <a:srgbClr val="7FD9C4"/>
                </a:solidFill>
                <a:latin typeface="JetBrains Mono" pitchFamily="49" charset="0"/>
                <a:ea typeface="JetBrains Mono" pitchFamily="49" charset="-122"/>
                <a:cs typeface="JetBrains Mono" pitchFamily="49" charset="-120"/>
              </a:rPr>
              <a:t>But is it rigorous?</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Team norms are being rewritten</a:t>
            </a:r>
            <a:endParaRPr lang="en-US" sz="3600" dirty="0"/>
          </a:p>
        </p:txBody>
      </p:sp>
      <p:sp>
        <p:nvSpPr>
          <p:cNvPr id="4" name="Shape 2"/>
          <p:cNvSpPr/>
          <p:nvPr/>
        </p:nvSpPr>
        <p:spPr>
          <a:xfrm>
            <a:off x="812800" y="2773710"/>
            <a:ext cx="5181600" cy="0"/>
          </a:xfrm>
          <a:prstGeom prst="line">
            <a:avLst/>
          </a:prstGeom>
          <a:noFill/>
          <a:ln w="12700">
            <a:solidFill>
              <a:srgbClr val="F29DBA"/>
            </a:solidFill>
            <a:prstDash val="solid"/>
          </a:ln>
        </p:spPr>
      </p:sp>
      <p:sp>
        <p:nvSpPr>
          <p:cNvPr id="5" name="Text 3"/>
          <p:cNvSpPr/>
          <p:nvPr/>
        </p:nvSpPr>
        <p:spPr>
          <a:xfrm>
            <a:off x="812800" y="295786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9DBA"/>
                </a:solidFill>
                <a:latin typeface="JetBrains Mono" pitchFamily="49" charset="0"/>
                <a:ea typeface="JetBrains Mono" pitchFamily="49" charset="-122"/>
                <a:cs typeface="JetBrains Mono" pitchFamily="49" charset="-120"/>
              </a:rPr>
              <a:t>THE WRITER</a:t>
            </a:r>
            <a:endParaRPr lang="en-US" sz="1200" dirty="0"/>
          </a:p>
        </p:txBody>
      </p:sp>
      <p:sp>
        <p:nvSpPr>
          <p:cNvPr id="6" name="Text 4"/>
          <p:cNvSpPr/>
          <p:nvPr/>
        </p:nvSpPr>
        <p:spPr>
          <a:xfrm>
            <a:off x="812800" y="329818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Told to use AI.</a:t>
            </a:r>
            <a:endParaRPr lang="en-US" sz="2000" dirty="0"/>
          </a:p>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Judged for using it.</a:t>
            </a:r>
            <a:endParaRPr lang="en-US" sz="2000" dirty="0"/>
          </a:p>
        </p:txBody>
      </p:sp>
      <p:sp>
        <p:nvSpPr>
          <p:cNvPr id="7" name="Shape 5"/>
          <p:cNvSpPr/>
          <p:nvPr/>
        </p:nvSpPr>
        <p:spPr>
          <a:xfrm>
            <a:off x="6197600" y="2773710"/>
            <a:ext cx="5181600" cy="0"/>
          </a:xfrm>
          <a:prstGeom prst="line">
            <a:avLst/>
          </a:prstGeom>
          <a:noFill/>
          <a:ln w="12700">
            <a:solidFill>
              <a:srgbClr val="8DBAF6"/>
            </a:solidFill>
            <a:prstDash val="solid"/>
          </a:ln>
        </p:spPr>
      </p:sp>
      <p:sp>
        <p:nvSpPr>
          <p:cNvPr id="8" name="Text 6"/>
          <p:cNvSpPr/>
          <p:nvPr/>
        </p:nvSpPr>
        <p:spPr>
          <a:xfrm>
            <a:off x="6197600" y="295786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THE ENGINEER</a:t>
            </a:r>
            <a:endParaRPr lang="en-US" sz="1200" dirty="0"/>
          </a:p>
        </p:txBody>
      </p:sp>
      <p:sp>
        <p:nvSpPr>
          <p:cNvPr id="9" name="Text 7"/>
          <p:cNvSpPr/>
          <p:nvPr/>
        </p:nvSpPr>
        <p:spPr>
          <a:xfrm>
            <a:off x="6197600" y="329818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Expected to use AI.</a:t>
            </a:r>
            <a:endParaRPr lang="en-US" sz="2000" dirty="0"/>
          </a:p>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Others clean up after.</a:t>
            </a:r>
            <a:endParaRPr lang="en-US" sz="2000" dirty="0"/>
          </a:p>
        </p:txBody>
      </p:sp>
      <p:sp>
        <p:nvSpPr>
          <p:cNvPr id="10" name="Text 8"/>
          <p:cNvSpPr/>
          <p:nvPr/>
        </p:nvSpPr>
        <p:spPr>
          <a:xfrm>
            <a:off x="812800" y="509528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AI is redrawing who owns which work.</a:t>
            </a:r>
            <a:endParaRPr lang="en-US" sz="2400" dirty="0"/>
          </a:p>
        </p:txBody>
      </p:sp>
      <p:sp>
        <p:nvSpPr>
          <p:cNvPr id="11" name="Text 9"/>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Who owns the prompt? Who signs off? What counts as done?</a:t>
            </a:r>
            <a:endParaRPr lang="en-US" sz="1600" dirty="0"/>
          </a:p>
        </p:txBody>
      </p:sp>
      <p:sp>
        <p:nvSpPr>
          <p:cNvPr id="12" name="Text 10"/>
          <p:cNvSpPr/>
          <p:nvPr/>
        </p:nvSpPr>
        <p:spPr>
          <a:xfrm>
            <a:off x="812800" y="6238280"/>
            <a:ext cx="599848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ABBOTT, 1988 · RAHWAN, 2018 · AHUJA ET AL., 2026</a:t>
            </a:r>
            <a:endParaRPr lang="en-US" sz="1200" dirty="0"/>
          </a:p>
        </p:txBody>
      </p:sp>
      <p:sp>
        <p:nvSpPr>
          <p:cNvPr id="13" name="Text 1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TURN TO A NEIGHBOUR · 2 MIN</a:t>
            </a:r>
            <a:endParaRPr lang="en-US" sz="1200" dirty="0"/>
          </a:p>
        </p:txBody>
      </p:sp>
      <p:sp>
        <p:nvSpPr>
          <p:cNvPr id="3" name="Text 1"/>
          <p:cNvSpPr/>
          <p:nvPr>
            <p:ph type="title"/>
          </p:nvPr>
        </p:nvSpPr>
        <p:spPr>
          <a:xfrm>
            <a:off x="812800" y="268734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F2F1EC"/>
                </a:solidFill>
                <a:latin typeface="JetBrains Mono" pitchFamily="49" charset="0"/>
                <a:ea typeface="JetBrains Mono" pitchFamily="49" charset="-122"/>
                <a:cs typeface="JetBrains Mono" pitchFamily="49" charset="-120"/>
              </a:rPr>
              <a:t>What in your workflow or team changed this year?</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THE GAP</a:t>
            </a:r>
            <a:endParaRPr lang="en-US" sz="1200" dirty="0"/>
          </a:p>
        </p:txBody>
      </p:sp>
      <p:sp>
        <p:nvSpPr>
          <p:cNvPr id="3" name="Text 1"/>
          <p:cNvSpPr/>
          <p:nvPr>
            <p:ph type="title"/>
          </p:nvPr>
        </p:nvSpPr>
        <p:spPr>
          <a:xfrm>
            <a:off x="812800" y="112772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research exists. The bridges don’t.</a:t>
            </a:r>
            <a:endParaRPr lang="en-US" sz="3600" dirty="0"/>
          </a:p>
        </p:txBody>
      </p:sp>
      <p:sp>
        <p:nvSpPr>
          <p:cNvPr id="4" name="Shape 2"/>
          <p:cNvSpPr/>
          <p:nvPr/>
        </p:nvSpPr>
        <p:spPr>
          <a:xfrm>
            <a:off x="812800" y="2718147"/>
            <a:ext cx="3386634" cy="0"/>
          </a:xfrm>
          <a:prstGeom prst="line">
            <a:avLst/>
          </a:prstGeom>
          <a:noFill/>
          <a:ln w="12700">
            <a:solidFill>
              <a:srgbClr val="B7ADFF"/>
            </a:solidFill>
            <a:prstDash val="solid"/>
          </a:ln>
        </p:spPr>
      </p:sp>
      <p:sp>
        <p:nvSpPr>
          <p:cNvPr id="5" name="Text 3"/>
          <p:cNvSpPr/>
          <p:nvPr/>
        </p:nvSpPr>
        <p:spPr>
          <a:xfrm>
            <a:off x="812800" y="2902297"/>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ACADEMIA</a:t>
            </a:r>
            <a:endParaRPr lang="en-US" sz="1200" dirty="0"/>
          </a:p>
        </p:txBody>
      </p:sp>
      <p:sp>
        <p:nvSpPr>
          <p:cNvPr id="6" name="Text 4"/>
          <p:cNvSpPr/>
          <p:nvPr/>
        </p:nvSpPr>
        <p:spPr>
          <a:xfrm>
            <a:off x="812800" y="3217218"/>
            <a:ext cx="3488233"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Knows a lot</a:t>
            </a:r>
            <a:endParaRPr lang="en-US" sz="2200" dirty="0"/>
          </a:p>
        </p:txBody>
      </p:sp>
      <p:sp>
        <p:nvSpPr>
          <p:cNvPr id="7" name="Text 5"/>
          <p:cNvSpPr/>
          <p:nvPr/>
        </p:nvSpPr>
        <p:spPr>
          <a:xfrm>
            <a:off x="812800" y="3640088"/>
            <a:ext cx="348823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JetBrains Mono" pitchFamily="49" charset="0"/>
                <a:ea typeface="JetBrains Mono" pitchFamily="49" charset="-122"/>
                <a:cs typeface="JetBrains Mono" pitchFamily="49" charset="-120"/>
              </a:rPr>
              <a:t>Publishes in papers and venues industry rarely reads. Takes years.</a:t>
            </a:r>
            <a:endParaRPr lang="en-US" sz="1500" dirty="0"/>
          </a:p>
        </p:txBody>
      </p:sp>
      <p:sp>
        <p:nvSpPr>
          <p:cNvPr id="8" name="Shape 6"/>
          <p:cNvSpPr/>
          <p:nvPr/>
        </p:nvSpPr>
        <p:spPr>
          <a:xfrm>
            <a:off x="4402634" y="2718147"/>
            <a:ext cx="3386683" cy="0"/>
          </a:xfrm>
          <a:prstGeom prst="line">
            <a:avLst/>
          </a:prstGeom>
          <a:noFill/>
          <a:ln w="12700">
            <a:solidFill>
              <a:srgbClr val="8DBAF6"/>
            </a:solidFill>
            <a:prstDash val="solid"/>
          </a:ln>
        </p:spPr>
      </p:sp>
      <p:sp>
        <p:nvSpPr>
          <p:cNvPr id="9" name="Text 7"/>
          <p:cNvSpPr/>
          <p:nvPr/>
        </p:nvSpPr>
        <p:spPr>
          <a:xfrm>
            <a:off x="4402634" y="2902297"/>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INDUSTRY</a:t>
            </a:r>
            <a:endParaRPr lang="en-US" sz="1200" dirty="0"/>
          </a:p>
        </p:txBody>
      </p:sp>
      <p:sp>
        <p:nvSpPr>
          <p:cNvPr id="10" name="Text 8"/>
          <p:cNvSpPr/>
          <p:nvPr/>
        </p:nvSpPr>
        <p:spPr>
          <a:xfrm>
            <a:off x="4402634" y="3217218"/>
            <a:ext cx="3488284"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Ships fast</a:t>
            </a:r>
            <a:endParaRPr lang="en-US" sz="2200" dirty="0"/>
          </a:p>
        </p:txBody>
      </p:sp>
      <p:sp>
        <p:nvSpPr>
          <p:cNvPr id="11" name="Text 9"/>
          <p:cNvSpPr/>
          <p:nvPr/>
        </p:nvSpPr>
        <p:spPr>
          <a:xfrm>
            <a:off x="4402634" y="3640088"/>
            <a:ext cx="348828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JetBrains Mono" pitchFamily="49" charset="0"/>
                <a:ea typeface="JetBrains Mono" pitchFamily="49" charset="-122"/>
                <a:cs typeface="JetBrains Mono" pitchFamily="49" charset="-120"/>
              </a:rPr>
              <a:t>Works in weeks. Keeps its data and findings inside the company.</a:t>
            </a:r>
            <a:endParaRPr lang="en-US" sz="1500" dirty="0"/>
          </a:p>
        </p:txBody>
      </p:sp>
      <p:sp>
        <p:nvSpPr>
          <p:cNvPr id="12" name="Shape 10"/>
          <p:cNvSpPr/>
          <p:nvPr/>
        </p:nvSpPr>
        <p:spPr>
          <a:xfrm>
            <a:off x="7992517" y="2718147"/>
            <a:ext cx="3386683" cy="0"/>
          </a:xfrm>
          <a:prstGeom prst="line">
            <a:avLst/>
          </a:prstGeom>
          <a:noFill/>
          <a:ln w="12700">
            <a:solidFill>
              <a:srgbClr val="7FD9C4"/>
            </a:solidFill>
            <a:prstDash val="solid"/>
          </a:ln>
        </p:spPr>
      </p:sp>
      <p:sp>
        <p:nvSpPr>
          <p:cNvPr id="13" name="Text 11"/>
          <p:cNvSpPr/>
          <p:nvPr/>
        </p:nvSpPr>
        <p:spPr>
          <a:xfrm>
            <a:off x="7992517" y="2902297"/>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TRANSLATORS</a:t>
            </a:r>
            <a:endParaRPr lang="en-US" sz="1200" dirty="0"/>
          </a:p>
        </p:txBody>
      </p:sp>
      <p:sp>
        <p:nvSpPr>
          <p:cNvPr id="14" name="Text 12"/>
          <p:cNvSpPr/>
          <p:nvPr/>
        </p:nvSpPr>
        <p:spPr>
          <a:xfrm>
            <a:off x="7992517" y="3217218"/>
            <a:ext cx="3488284"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Very few</a:t>
            </a:r>
            <a:endParaRPr lang="en-US" sz="2200" dirty="0"/>
          </a:p>
        </p:txBody>
      </p:sp>
      <p:sp>
        <p:nvSpPr>
          <p:cNvPr id="15" name="Text 13"/>
          <p:cNvSpPr/>
          <p:nvPr/>
        </p:nvSpPr>
        <p:spPr>
          <a:xfrm>
            <a:off x="7992517" y="3640088"/>
            <a:ext cx="348828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JetBrains Mono" pitchFamily="49" charset="0"/>
                <a:ea typeface="JetBrains Mono" pitchFamily="49" charset="-122"/>
                <a:cs typeface="JetBrains Mono" pitchFamily="49" charset="-120"/>
              </a:rPr>
              <a:t>The people who turn findings into decisions someone can act on.</a:t>
            </a:r>
            <a:endParaRPr lang="en-US" sz="1500" dirty="0"/>
          </a:p>
        </p:txBody>
      </p:sp>
      <p:sp>
        <p:nvSpPr>
          <p:cNvPr id="16" name="Text 14"/>
          <p:cNvSpPr/>
          <p:nvPr/>
        </p:nvSpPr>
        <p:spPr>
          <a:xfrm>
            <a:off x="812800" y="5492750"/>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8BD78"/>
                </a:solidFill>
                <a:latin typeface="JetBrains Mono" pitchFamily="49" charset="0"/>
                <a:ea typeface="JetBrains Mono" pitchFamily="49" charset="-122"/>
                <a:cs typeface="JetBrains Mono" pitchFamily="49" charset="-120"/>
              </a:rPr>
              <a:t>Silos on both sides, and almost no one in between.</a:t>
            </a:r>
            <a:endParaRPr lang="en-US" sz="2200" dirty="0"/>
          </a:p>
        </p:txBody>
      </p:sp>
      <p:sp>
        <p:nvSpPr>
          <p:cNvPr id="17" name="Text 1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8" name="Text 1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THE RESULT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A copy of a copy</a:t>
            </a:r>
            <a:endParaRPr lang="en-US" sz="3600" dirty="0"/>
          </a:p>
        </p:txBody>
      </p:sp>
      <p:sp>
        <p:nvSpPr>
          <p:cNvPr id="4" name="Shape 2"/>
          <p:cNvSpPr/>
          <p:nvPr/>
        </p:nvSpPr>
        <p:spPr>
          <a:xfrm>
            <a:off x="812800" y="2601615"/>
            <a:ext cx="10566400" cy="0"/>
          </a:xfrm>
          <a:prstGeom prst="line">
            <a:avLst/>
          </a:prstGeom>
          <a:noFill/>
          <a:ln w="6350">
            <a:solidFill>
              <a:srgbClr val="2A2A28"/>
            </a:solidFill>
            <a:prstDash val="solid"/>
          </a:ln>
        </p:spPr>
      </p:sp>
      <p:sp>
        <p:nvSpPr>
          <p:cNvPr id="5" name="Text 3"/>
          <p:cNvSpPr/>
          <p:nvPr/>
        </p:nvSpPr>
        <p:spPr>
          <a:xfrm>
            <a:off x="812800" y="275719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ACCESS</a:t>
            </a:r>
            <a:endParaRPr lang="en-US" sz="1600" dirty="0"/>
          </a:p>
        </p:txBody>
      </p:sp>
      <p:sp>
        <p:nvSpPr>
          <p:cNvPr id="6" name="Text 4"/>
          <p:cNvSpPr/>
          <p:nvPr/>
        </p:nvSpPr>
        <p:spPr>
          <a:xfrm>
            <a:off x="3022600" y="275719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Design has never been more accessible.</a:t>
            </a:r>
            <a:endParaRPr lang="en-US" sz="1800" dirty="0"/>
          </a:p>
        </p:txBody>
      </p:sp>
      <p:sp>
        <p:nvSpPr>
          <p:cNvPr id="7" name="Shape 5"/>
          <p:cNvSpPr/>
          <p:nvPr/>
        </p:nvSpPr>
        <p:spPr>
          <a:xfrm>
            <a:off x="812800" y="3209925"/>
            <a:ext cx="10566400" cy="0"/>
          </a:xfrm>
          <a:prstGeom prst="line">
            <a:avLst/>
          </a:prstGeom>
          <a:noFill/>
          <a:ln w="6350">
            <a:solidFill>
              <a:srgbClr val="2A2A28"/>
            </a:solidFill>
            <a:prstDash val="solid"/>
          </a:ln>
        </p:spPr>
      </p:sp>
      <p:sp>
        <p:nvSpPr>
          <p:cNvPr id="8" name="Text 6"/>
          <p:cNvSpPr/>
          <p:nvPr/>
        </p:nvSpPr>
        <p:spPr>
          <a:xfrm>
            <a:off x="812800" y="336550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INVESTMENT</a:t>
            </a:r>
            <a:endParaRPr lang="en-US" sz="1600" dirty="0"/>
          </a:p>
        </p:txBody>
      </p:sp>
      <p:sp>
        <p:nvSpPr>
          <p:cNvPr id="9" name="Text 7"/>
          <p:cNvSpPr/>
          <p:nvPr/>
        </p:nvSpPr>
        <p:spPr>
          <a:xfrm>
            <a:off x="3022600" y="336550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We have never invested more in design.</a:t>
            </a:r>
            <a:endParaRPr lang="en-US" sz="1800" dirty="0"/>
          </a:p>
        </p:txBody>
      </p:sp>
      <p:sp>
        <p:nvSpPr>
          <p:cNvPr id="10" name="Shape 8"/>
          <p:cNvSpPr/>
          <p:nvPr/>
        </p:nvSpPr>
        <p:spPr>
          <a:xfrm>
            <a:off x="812800" y="3818235"/>
            <a:ext cx="10566400" cy="0"/>
          </a:xfrm>
          <a:prstGeom prst="line">
            <a:avLst/>
          </a:prstGeom>
          <a:noFill/>
          <a:ln w="6350">
            <a:solidFill>
              <a:srgbClr val="2A2A28"/>
            </a:solidFill>
            <a:prstDash val="solid"/>
          </a:ln>
        </p:spPr>
      </p:sp>
      <p:sp>
        <p:nvSpPr>
          <p:cNvPr id="11" name="Shape 9"/>
          <p:cNvSpPr/>
          <p:nvPr/>
        </p:nvSpPr>
        <p:spPr>
          <a:xfrm>
            <a:off x="812800" y="4426545"/>
            <a:ext cx="10566400" cy="0"/>
          </a:xfrm>
          <a:prstGeom prst="line">
            <a:avLst/>
          </a:prstGeom>
          <a:noFill/>
          <a:ln w="6350">
            <a:solidFill>
              <a:srgbClr val="2A2A28"/>
            </a:solidFill>
            <a:prstDash val="solid"/>
          </a:ln>
        </p:spPr>
      </p:sp>
      <p:sp>
        <p:nvSpPr>
          <p:cNvPr id="12" name="Text 10"/>
          <p:cNvSpPr/>
          <p:nvPr/>
        </p:nvSpPr>
        <p:spPr>
          <a:xfrm>
            <a:off x="812800" y="397381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OUTPUT</a:t>
            </a:r>
            <a:endParaRPr lang="en-US" sz="1600" dirty="0"/>
          </a:p>
        </p:txBody>
      </p:sp>
      <p:sp>
        <p:nvSpPr>
          <p:cNvPr id="13" name="Text 11"/>
          <p:cNvSpPr/>
          <p:nvPr/>
        </p:nvSpPr>
        <p:spPr>
          <a:xfrm>
            <a:off x="3022600" y="397381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Yet so much of what we make feels like a copy of a copy.</a:t>
            </a:r>
            <a:endParaRPr lang="en-US" sz="1800" dirty="0"/>
          </a:p>
        </p:txBody>
      </p:sp>
      <p:sp>
        <p:nvSpPr>
          <p:cNvPr id="14" name="Text 12"/>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8BD78"/>
                </a:solidFill>
                <a:latin typeface="JetBrains Mono" pitchFamily="49" charset="0"/>
                <a:ea typeface="JetBrains Mono" pitchFamily="49" charset="-122"/>
                <a:cs typeface="JetBrains Mono" pitchFamily="49" charset="-120"/>
              </a:rPr>
              <a:t>Every copy loses a bit of the reason.</a:t>
            </a:r>
            <a:endParaRPr lang="en-US" sz="28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6" name="Text 1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815975" y="917575"/>
            <a:ext cx="10560050" cy="4819650"/>
          </a:xfrm>
          <a:prstGeom prst="rect">
            <a:avLst/>
          </a:prstGeom>
          <a:noFill/>
          <a:ln w="6350">
            <a:solidFill>
              <a:srgbClr val="33332F"/>
            </a:solidFill>
            <a:prstDash val="dash"/>
          </a:ln>
        </p:spPr>
      </p:sp>
      <p:sp>
        <p:nvSpPr>
          <p:cNvPr id="3" name="Text 1"/>
          <p:cNvSpPr/>
          <p:nvPr/>
        </p:nvSpPr>
        <p:spPr>
          <a:xfrm>
            <a:off x="5240834" y="2621310"/>
            <a:ext cx="1710333" cy="238720"/>
          </a:xfrm>
          <a:prstGeom prst="rect">
            <a:avLst/>
          </a:prstGeom>
          <a:noFill/>
          <a:ln/>
        </p:spPr>
        <p:txBody>
          <a:bodyPr wrap="square" lIns="0" tIns="0" rIns="0" bIns="0" rtlCol="0" anchor="t">
            <a:normAutofit/>
          </a:bodyPr>
          <a:lstStyle/>
          <a:p>
            <a:pPr algn="ctr" indent="0" marL="0">
              <a:lnSpc>
                <a:spcPts val="1680"/>
              </a:lnSpc>
              <a:buNone/>
            </a:pPr>
            <a:r>
              <a:rPr lang="en-US" sz="1200" spc="300" kern="0" dirty="0">
                <a:solidFill>
                  <a:srgbClr val="8A8985"/>
                </a:solidFill>
                <a:latin typeface="JetBrains Mono" pitchFamily="49" charset="0"/>
                <a:ea typeface="JetBrains Mono" pitchFamily="49" charset="-122"/>
                <a:cs typeface="JetBrains Mono" pitchFamily="49" charset="-120"/>
              </a:rPr>
              <a:t>▶ PLAY CLIP</a:t>
            </a:r>
            <a:endParaRPr lang="en-US" sz="1200" dirty="0"/>
          </a:p>
        </p:txBody>
      </p:sp>
      <p:sp>
        <p:nvSpPr>
          <p:cNvPr id="4" name="Text 2"/>
          <p:cNvSpPr/>
          <p:nvPr/>
        </p:nvSpPr>
        <p:spPr>
          <a:xfrm>
            <a:off x="3977640" y="2987030"/>
            <a:ext cx="4236720" cy="635000"/>
          </a:xfrm>
          <a:prstGeom prst="rect">
            <a:avLst/>
          </a:prstGeom>
          <a:noFill/>
          <a:ln/>
        </p:spPr>
        <p:txBody>
          <a:bodyPr wrap="square" lIns="0" tIns="0" rIns="0" bIns="0" rtlCol="0" anchor="t">
            <a:normAutofit/>
          </a:bodyPr>
          <a:lstStyle/>
          <a:p>
            <a:pPr algn="ctr" indent="0" marL="0">
              <a:lnSpc>
                <a:spcPts val="4800"/>
              </a:lnSpc>
              <a:buNone/>
            </a:pPr>
            <a:r>
              <a:rPr lang="en-US" sz="4800" i="1" spc="-100" kern="0" dirty="0">
                <a:solidFill>
                  <a:srgbClr val="F2F1EC"/>
                </a:solidFill>
                <a:latin typeface="JetBrains Mono" pitchFamily="49" charset="0"/>
                <a:ea typeface="JetBrains Mono" pitchFamily="49" charset="-122"/>
                <a:cs typeface="JetBrains Mono" pitchFamily="49" charset="-120"/>
              </a:rPr>
              <a:t>Her</a:t>
            </a:r>
            <a:r>
              <a:rPr lang="en-US" sz="4800" spc="-100" kern="0" dirty="0">
                <a:solidFill>
                  <a:srgbClr val="F2F1EC"/>
                </a:solidFill>
                <a:latin typeface="JetBrains Mono" pitchFamily="49" charset="0"/>
                <a:ea typeface="JetBrains Mono" pitchFamily="49" charset="-122"/>
                <a:cs typeface="JetBrains Mono" pitchFamily="49" charset="-120"/>
              </a:rPr>
              <a:t> (2013)</a:t>
            </a:r>
            <a:endParaRPr lang="en-US" sz="4800" dirty="0"/>
          </a:p>
        </p:txBody>
      </p:sp>
      <p:sp>
        <p:nvSpPr>
          <p:cNvPr id="5" name="Text 3"/>
          <p:cNvSpPr/>
          <p:nvPr/>
        </p:nvSpPr>
        <p:spPr>
          <a:xfrm>
            <a:off x="2072640" y="3749030"/>
            <a:ext cx="804672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8A8985"/>
                </a:solidFill>
                <a:latin typeface="JetBrains Mono" pitchFamily="49" charset="0"/>
                <a:ea typeface="JetBrains Mono" pitchFamily="49" charset="-122"/>
                <a:cs typeface="JetBrains Mono" pitchFamily="49" charset="-120"/>
              </a:rPr>
              <a:t>30–60 seconds · [replace with a film still or the clip]</a:t>
            </a:r>
            <a:endParaRPr lang="en-US" sz="1600" dirty="0"/>
          </a:p>
        </p:txBody>
      </p:sp>
      <p:sp>
        <p:nvSpPr>
          <p:cNvPr id="6"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7" name="Text 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Observation, not prediction</a:t>
            </a:r>
            <a:endParaRPr lang="en-US" sz="3600" dirty="0"/>
          </a:p>
        </p:txBody>
      </p:sp>
      <p:sp>
        <p:nvSpPr>
          <p:cNvPr id="4" name="Text 2"/>
          <p:cNvSpPr/>
          <p:nvPr/>
        </p:nvSpPr>
        <p:spPr>
          <a:xfrm>
            <a:off x="812800" y="2956570"/>
            <a:ext cx="6069584" cy="1305471"/>
          </a:xfrm>
          <a:prstGeom prst="rect">
            <a:avLst/>
          </a:prstGeom>
          <a:noFill/>
          <a:ln/>
        </p:spPr>
        <p:txBody>
          <a:bodyPr wrap="square" lIns="0" tIns="0" rIns="0" bIns="0" rtlCol="0" anchor="t">
            <a:normAutofit/>
          </a:bodyPr>
          <a:lstStyle/>
          <a:p>
            <a:pPr algn="l" indent="0" marL="0">
              <a:lnSpc>
                <a:spcPts val="3360"/>
              </a:lnSpc>
              <a:buNone/>
            </a:pPr>
            <a:r>
              <a:rPr lang="en-US" sz="2800" i="1" dirty="0">
                <a:solidFill>
                  <a:srgbClr val="F2F1EC"/>
                </a:solidFill>
                <a:latin typeface="JetBrains Mono" pitchFamily="49" charset="0"/>
                <a:ea typeface="JetBrains Mono" pitchFamily="49" charset="-122"/>
                <a:cs typeface="JetBrains Mono" pitchFamily="49" charset="-120"/>
              </a:rPr>
              <a:t>Her</a:t>
            </a:r>
            <a:r>
              <a:rPr lang="en-US" sz="2800" dirty="0">
                <a:solidFill>
                  <a:srgbClr val="F2F1EC"/>
                </a:solidFill>
                <a:latin typeface="JetBrains Mono" pitchFamily="49" charset="0"/>
                <a:ea typeface="JetBrains Mono" pitchFamily="49" charset="-122"/>
                <a:cs typeface="JetBrains Mono" pitchFamily="49" charset="-120"/>
              </a:rPr>
              <a:t> didn't predict the future. It </a:t>
            </a:r>
            <a:r>
              <a:rPr lang="en-US" sz="2800" dirty="0">
                <a:solidFill>
                  <a:srgbClr val="7FD9C4"/>
                </a:solidFill>
                <a:latin typeface="JetBrains Mono" pitchFamily="49" charset="0"/>
                <a:ea typeface="JetBrains Mono" pitchFamily="49" charset="-122"/>
                <a:cs typeface="JetBrains Mono" pitchFamily="49" charset="-120"/>
              </a:rPr>
              <a:t>gave language to the present</a:t>
            </a:r>
            <a:r>
              <a:rPr lang="en-US" sz="2800" dirty="0">
                <a:solidFill>
                  <a:srgbClr val="F2F1EC"/>
                </a:solidFill>
                <a:latin typeface="JetBrains Mono" pitchFamily="49" charset="0"/>
                <a:ea typeface="JetBrains Mono" pitchFamily="49" charset="-122"/>
                <a:cs typeface="JetBrains Mono" pitchFamily="49" charset="-120"/>
              </a:rPr>
              <a:t>.</a:t>
            </a:r>
            <a:endParaRPr lang="en-US" sz="2800" dirty="0"/>
          </a:p>
        </p:txBody>
      </p:sp>
      <p:sp>
        <p:nvSpPr>
          <p:cNvPr id="5" name="Text 3"/>
          <p:cNvSpPr/>
          <p:nvPr/>
        </p:nvSpPr>
        <p:spPr>
          <a:xfrm>
            <a:off x="812800" y="4490641"/>
            <a:ext cx="6069584"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JetBrains Mono" pitchFamily="49" charset="0"/>
                <a:ea typeface="JetBrains Mono" pitchFamily="49" charset="-122"/>
                <a:cs typeface="JetBrains Mono" pitchFamily="49" charset="-120"/>
              </a:rPr>
              <a:t>Design research can do the same.</a:t>
            </a:r>
            <a:endParaRPr lang="en-US" sz="2000" dirty="0"/>
          </a:p>
        </p:txBody>
      </p:sp>
      <p:pic>
        <p:nvPicPr>
          <p:cNvPr id="6" name="Image 0" descr="The design cycle: observe, insights, inspire, visualise, build, and back to observe">    </p:cNvPr>
          <p:cNvPicPr>
            <a:picLocks noChangeAspect="1"/>
          </p:cNvPicPr>
          <p:nvPr/>
        </p:nvPicPr>
        <p:blipFill>
          <a:blip r:embed="rId1"/>
          <a:srcRect l="0" r="0" t="0" b="0"/>
          <a:stretch/>
        </p:blipFill>
        <p:spPr>
          <a:xfrm>
            <a:off x="7315200" y="2072580"/>
            <a:ext cx="4064000" cy="3632200"/>
          </a:xfrm>
          <a:prstGeom prst="rect">
            <a:avLst/>
          </a:prstGeom>
        </p:spPr>
      </p:pic>
      <p:sp>
        <p:nvSpPr>
          <p:cNvPr id="7"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8" name="Text 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What makes people trust AI?</a:t>
            </a:r>
            <a:endParaRPr lang="en-US" sz="3600" dirty="0"/>
          </a:p>
        </p:txBody>
      </p:sp>
      <p:sp>
        <p:nvSpPr>
          <p:cNvPr id="4" name="Shape 2"/>
          <p:cNvSpPr/>
          <p:nvPr/>
        </p:nvSpPr>
        <p:spPr>
          <a:xfrm>
            <a:off x="2587625" y="1833811"/>
            <a:ext cx="0" cy="3487489"/>
          </a:xfrm>
          <a:prstGeom prst="line">
            <a:avLst/>
          </a:prstGeom>
          <a:noFill/>
          <a:ln w="6350">
            <a:solidFill>
              <a:srgbClr val="2A2A28"/>
            </a:solidFill>
            <a:prstDash val="solid"/>
          </a:ln>
        </p:spPr>
      </p:sp>
      <p:pic>
        <p:nvPicPr>
          <p:cNvPr id="5" name="Image 0" descr="ellipse">    </p:cNvPr>
          <p:cNvPicPr>
            <a:picLocks noChangeAspect="1"/>
          </p:cNvPicPr>
          <p:nvPr/>
        </p:nvPicPr>
        <p:blipFill>
          <a:blip r:embed="rId1"/>
          <a:srcRect l="0" r="0" t="0" b="0"/>
          <a:stretch/>
        </p:blipFill>
        <p:spPr>
          <a:xfrm>
            <a:off x="812800" y="1833811"/>
            <a:ext cx="355600" cy="355600"/>
          </a:xfrm>
          <a:prstGeom prst="rect">
            <a:avLst/>
          </a:prstGeom>
        </p:spPr>
      </p:pic>
      <p:sp>
        <p:nvSpPr>
          <p:cNvPr id="6" name="Text 3"/>
          <p:cNvSpPr/>
          <p:nvPr/>
        </p:nvSpPr>
        <p:spPr>
          <a:xfrm>
            <a:off x="812800" y="2291011"/>
            <a:ext cx="1568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THE PROBLEM</a:t>
            </a:r>
            <a:endParaRPr lang="en-US" sz="1200" dirty="0"/>
          </a:p>
        </p:txBody>
      </p:sp>
      <p:sp>
        <p:nvSpPr>
          <p:cNvPr id="7" name="Text 4"/>
          <p:cNvSpPr/>
          <p:nvPr/>
        </p:nvSpPr>
        <p:spPr>
          <a:xfrm>
            <a:off x="812800" y="2605931"/>
            <a:ext cx="1568450" cy="84827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2F1EC"/>
                </a:solidFill>
                <a:latin typeface="JetBrains Mono" pitchFamily="49" charset="0"/>
                <a:ea typeface="JetBrains Mono" pitchFamily="49" charset="-122"/>
                <a:cs typeface="JetBrains Mono" pitchFamily="49" charset="-120"/>
              </a:rPr>
              <a:t>People don’t trust AI</a:t>
            </a:r>
            <a:endParaRPr lang="en-US" sz="1800" dirty="0"/>
          </a:p>
        </p:txBody>
      </p:sp>
      <p:sp>
        <p:nvSpPr>
          <p:cNvPr id="8" name="Text 5"/>
          <p:cNvSpPr/>
          <p:nvPr/>
        </p:nvSpPr>
        <p:spPr>
          <a:xfrm>
            <a:off x="2895600" y="1833811"/>
            <a:ext cx="3315117"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 CLOSER · FASTER TO SHIP</a:t>
            </a:r>
            <a:endParaRPr lang="en-US" sz="1200" dirty="0"/>
          </a:p>
        </p:txBody>
      </p:sp>
      <p:sp>
        <p:nvSpPr>
          <p:cNvPr id="9" name="Text 6"/>
          <p:cNvSpPr/>
          <p:nvPr/>
        </p:nvSpPr>
        <p:spPr>
          <a:xfrm>
            <a:off x="8992235" y="1833811"/>
            <a:ext cx="2386965" cy="23872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FURTHER · SLOWER →</a:t>
            </a:r>
            <a:endParaRPr lang="en-US" sz="1200" dirty="0"/>
          </a:p>
        </p:txBody>
      </p:sp>
      <p:sp>
        <p:nvSpPr>
          <p:cNvPr id="10" name="Shape 7"/>
          <p:cNvSpPr/>
          <p:nvPr/>
        </p:nvSpPr>
        <p:spPr>
          <a:xfrm>
            <a:off x="2895600" y="2123331"/>
            <a:ext cx="8483600" cy="25400"/>
          </a:xfrm>
          <a:prstGeom prst="rect">
            <a:avLst/>
          </a:prstGeom>
          <a:gradFill rotWithShape="1">
            <a:gsLst>
              <a:gs pos="0">
                <a:srgbClr val="F29DBA"/>
              </a:gs>
              <a:gs pos="33000">
                <a:srgbClr val="E8BD78"/>
              </a:gs>
              <a:gs pos="66000">
                <a:srgbClr val="7FD9C4"/>
              </a:gs>
              <a:gs pos="100000">
                <a:srgbClr val="8DBAF6"/>
              </a:gs>
            </a:gsLst>
            <a:lin ang="0" scaled="0"/>
          </a:gradFill>
          <a:ln/>
        </p:spPr>
      </p:sp>
      <p:pic>
        <p:nvPicPr>
          <p:cNvPr id="11" name="Image 1" descr="ellipse">    </p:cNvPr>
          <p:cNvPicPr>
            <a:picLocks noChangeAspect="1"/>
          </p:cNvPicPr>
          <p:nvPr/>
        </p:nvPicPr>
        <p:blipFill>
          <a:blip r:embed="rId2"/>
          <a:srcRect l="0" r="0" t="0" b="0"/>
          <a:stretch/>
        </p:blipFill>
        <p:spPr>
          <a:xfrm>
            <a:off x="2895600" y="2356991"/>
            <a:ext cx="152400" cy="152400"/>
          </a:xfrm>
          <a:prstGeom prst="rect">
            <a:avLst/>
          </a:prstGeom>
        </p:spPr>
      </p:pic>
      <p:sp>
        <p:nvSpPr>
          <p:cNvPr id="12" name="Text 8"/>
          <p:cNvSpPr/>
          <p:nvPr/>
        </p:nvSpPr>
        <p:spPr>
          <a:xfrm>
            <a:off x="3149600" y="2326531"/>
            <a:ext cx="79557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9DBA"/>
                </a:solidFill>
                <a:latin typeface="JetBrains Mono" pitchFamily="49" charset="0"/>
                <a:ea typeface="JetBrains Mono" pitchFamily="49" charset="-122"/>
                <a:cs typeface="JetBrains Mono" pitchFamily="49" charset="-120"/>
              </a:rPr>
              <a:t>DESIGN</a:t>
            </a:r>
            <a:endParaRPr lang="en-US" sz="1200" dirty="0"/>
          </a:p>
        </p:txBody>
      </p:sp>
      <p:sp>
        <p:nvSpPr>
          <p:cNvPr id="13" name="Text 9"/>
          <p:cNvSpPr/>
          <p:nvPr/>
        </p:nvSpPr>
        <p:spPr>
          <a:xfrm>
            <a:off x="28956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How it feels</a:t>
            </a:r>
            <a:endParaRPr lang="en-US" sz="1200" dirty="0"/>
          </a:p>
        </p:txBody>
      </p:sp>
      <p:sp>
        <p:nvSpPr>
          <p:cNvPr id="14" name="Shape 10"/>
          <p:cNvSpPr/>
          <p:nvPr/>
        </p:nvSpPr>
        <p:spPr>
          <a:xfrm>
            <a:off x="2895600" y="2883346"/>
            <a:ext cx="1930400" cy="0"/>
          </a:xfrm>
          <a:prstGeom prst="line">
            <a:avLst/>
          </a:prstGeom>
          <a:noFill/>
          <a:ln w="6350">
            <a:solidFill>
              <a:srgbClr val="2A2A28"/>
            </a:solidFill>
            <a:prstDash val="solid"/>
          </a:ln>
        </p:spPr>
      </p:sp>
      <p:sp>
        <p:nvSpPr>
          <p:cNvPr id="15" name="Text 11"/>
          <p:cNvSpPr/>
          <p:nvPr/>
        </p:nvSpPr>
        <p:spPr>
          <a:xfrm>
            <a:off x="28956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Forms that feel trustworthy</a:t>
            </a:r>
            <a:endParaRPr lang="en-US" sz="1300" dirty="0"/>
          </a:p>
        </p:txBody>
      </p:sp>
      <p:sp>
        <p:nvSpPr>
          <p:cNvPr id="16" name="Shape 12"/>
          <p:cNvSpPr/>
          <p:nvPr/>
        </p:nvSpPr>
        <p:spPr>
          <a:xfrm>
            <a:off x="2895600" y="3480246"/>
            <a:ext cx="1930400" cy="0"/>
          </a:xfrm>
          <a:prstGeom prst="line">
            <a:avLst/>
          </a:prstGeom>
          <a:noFill/>
          <a:ln w="6350">
            <a:solidFill>
              <a:srgbClr val="2A2A28"/>
            </a:solidFill>
            <a:prstDash val="solid"/>
          </a:ln>
        </p:spPr>
      </p:sp>
      <p:sp>
        <p:nvSpPr>
          <p:cNvPr id="17" name="Text 13"/>
          <p:cNvSpPr/>
          <p:nvPr/>
        </p:nvSpPr>
        <p:spPr>
          <a:xfrm>
            <a:off x="2895600" y="354692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Emotional bonds</a:t>
            </a:r>
            <a:endParaRPr lang="en-US" sz="1300" dirty="0"/>
          </a:p>
        </p:txBody>
      </p:sp>
      <p:sp>
        <p:nvSpPr>
          <p:cNvPr id="18" name="Shape 14"/>
          <p:cNvSpPr/>
          <p:nvPr/>
        </p:nvSpPr>
        <p:spPr>
          <a:xfrm>
            <a:off x="2895600" y="3870771"/>
            <a:ext cx="1930400" cy="0"/>
          </a:xfrm>
          <a:prstGeom prst="line">
            <a:avLst/>
          </a:prstGeom>
          <a:noFill/>
          <a:ln w="6350">
            <a:solidFill>
              <a:srgbClr val="2A2A28"/>
            </a:solidFill>
            <a:prstDash val="solid"/>
          </a:ln>
        </p:spPr>
      </p:sp>
      <p:sp>
        <p:nvSpPr>
          <p:cNvPr id="19" name="Text 15"/>
          <p:cNvSpPr/>
          <p:nvPr/>
        </p:nvSpPr>
        <p:spPr>
          <a:xfrm>
            <a:off x="2895600" y="3937446"/>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Friendly personas</a:t>
            </a:r>
            <a:endParaRPr lang="en-US" sz="1300" dirty="0"/>
          </a:p>
        </p:txBody>
      </p:sp>
      <p:pic>
        <p:nvPicPr>
          <p:cNvPr id="20" name="Image 2" descr="ellipse">    </p:cNvPr>
          <p:cNvPicPr>
            <a:picLocks noChangeAspect="1"/>
          </p:cNvPicPr>
          <p:nvPr/>
        </p:nvPicPr>
        <p:blipFill>
          <a:blip r:embed="rId3"/>
          <a:srcRect l="0" r="0" t="0" b="0"/>
          <a:stretch/>
        </p:blipFill>
        <p:spPr>
          <a:xfrm>
            <a:off x="5080000" y="2356991"/>
            <a:ext cx="152400" cy="152400"/>
          </a:xfrm>
          <a:prstGeom prst="rect">
            <a:avLst/>
          </a:prstGeom>
        </p:spPr>
      </p:pic>
      <p:sp>
        <p:nvSpPr>
          <p:cNvPr id="21" name="Text 16"/>
          <p:cNvSpPr/>
          <p:nvPr/>
        </p:nvSpPr>
        <p:spPr>
          <a:xfrm>
            <a:off x="5334000" y="2326531"/>
            <a:ext cx="79557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AGENCY</a:t>
            </a:r>
            <a:endParaRPr lang="en-US" sz="1200" dirty="0"/>
          </a:p>
        </p:txBody>
      </p:sp>
      <p:sp>
        <p:nvSpPr>
          <p:cNvPr id="22" name="Text 17"/>
          <p:cNvSpPr/>
          <p:nvPr/>
        </p:nvSpPr>
        <p:spPr>
          <a:xfrm>
            <a:off x="50800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What people can do</a:t>
            </a:r>
            <a:endParaRPr lang="en-US" sz="1200" dirty="0"/>
          </a:p>
        </p:txBody>
      </p:sp>
      <p:sp>
        <p:nvSpPr>
          <p:cNvPr id="23" name="Shape 18"/>
          <p:cNvSpPr/>
          <p:nvPr/>
        </p:nvSpPr>
        <p:spPr>
          <a:xfrm>
            <a:off x="5080000" y="2883346"/>
            <a:ext cx="1930400" cy="0"/>
          </a:xfrm>
          <a:prstGeom prst="line">
            <a:avLst/>
          </a:prstGeom>
          <a:noFill/>
          <a:ln w="6350">
            <a:solidFill>
              <a:srgbClr val="2A2A28"/>
            </a:solidFill>
            <a:prstDash val="solid"/>
          </a:ln>
        </p:spPr>
      </p:sp>
      <p:sp>
        <p:nvSpPr>
          <p:cNvPr id="24" name="Text 19"/>
          <p:cNvSpPr/>
          <p:nvPr/>
        </p:nvSpPr>
        <p:spPr>
          <a:xfrm>
            <a:off x="50800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Override, edit, undo</a:t>
            </a:r>
            <a:endParaRPr lang="en-US" sz="1300" dirty="0"/>
          </a:p>
        </p:txBody>
      </p:sp>
      <p:sp>
        <p:nvSpPr>
          <p:cNvPr id="25" name="Shape 20"/>
          <p:cNvSpPr/>
          <p:nvPr/>
        </p:nvSpPr>
        <p:spPr>
          <a:xfrm>
            <a:off x="5080000" y="3480246"/>
            <a:ext cx="1930400" cy="0"/>
          </a:xfrm>
          <a:prstGeom prst="line">
            <a:avLst/>
          </a:prstGeom>
          <a:noFill/>
          <a:ln w="6350">
            <a:solidFill>
              <a:srgbClr val="2A2A28"/>
            </a:solidFill>
            <a:prstDash val="solid"/>
          </a:ln>
        </p:spPr>
      </p:sp>
      <p:sp>
        <p:nvSpPr>
          <p:cNvPr id="26" name="Text 21"/>
          <p:cNvSpPr/>
          <p:nvPr/>
        </p:nvSpPr>
        <p:spPr>
          <a:xfrm>
            <a:off x="5080000" y="35469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Ways to verify answers</a:t>
            </a:r>
            <a:endParaRPr lang="en-US" sz="1300" dirty="0"/>
          </a:p>
        </p:txBody>
      </p:sp>
      <p:sp>
        <p:nvSpPr>
          <p:cNvPr id="27" name="Shape 22"/>
          <p:cNvSpPr/>
          <p:nvPr/>
        </p:nvSpPr>
        <p:spPr>
          <a:xfrm>
            <a:off x="5080000" y="4077146"/>
            <a:ext cx="1930400" cy="0"/>
          </a:xfrm>
          <a:prstGeom prst="line">
            <a:avLst/>
          </a:prstGeom>
          <a:noFill/>
          <a:ln w="6350">
            <a:solidFill>
              <a:srgbClr val="2A2A28"/>
            </a:solidFill>
            <a:prstDash val="solid"/>
          </a:ln>
        </p:spPr>
      </p:sp>
      <p:sp>
        <p:nvSpPr>
          <p:cNvPr id="28" name="Text 23"/>
          <p:cNvSpPr/>
          <p:nvPr/>
        </p:nvSpPr>
        <p:spPr>
          <a:xfrm>
            <a:off x="5080000" y="41438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Recovery from errors</a:t>
            </a:r>
            <a:endParaRPr lang="en-US" sz="1300" dirty="0"/>
          </a:p>
        </p:txBody>
      </p:sp>
      <p:pic>
        <p:nvPicPr>
          <p:cNvPr id="29" name="Image 3" descr="ellipse">    </p:cNvPr>
          <p:cNvPicPr>
            <a:picLocks noChangeAspect="1"/>
          </p:cNvPicPr>
          <p:nvPr/>
        </p:nvPicPr>
        <p:blipFill>
          <a:blip r:embed="rId4"/>
          <a:srcRect l="0" r="0" t="0" b="0"/>
          <a:stretch/>
        </p:blipFill>
        <p:spPr>
          <a:xfrm>
            <a:off x="7264400" y="2356991"/>
            <a:ext cx="152400" cy="152400"/>
          </a:xfrm>
          <a:prstGeom prst="rect">
            <a:avLst/>
          </a:prstGeom>
        </p:spPr>
      </p:pic>
      <p:sp>
        <p:nvSpPr>
          <p:cNvPr id="30" name="Text 24"/>
          <p:cNvSpPr/>
          <p:nvPr/>
        </p:nvSpPr>
        <p:spPr>
          <a:xfrm>
            <a:off x="7518400" y="2326531"/>
            <a:ext cx="119330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TECHNICAL</a:t>
            </a:r>
            <a:endParaRPr lang="en-US" sz="1200" dirty="0"/>
          </a:p>
        </p:txBody>
      </p:sp>
      <p:sp>
        <p:nvSpPr>
          <p:cNvPr id="31" name="Text 25"/>
          <p:cNvSpPr/>
          <p:nvPr/>
        </p:nvSpPr>
        <p:spPr>
          <a:xfrm>
            <a:off x="72644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What the model does</a:t>
            </a:r>
            <a:endParaRPr lang="en-US" sz="1200" dirty="0"/>
          </a:p>
        </p:txBody>
      </p:sp>
      <p:sp>
        <p:nvSpPr>
          <p:cNvPr id="32" name="Shape 26"/>
          <p:cNvSpPr/>
          <p:nvPr/>
        </p:nvSpPr>
        <p:spPr>
          <a:xfrm>
            <a:off x="7264400" y="2883346"/>
            <a:ext cx="1930400" cy="0"/>
          </a:xfrm>
          <a:prstGeom prst="line">
            <a:avLst/>
          </a:prstGeom>
          <a:noFill/>
          <a:ln w="6350">
            <a:solidFill>
              <a:srgbClr val="2A2A28"/>
            </a:solidFill>
            <a:prstDash val="solid"/>
          </a:ln>
        </p:spPr>
      </p:sp>
      <p:sp>
        <p:nvSpPr>
          <p:cNvPr id="33" name="Text 27"/>
          <p:cNvSpPr/>
          <p:nvPr/>
        </p:nvSpPr>
        <p:spPr>
          <a:xfrm>
            <a:off x="72644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Fewer hallucinations</a:t>
            </a:r>
            <a:endParaRPr lang="en-US" sz="1300" dirty="0"/>
          </a:p>
        </p:txBody>
      </p:sp>
      <p:sp>
        <p:nvSpPr>
          <p:cNvPr id="34" name="Shape 28"/>
          <p:cNvSpPr/>
          <p:nvPr/>
        </p:nvSpPr>
        <p:spPr>
          <a:xfrm>
            <a:off x="7264400" y="3480246"/>
            <a:ext cx="1930400" cy="0"/>
          </a:xfrm>
          <a:prstGeom prst="line">
            <a:avLst/>
          </a:prstGeom>
          <a:noFill/>
          <a:ln w="6350">
            <a:solidFill>
              <a:srgbClr val="2A2A28"/>
            </a:solidFill>
            <a:prstDash val="solid"/>
          </a:ln>
        </p:spPr>
      </p:sp>
      <p:sp>
        <p:nvSpPr>
          <p:cNvPr id="35" name="Text 29"/>
          <p:cNvSpPr/>
          <p:nvPr/>
        </p:nvSpPr>
        <p:spPr>
          <a:xfrm>
            <a:off x="7264400" y="354692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Explainability</a:t>
            </a:r>
            <a:endParaRPr lang="en-US" sz="1300" dirty="0"/>
          </a:p>
        </p:txBody>
      </p:sp>
      <p:sp>
        <p:nvSpPr>
          <p:cNvPr id="36" name="Shape 30"/>
          <p:cNvSpPr/>
          <p:nvPr/>
        </p:nvSpPr>
        <p:spPr>
          <a:xfrm>
            <a:off x="7264400" y="3870771"/>
            <a:ext cx="1930400" cy="0"/>
          </a:xfrm>
          <a:prstGeom prst="line">
            <a:avLst/>
          </a:prstGeom>
          <a:noFill/>
          <a:ln w="6350">
            <a:solidFill>
              <a:srgbClr val="2A2A28"/>
            </a:solidFill>
            <a:prstDash val="solid"/>
          </a:ln>
        </p:spPr>
      </p:sp>
      <p:sp>
        <p:nvSpPr>
          <p:cNvPr id="37" name="Text 31"/>
          <p:cNvSpPr/>
          <p:nvPr/>
        </p:nvSpPr>
        <p:spPr>
          <a:xfrm>
            <a:off x="7264400" y="3937446"/>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Consistent answers</a:t>
            </a:r>
            <a:endParaRPr lang="en-US" sz="1300" dirty="0"/>
          </a:p>
        </p:txBody>
      </p:sp>
      <p:sp>
        <p:nvSpPr>
          <p:cNvPr id="38" name="Shape 32"/>
          <p:cNvSpPr/>
          <p:nvPr/>
        </p:nvSpPr>
        <p:spPr>
          <a:xfrm>
            <a:off x="7264400" y="4261296"/>
            <a:ext cx="1930400" cy="0"/>
          </a:xfrm>
          <a:prstGeom prst="line">
            <a:avLst/>
          </a:prstGeom>
          <a:noFill/>
          <a:ln w="6350">
            <a:solidFill>
              <a:srgbClr val="2A2A28"/>
            </a:solidFill>
            <a:prstDash val="solid"/>
          </a:ln>
        </p:spPr>
      </p:sp>
      <p:sp>
        <p:nvSpPr>
          <p:cNvPr id="39" name="Text 33"/>
          <p:cNvSpPr/>
          <p:nvPr/>
        </p:nvSpPr>
        <p:spPr>
          <a:xfrm>
            <a:off x="7264400" y="432797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Alignment</a:t>
            </a:r>
            <a:endParaRPr lang="en-US" sz="1300" dirty="0"/>
          </a:p>
        </p:txBody>
      </p:sp>
      <p:pic>
        <p:nvPicPr>
          <p:cNvPr id="40" name="Image 4" descr="ellipse">    </p:cNvPr>
          <p:cNvPicPr>
            <a:picLocks noChangeAspect="1"/>
          </p:cNvPicPr>
          <p:nvPr/>
        </p:nvPicPr>
        <p:blipFill>
          <a:blip r:embed="rId5"/>
          <a:srcRect l="0" r="0" t="0" b="0"/>
          <a:stretch/>
        </p:blipFill>
        <p:spPr>
          <a:xfrm>
            <a:off x="9448800" y="2356991"/>
            <a:ext cx="152400" cy="152400"/>
          </a:xfrm>
          <a:prstGeom prst="rect">
            <a:avLst/>
          </a:prstGeom>
        </p:spPr>
      </p:pic>
      <p:sp>
        <p:nvSpPr>
          <p:cNvPr id="41" name="Text 34"/>
          <p:cNvSpPr/>
          <p:nvPr/>
        </p:nvSpPr>
        <p:spPr>
          <a:xfrm>
            <a:off x="9702800" y="2326531"/>
            <a:ext cx="172366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DBAF6"/>
                </a:solidFill>
                <a:latin typeface="JetBrains Mono" pitchFamily="49" charset="0"/>
                <a:ea typeface="JetBrains Mono" pitchFamily="49" charset="-122"/>
                <a:cs typeface="JetBrains Mono" pitchFamily="49" charset="-120"/>
              </a:rPr>
              <a:t>INSTITUTIONAL</a:t>
            </a:r>
            <a:endParaRPr lang="en-US" sz="1200" dirty="0"/>
          </a:p>
        </p:txBody>
      </p:sp>
      <p:sp>
        <p:nvSpPr>
          <p:cNvPr id="42" name="Text 35"/>
          <p:cNvSpPr/>
          <p:nvPr/>
        </p:nvSpPr>
        <p:spPr>
          <a:xfrm>
            <a:off x="94488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Who answers for it</a:t>
            </a:r>
            <a:endParaRPr lang="en-US" sz="1200" dirty="0"/>
          </a:p>
        </p:txBody>
      </p:sp>
      <p:sp>
        <p:nvSpPr>
          <p:cNvPr id="43" name="Shape 36"/>
          <p:cNvSpPr/>
          <p:nvPr/>
        </p:nvSpPr>
        <p:spPr>
          <a:xfrm>
            <a:off x="9448800" y="2883346"/>
            <a:ext cx="1930400" cy="0"/>
          </a:xfrm>
          <a:prstGeom prst="line">
            <a:avLst/>
          </a:prstGeom>
          <a:noFill/>
          <a:ln w="6350">
            <a:solidFill>
              <a:srgbClr val="2A2A28"/>
            </a:solidFill>
            <a:prstDash val="solid"/>
          </a:ln>
        </p:spPr>
      </p:sp>
      <p:sp>
        <p:nvSpPr>
          <p:cNvPr id="44" name="Text 37"/>
          <p:cNvSpPr/>
          <p:nvPr/>
        </p:nvSpPr>
        <p:spPr>
          <a:xfrm>
            <a:off x="94488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Liability and recourse</a:t>
            </a:r>
            <a:endParaRPr lang="en-US" sz="1300" dirty="0"/>
          </a:p>
        </p:txBody>
      </p:sp>
      <p:sp>
        <p:nvSpPr>
          <p:cNvPr id="45" name="Shape 38"/>
          <p:cNvSpPr/>
          <p:nvPr/>
        </p:nvSpPr>
        <p:spPr>
          <a:xfrm>
            <a:off x="9448800" y="3480246"/>
            <a:ext cx="1930400" cy="0"/>
          </a:xfrm>
          <a:prstGeom prst="line">
            <a:avLst/>
          </a:prstGeom>
          <a:noFill/>
          <a:ln w="6350">
            <a:solidFill>
              <a:srgbClr val="2A2A28"/>
            </a:solidFill>
            <a:prstDash val="solid"/>
          </a:ln>
        </p:spPr>
      </p:sp>
      <p:sp>
        <p:nvSpPr>
          <p:cNvPr id="46" name="Text 39"/>
          <p:cNvSpPr/>
          <p:nvPr/>
        </p:nvSpPr>
        <p:spPr>
          <a:xfrm>
            <a:off x="9448800" y="35469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Audits and regulation</a:t>
            </a:r>
            <a:endParaRPr lang="en-US" sz="1300" dirty="0"/>
          </a:p>
        </p:txBody>
      </p:sp>
      <p:sp>
        <p:nvSpPr>
          <p:cNvPr id="47" name="Shape 40"/>
          <p:cNvSpPr/>
          <p:nvPr/>
        </p:nvSpPr>
        <p:spPr>
          <a:xfrm>
            <a:off x="9448800" y="4077146"/>
            <a:ext cx="1930400" cy="0"/>
          </a:xfrm>
          <a:prstGeom prst="line">
            <a:avLst/>
          </a:prstGeom>
          <a:noFill/>
          <a:ln w="6350">
            <a:solidFill>
              <a:srgbClr val="2A2A28"/>
            </a:solidFill>
            <a:prstDash val="solid"/>
          </a:ln>
        </p:spPr>
      </p:sp>
      <p:sp>
        <p:nvSpPr>
          <p:cNvPr id="48" name="Text 41"/>
          <p:cNvSpPr/>
          <p:nvPr/>
        </p:nvSpPr>
        <p:spPr>
          <a:xfrm>
            <a:off x="9448800" y="41438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Honest data practices</a:t>
            </a:r>
            <a:endParaRPr lang="en-US" sz="1300" dirty="0"/>
          </a:p>
        </p:txBody>
      </p:sp>
      <p:sp>
        <p:nvSpPr>
          <p:cNvPr id="49" name="Shape 42"/>
          <p:cNvSpPr/>
          <p:nvPr/>
        </p:nvSpPr>
        <p:spPr>
          <a:xfrm>
            <a:off x="9448800" y="4674046"/>
            <a:ext cx="1930400" cy="0"/>
          </a:xfrm>
          <a:prstGeom prst="line">
            <a:avLst/>
          </a:prstGeom>
          <a:noFill/>
          <a:ln w="6350">
            <a:solidFill>
              <a:srgbClr val="2A2A28"/>
            </a:solidFill>
            <a:prstDash val="solid"/>
          </a:ln>
        </p:spPr>
      </p:sp>
      <p:sp>
        <p:nvSpPr>
          <p:cNvPr id="50" name="Text 43"/>
          <p:cNvSpPr/>
          <p:nvPr/>
        </p:nvSpPr>
        <p:spPr>
          <a:xfrm>
            <a:off x="9448800" y="47407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Incentives beyond engagement</a:t>
            </a:r>
            <a:endParaRPr lang="en-US" sz="1300" dirty="0"/>
          </a:p>
        </p:txBody>
      </p:sp>
      <p:sp>
        <p:nvSpPr>
          <p:cNvPr id="51" name="Text 44"/>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DESIGN CANNOT BE THE CHEAP CO-OUT TO ACTUALLY SOLVING TRUST ISSUES</a:t>
            </a:r>
            <a:endParaRPr lang="en-US" sz="2000" dirty="0"/>
          </a:p>
        </p:txBody>
      </p:sp>
      <p:sp>
        <p:nvSpPr>
          <p:cNvPr id="52" name="Text 4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53" name="Text 4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TRUST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Two ways to build trust</a:t>
            </a:r>
            <a:endParaRPr lang="en-US" sz="3600" dirty="0"/>
          </a:p>
        </p:txBody>
      </p:sp>
      <p:sp>
        <p:nvSpPr>
          <p:cNvPr id="4" name="Shape 2"/>
          <p:cNvSpPr/>
          <p:nvPr/>
        </p:nvSpPr>
        <p:spPr>
          <a:xfrm>
            <a:off x="812800" y="2205385"/>
            <a:ext cx="5080000" cy="0"/>
          </a:xfrm>
          <a:prstGeom prst="line">
            <a:avLst/>
          </a:prstGeom>
          <a:noFill/>
          <a:ln w="19050">
            <a:solidFill>
              <a:srgbClr val="FF6A4D"/>
            </a:solidFill>
            <a:prstDash val="solid"/>
          </a:ln>
        </p:spPr>
      </p:sp>
      <p:sp>
        <p:nvSpPr>
          <p:cNvPr id="5" name="Text 3"/>
          <p:cNvSpPr/>
          <p:nvPr/>
        </p:nvSpPr>
        <p:spPr>
          <a:xfrm>
            <a:off x="812800" y="236731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THE WRONG WAY</a:t>
            </a:r>
            <a:endParaRPr lang="en-US" sz="1200" dirty="0"/>
          </a:p>
        </p:txBody>
      </p:sp>
      <p:sp>
        <p:nvSpPr>
          <p:cNvPr id="6" name="Text 4"/>
          <p:cNvSpPr/>
          <p:nvPr/>
        </p:nvSpPr>
        <p:spPr>
          <a:xfrm>
            <a:off x="812800" y="2631430"/>
            <a:ext cx="523240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Make it feel trustworthy</a:t>
            </a:r>
            <a:endParaRPr lang="en-US" sz="2200" dirty="0"/>
          </a:p>
        </p:txBody>
      </p:sp>
      <p:sp>
        <p:nvSpPr>
          <p:cNvPr id="7" name="Shape 5"/>
          <p:cNvSpPr/>
          <p:nvPr/>
        </p:nvSpPr>
        <p:spPr>
          <a:xfrm>
            <a:off x="812800" y="3082875"/>
            <a:ext cx="5080000" cy="0"/>
          </a:xfrm>
          <a:prstGeom prst="line">
            <a:avLst/>
          </a:prstGeom>
          <a:noFill/>
          <a:ln w="6350">
            <a:solidFill>
              <a:srgbClr val="2A2A28"/>
            </a:solidFill>
            <a:prstDash val="solid"/>
          </a:ln>
        </p:spPr>
      </p:sp>
      <p:sp>
        <p:nvSpPr>
          <p:cNvPr id="8" name="Text 6"/>
          <p:cNvSpPr/>
          <p:nvPr/>
        </p:nvSpPr>
        <p:spPr>
          <a:xfrm>
            <a:off x="812800" y="31749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A face, a voice, a persona</a:t>
            </a:r>
            <a:endParaRPr lang="en-US" sz="1500" dirty="0"/>
          </a:p>
        </p:txBody>
      </p:sp>
      <p:sp>
        <p:nvSpPr>
          <p:cNvPr id="9" name="Shape 7"/>
          <p:cNvSpPr/>
          <p:nvPr/>
        </p:nvSpPr>
        <p:spPr>
          <a:xfrm>
            <a:off x="812800" y="3565475"/>
            <a:ext cx="5080000" cy="0"/>
          </a:xfrm>
          <a:prstGeom prst="line">
            <a:avLst/>
          </a:prstGeom>
          <a:noFill/>
          <a:ln w="6350">
            <a:solidFill>
              <a:srgbClr val="2A2A28"/>
            </a:solidFill>
            <a:prstDash val="solid"/>
          </a:ln>
        </p:spPr>
      </p:sp>
      <p:sp>
        <p:nvSpPr>
          <p:cNvPr id="10" name="Text 8"/>
          <p:cNvSpPr/>
          <p:nvPr/>
        </p:nvSpPr>
        <p:spPr>
          <a:xfrm>
            <a:off x="812800" y="36575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Borrowed familiarity, like Samantha’s voice</a:t>
            </a:r>
            <a:endParaRPr lang="en-US" sz="1500" dirty="0"/>
          </a:p>
        </p:txBody>
      </p:sp>
      <p:sp>
        <p:nvSpPr>
          <p:cNvPr id="11" name="Shape 9"/>
          <p:cNvSpPr/>
          <p:nvPr/>
        </p:nvSpPr>
        <p:spPr>
          <a:xfrm>
            <a:off x="812800" y="4048075"/>
            <a:ext cx="5080000" cy="0"/>
          </a:xfrm>
          <a:prstGeom prst="line">
            <a:avLst/>
          </a:prstGeom>
          <a:noFill/>
          <a:ln w="6350">
            <a:solidFill>
              <a:srgbClr val="2A2A28"/>
            </a:solidFill>
            <a:prstDash val="solid"/>
          </a:ln>
        </p:spPr>
      </p:sp>
      <p:sp>
        <p:nvSpPr>
          <p:cNvPr id="12" name="Text 10"/>
          <p:cNvSpPr/>
          <p:nvPr/>
        </p:nvSpPr>
        <p:spPr>
          <a:xfrm>
            <a:off x="812800" y="41401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Optimise for engagement</a:t>
            </a:r>
            <a:endParaRPr lang="en-US" sz="1500" dirty="0"/>
          </a:p>
        </p:txBody>
      </p:sp>
      <p:sp>
        <p:nvSpPr>
          <p:cNvPr id="13" name="Shape 11"/>
          <p:cNvSpPr/>
          <p:nvPr/>
        </p:nvSpPr>
        <p:spPr>
          <a:xfrm>
            <a:off x="812800" y="4530675"/>
            <a:ext cx="5080000" cy="0"/>
          </a:xfrm>
          <a:prstGeom prst="line">
            <a:avLst/>
          </a:prstGeom>
          <a:noFill/>
          <a:ln w="6350">
            <a:solidFill>
              <a:srgbClr val="2A2A28"/>
            </a:solidFill>
            <a:prstDash val="solid"/>
          </a:ln>
        </p:spPr>
      </p:sp>
      <p:sp>
        <p:nvSpPr>
          <p:cNvPr id="14" name="Text 12"/>
          <p:cNvSpPr/>
          <p:nvPr/>
        </p:nvSpPr>
        <p:spPr>
          <a:xfrm>
            <a:off x="812800" y="46227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Hide the limits</a:t>
            </a:r>
            <a:endParaRPr lang="en-US" sz="1500" dirty="0"/>
          </a:p>
        </p:txBody>
      </p:sp>
      <p:sp>
        <p:nvSpPr>
          <p:cNvPr id="15" name="Shape 13"/>
          <p:cNvSpPr/>
          <p:nvPr/>
        </p:nvSpPr>
        <p:spPr>
          <a:xfrm>
            <a:off x="6299200" y="2205385"/>
            <a:ext cx="5080000" cy="0"/>
          </a:xfrm>
          <a:prstGeom prst="line">
            <a:avLst/>
          </a:prstGeom>
          <a:noFill/>
          <a:ln w="19050">
            <a:solidFill>
              <a:srgbClr val="7FD9C4"/>
            </a:solidFill>
            <a:prstDash val="solid"/>
          </a:ln>
        </p:spPr>
      </p:sp>
      <p:sp>
        <p:nvSpPr>
          <p:cNvPr id="16" name="Text 14"/>
          <p:cNvSpPr/>
          <p:nvPr/>
        </p:nvSpPr>
        <p:spPr>
          <a:xfrm>
            <a:off x="6299200" y="236731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THE RIGHT WAY</a:t>
            </a:r>
            <a:endParaRPr lang="en-US" sz="1200" dirty="0"/>
          </a:p>
        </p:txBody>
      </p:sp>
      <p:sp>
        <p:nvSpPr>
          <p:cNvPr id="17" name="Text 15"/>
          <p:cNvSpPr/>
          <p:nvPr/>
        </p:nvSpPr>
        <p:spPr>
          <a:xfrm>
            <a:off x="6299200" y="2631430"/>
            <a:ext cx="523240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Make it trustworthy</a:t>
            </a:r>
            <a:endParaRPr lang="en-US" sz="2200" dirty="0"/>
          </a:p>
        </p:txBody>
      </p:sp>
      <p:sp>
        <p:nvSpPr>
          <p:cNvPr id="18" name="Shape 16"/>
          <p:cNvSpPr/>
          <p:nvPr/>
        </p:nvSpPr>
        <p:spPr>
          <a:xfrm>
            <a:off x="6299200" y="3082875"/>
            <a:ext cx="5080000" cy="0"/>
          </a:xfrm>
          <a:prstGeom prst="line">
            <a:avLst/>
          </a:prstGeom>
          <a:noFill/>
          <a:ln w="6350">
            <a:solidFill>
              <a:srgbClr val="2A2A28"/>
            </a:solidFill>
            <a:prstDash val="solid"/>
          </a:ln>
        </p:spPr>
      </p:sp>
      <p:sp>
        <p:nvSpPr>
          <p:cNvPr id="19" name="Text 17"/>
          <p:cNvSpPr/>
          <p:nvPr/>
        </p:nvSpPr>
        <p:spPr>
          <a:xfrm>
            <a:off x="6299200" y="31749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Show what it can do, and how well</a:t>
            </a:r>
            <a:endParaRPr lang="en-US" sz="1500" dirty="0"/>
          </a:p>
        </p:txBody>
      </p:sp>
      <p:sp>
        <p:nvSpPr>
          <p:cNvPr id="20" name="Shape 18"/>
          <p:cNvSpPr/>
          <p:nvPr/>
        </p:nvSpPr>
        <p:spPr>
          <a:xfrm>
            <a:off x="6299200" y="3565475"/>
            <a:ext cx="5080000" cy="0"/>
          </a:xfrm>
          <a:prstGeom prst="line">
            <a:avLst/>
          </a:prstGeom>
          <a:noFill/>
          <a:ln w="6350">
            <a:solidFill>
              <a:srgbClr val="2A2A28"/>
            </a:solidFill>
            <a:prstDash val="solid"/>
          </a:ln>
        </p:spPr>
      </p:sp>
      <p:sp>
        <p:nvSpPr>
          <p:cNvPr id="21" name="Text 19"/>
          <p:cNvSpPr/>
          <p:nvPr/>
        </p:nvSpPr>
        <p:spPr>
          <a:xfrm>
            <a:off x="6299200" y="36575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Let people check, override and undo</a:t>
            </a:r>
            <a:endParaRPr lang="en-US" sz="1500" dirty="0"/>
          </a:p>
        </p:txBody>
      </p:sp>
      <p:sp>
        <p:nvSpPr>
          <p:cNvPr id="22" name="Shape 20"/>
          <p:cNvSpPr/>
          <p:nvPr/>
        </p:nvSpPr>
        <p:spPr>
          <a:xfrm>
            <a:off x="6299200" y="4048075"/>
            <a:ext cx="5080000" cy="0"/>
          </a:xfrm>
          <a:prstGeom prst="line">
            <a:avLst/>
          </a:prstGeom>
          <a:noFill/>
          <a:ln w="6350">
            <a:solidFill>
              <a:srgbClr val="2A2A28"/>
            </a:solidFill>
            <a:prstDash val="solid"/>
          </a:ln>
        </p:spPr>
      </p:sp>
      <p:sp>
        <p:nvSpPr>
          <p:cNvPr id="23" name="Text 21"/>
          <p:cNvSpPr/>
          <p:nvPr/>
        </p:nvSpPr>
        <p:spPr>
          <a:xfrm>
            <a:off x="6299200" y="41401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Recover gracefully from errors</a:t>
            </a:r>
            <a:endParaRPr lang="en-US" sz="1500" dirty="0"/>
          </a:p>
        </p:txBody>
      </p:sp>
      <p:sp>
        <p:nvSpPr>
          <p:cNvPr id="24" name="Shape 22"/>
          <p:cNvSpPr/>
          <p:nvPr/>
        </p:nvSpPr>
        <p:spPr>
          <a:xfrm>
            <a:off x="6299200" y="4530675"/>
            <a:ext cx="5080000" cy="0"/>
          </a:xfrm>
          <a:prstGeom prst="line">
            <a:avLst/>
          </a:prstGeom>
          <a:noFill/>
          <a:ln w="6350">
            <a:solidFill>
              <a:srgbClr val="2A2A28"/>
            </a:solidFill>
            <a:prstDash val="solid"/>
          </a:ln>
        </p:spPr>
      </p:sp>
      <p:sp>
        <p:nvSpPr>
          <p:cNvPr id="25" name="Text 23"/>
          <p:cNvSpPr/>
          <p:nvPr/>
        </p:nvSpPr>
        <p:spPr>
          <a:xfrm>
            <a:off x="6299200" y="46227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Measure wellbeing, not just engagement</a:t>
            </a:r>
            <a:endParaRPr lang="en-US" sz="1500" dirty="0"/>
          </a:p>
        </p:txBody>
      </p:sp>
      <p:sp>
        <p:nvSpPr>
          <p:cNvPr id="26" name="Text 24"/>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The goal is calibrated trust: as much as it deserves, and no more.</a:t>
            </a:r>
            <a:endParaRPr lang="en-US" sz="2000" dirty="0"/>
          </a:p>
        </p:txBody>
      </p:sp>
      <p:sp>
        <p:nvSpPr>
          <p:cNvPr id="27" name="Text 2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8" name="Text 2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CRAFT AND EMPATHY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Big data vs thick data</a:t>
            </a:r>
            <a:endParaRPr lang="en-US" sz="3600" dirty="0"/>
          </a:p>
        </p:txBody>
      </p:sp>
      <p:sp>
        <p:nvSpPr>
          <p:cNvPr id="4" name="Text 2"/>
          <p:cNvSpPr/>
          <p:nvPr/>
        </p:nvSpPr>
        <p:spPr>
          <a:xfrm>
            <a:off x="2717800" y="1884611"/>
            <a:ext cx="4329811"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8DBAF6"/>
                </a:solidFill>
                <a:latin typeface="JetBrains Mono" pitchFamily="49" charset="0"/>
                <a:ea typeface="JetBrains Mono" pitchFamily="49" charset="-122"/>
                <a:cs typeface="JetBrains Mono" pitchFamily="49" charset="-120"/>
              </a:rPr>
              <a:t>BIG DATA</a:t>
            </a:r>
            <a:endParaRPr lang="en-US" sz="1400" dirty="0"/>
          </a:p>
        </p:txBody>
      </p:sp>
      <p:sp>
        <p:nvSpPr>
          <p:cNvPr id="5" name="Text 3"/>
          <p:cNvSpPr/>
          <p:nvPr/>
        </p:nvSpPr>
        <p:spPr>
          <a:xfrm>
            <a:off x="7175500" y="1884611"/>
            <a:ext cx="4329811"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7FD9C4"/>
                </a:solidFill>
                <a:latin typeface="JetBrains Mono" pitchFamily="49" charset="0"/>
                <a:ea typeface="JetBrains Mono" pitchFamily="49" charset="-122"/>
                <a:cs typeface="JetBrains Mono" pitchFamily="49" charset="-120"/>
              </a:rPr>
              <a:t>THICK DATA</a:t>
            </a:r>
            <a:endParaRPr lang="en-US" sz="1400" dirty="0"/>
          </a:p>
        </p:txBody>
      </p:sp>
      <p:sp>
        <p:nvSpPr>
          <p:cNvPr id="6" name="Shape 4"/>
          <p:cNvSpPr/>
          <p:nvPr/>
        </p:nvSpPr>
        <p:spPr>
          <a:xfrm>
            <a:off x="812800" y="2238276"/>
            <a:ext cx="10566400" cy="0"/>
          </a:xfrm>
          <a:prstGeom prst="line">
            <a:avLst/>
          </a:prstGeom>
          <a:noFill/>
          <a:ln w="6350">
            <a:solidFill>
              <a:srgbClr val="2A2A28"/>
            </a:solidFill>
            <a:prstDash val="solid"/>
          </a:ln>
        </p:spPr>
      </p:sp>
      <p:sp>
        <p:nvSpPr>
          <p:cNvPr id="7" name="Text 5"/>
          <p:cNvSpPr/>
          <p:nvPr/>
        </p:nvSpPr>
        <p:spPr>
          <a:xfrm>
            <a:off x="812800" y="238115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ANSWERS</a:t>
            </a:r>
            <a:endParaRPr lang="en-US" sz="1200" dirty="0"/>
          </a:p>
        </p:txBody>
      </p:sp>
      <p:sp>
        <p:nvSpPr>
          <p:cNvPr id="8" name="Text 6"/>
          <p:cNvSpPr/>
          <p:nvPr/>
        </p:nvSpPr>
        <p:spPr>
          <a:xfrm>
            <a:off x="2717800" y="238115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What happened? How many?</a:t>
            </a:r>
            <a:endParaRPr lang="en-US" sz="1600" dirty="0"/>
          </a:p>
        </p:txBody>
      </p:sp>
      <p:sp>
        <p:nvSpPr>
          <p:cNvPr id="9" name="Text 7"/>
          <p:cNvSpPr/>
          <p:nvPr/>
        </p:nvSpPr>
        <p:spPr>
          <a:xfrm>
            <a:off x="7175500" y="238115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Why? What did it feel like?</a:t>
            </a:r>
            <a:endParaRPr lang="en-US" sz="1600" dirty="0"/>
          </a:p>
        </p:txBody>
      </p:sp>
      <p:sp>
        <p:nvSpPr>
          <p:cNvPr id="10" name="Shape 8"/>
          <p:cNvSpPr/>
          <p:nvPr/>
        </p:nvSpPr>
        <p:spPr>
          <a:xfrm>
            <a:off x="812800" y="2788146"/>
            <a:ext cx="10566400" cy="0"/>
          </a:xfrm>
          <a:prstGeom prst="line">
            <a:avLst/>
          </a:prstGeom>
          <a:noFill/>
          <a:ln w="6350">
            <a:solidFill>
              <a:srgbClr val="2A2A28"/>
            </a:solidFill>
            <a:prstDash val="solid"/>
          </a:ln>
        </p:spPr>
      </p:sp>
      <p:sp>
        <p:nvSpPr>
          <p:cNvPr id="11" name="Text 9"/>
          <p:cNvSpPr/>
          <p:nvPr/>
        </p:nvSpPr>
        <p:spPr>
          <a:xfrm>
            <a:off x="812800" y="293102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COMES FROM</a:t>
            </a:r>
            <a:endParaRPr lang="en-US" sz="1200" dirty="0"/>
          </a:p>
        </p:txBody>
      </p:sp>
      <p:sp>
        <p:nvSpPr>
          <p:cNvPr id="12" name="Text 10"/>
          <p:cNvSpPr/>
          <p:nvPr/>
        </p:nvSpPr>
        <p:spPr>
          <a:xfrm>
            <a:off x="2717800" y="2931021"/>
            <a:ext cx="445770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Logs, clicks, transcripts at scale</a:t>
            </a:r>
            <a:endParaRPr lang="en-US" sz="1600" dirty="0"/>
          </a:p>
        </p:txBody>
      </p:sp>
      <p:sp>
        <p:nvSpPr>
          <p:cNvPr id="13" name="Text 11"/>
          <p:cNvSpPr/>
          <p:nvPr/>
        </p:nvSpPr>
        <p:spPr>
          <a:xfrm>
            <a:off x="7175500" y="293102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Observing, listening, being there</a:t>
            </a:r>
            <a:endParaRPr lang="en-US" sz="1600" dirty="0"/>
          </a:p>
        </p:txBody>
      </p:sp>
      <p:sp>
        <p:nvSpPr>
          <p:cNvPr id="14" name="Shape 12"/>
          <p:cNvSpPr/>
          <p:nvPr/>
        </p:nvSpPr>
        <p:spPr>
          <a:xfrm>
            <a:off x="812800" y="3338016"/>
            <a:ext cx="10566400" cy="0"/>
          </a:xfrm>
          <a:prstGeom prst="line">
            <a:avLst/>
          </a:prstGeom>
          <a:noFill/>
          <a:ln w="6350">
            <a:solidFill>
              <a:srgbClr val="2A2A28"/>
            </a:solidFill>
            <a:prstDash val="solid"/>
          </a:ln>
        </p:spPr>
      </p:sp>
      <p:sp>
        <p:nvSpPr>
          <p:cNvPr id="15" name="Text 13"/>
          <p:cNvSpPr/>
          <p:nvPr/>
        </p:nvSpPr>
        <p:spPr>
          <a:xfrm>
            <a:off x="812800" y="348089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AI</a:t>
            </a:r>
            <a:endParaRPr lang="en-US" sz="1200" dirty="0"/>
          </a:p>
        </p:txBody>
      </p:sp>
      <p:sp>
        <p:nvSpPr>
          <p:cNvPr id="16" name="Text 14"/>
          <p:cNvSpPr/>
          <p:nvPr/>
        </p:nvSpPr>
        <p:spPr>
          <a:xfrm>
            <a:off x="2717800" y="348089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Very good at it</a:t>
            </a:r>
            <a:endParaRPr lang="en-US" sz="1600" dirty="0"/>
          </a:p>
        </p:txBody>
      </p:sp>
      <p:sp>
        <p:nvSpPr>
          <p:cNvPr id="17" name="Text 15"/>
          <p:cNvSpPr/>
          <p:nvPr/>
        </p:nvSpPr>
        <p:spPr>
          <a:xfrm>
            <a:off x="7175500" y="348089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Can’t gather it for you</a:t>
            </a:r>
            <a:endParaRPr lang="en-US" sz="1600" dirty="0"/>
          </a:p>
        </p:txBody>
      </p:sp>
      <p:sp>
        <p:nvSpPr>
          <p:cNvPr id="18" name="Shape 16"/>
          <p:cNvSpPr/>
          <p:nvPr/>
        </p:nvSpPr>
        <p:spPr>
          <a:xfrm>
            <a:off x="812800" y="3887887"/>
            <a:ext cx="10566400" cy="0"/>
          </a:xfrm>
          <a:prstGeom prst="line">
            <a:avLst/>
          </a:prstGeom>
          <a:noFill/>
          <a:ln w="6350">
            <a:solidFill>
              <a:srgbClr val="2A2A28"/>
            </a:solidFill>
            <a:prstDash val="solid"/>
          </a:ln>
        </p:spPr>
      </p:sp>
      <p:sp>
        <p:nvSpPr>
          <p:cNvPr id="19" name="Shape 17"/>
          <p:cNvSpPr/>
          <p:nvPr/>
        </p:nvSpPr>
        <p:spPr>
          <a:xfrm>
            <a:off x="812800" y="4437757"/>
            <a:ext cx="10566400" cy="0"/>
          </a:xfrm>
          <a:prstGeom prst="line">
            <a:avLst/>
          </a:prstGeom>
          <a:noFill/>
          <a:ln w="6350">
            <a:solidFill>
              <a:srgbClr val="2A2A28"/>
            </a:solidFill>
            <a:prstDash val="solid"/>
          </a:ln>
        </p:spPr>
      </p:sp>
      <p:sp>
        <p:nvSpPr>
          <p:cNvPr id="20" name="Text 18"/>
          <p:cNvSpPr/>
          <p:nvPr/>
        </p:nvSpPr>
        <p:spPr>
          <a:xfrm>
            <a:off x="812800" y="4030762"/>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GIVES YOU</a:t>
            </a:r>
            <a:endParaRPr lang="en-US" sz="1200" dirty="0"/>
          </a:p>
        </p:txBody>
      </p:sp>
      <p:sp>
        <p:nvSpPr>
          <p:cNvPr id="21" name="Text 19"/>
          <p:cNvSpPr/>
          <p:nvPr/>
        </p:nvSpPr>
        <p:spPr>
          <a:xfrm>
            <a:off x="2717800" y="4030762"/>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Patterns</a:t>
            </a:r>
            <a:endParaRPr lang="en-US" sz="1600" dirty="0"/>
          </a:p>
        </p:txBody>
      </p:sp>
      <p:sp>
        <p:nvSpPr>
          <p:cNvPr id="22" name="Text 20"/>
          <p:cNvSpPr/>
          <p:nvPr/>
        </p:nvSpPr>
        <p:spPr>
          <a:xfrm>
            <a:off x="7175500" y="4030762"/>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Meaning</a:t>
            </a:r>
            <a:endParaRPr lang="en-US" sz="1600" dirty="0"/>
          </a:p>
        </p:txBody>
      </p:sp>
      <p:sp>
        <p:nvSpPr>
          <p:cNvPr id="23" name="Text 21"/>
          <p:cNvSpPr/>
          <p:nvPr/>
        </p:nvSpPr>
        <p:spPr>
          <a:xfrm>
            <a:off x="812800" y="4694932"/>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8BD78"/>
                </a:solidFill>
                <a:latin typeface="JetBrains Mono" pitchFamily="49" charset="0"/>
                <a:ea typeface="JetBrains Mono" pitchFamily="49" charset="-122"/>
                <a:cs typeface="JetBrains Mono" pitchFamily="49" charset="-120"/>
              </a:rPr>
              <a:t>AI scales the what. Empathy finds the why.</a:t>
            </a:r>
            <a:endParaRPr lang="en-US" sz="2200" dirty="0"/>
          </a:p>
        </p:txBody>
      </p:sp>
      <p:sp>
        <p:nvSpPr>
          <p:cNvPr id="24" name="Text 22"/>
          <p:cNvSpPr/>
          <p:nvPr/>
        </p:nvSpPr>
        <p:spPr>
          <a:xfrm>
            <a:off x="812800" y="6238280"/>
            <a:ext cx="387405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WANG, 2013 · AFTER GEERTZ, 1973</a:t>
            </a:r>
            <a:endParaRPr lang="en-US" sz="1200" dirty="0"/>
          </a:p>
        </p:txBody>
      </p:sp>
      <p:sp>
        <p:nvSpPr>
          <p:cNvPr id="25" name="Text 23"/>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0B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 · AI · RESEARCH</a:t>
            </a:r>
            <a:endParaRPr lang="en-US" sz="1200" dirty="0"/>
          </a:p>
        </p:txBody>
      </p:sp>
      <p:sp>
        <p:nvSpPr>
          <p:cNvPr id="5" name="Text 2"/>
          <p:cNvSpPr/>
          <p:nvPr>
            <p:ph type="title"/>
          </p:nvPr>
        </p:nvSpPr>
        <p:spPr>
          <a:xfrm>
            <a:off x="812800" y="212348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Build</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bridges</a:t>
            </a:r>
            <a:endParaRPr lang="en-US" sz="7200" dirty="0"/>
          </a:p>
        </p:txBody>
      </p:sp>
      <p:sp>
        <p:nvSpPr>
          <p:cNvPr id="6" name="Text 3"/>
          <p:cNvSpPr/>
          <p:nvPr/>
        </p:nvSpPr>
        <p:spPr>
          <a:xfrm>
            <a:off x="812800" y="4206280"/>
            <a:ext cx="601726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Part 4 · Research you can use, and the map we need</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7:40–7:55 PM</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0B0A"/>
        </a:solidFill>
      </p:bgPr>
    </p:bg>
    <p:spTree>
      <p:nvGrpSpPr>
        <p:cNvPr id="1" name=""/>
        <p:cNvGrpSpPr/>
        <p:nvPr/>
      </p:nvGrpSpPr>
      <p:grpSpPr>
        <a:xfrm>
          <a:off x="0" y="0"/>
          <a:ext cx="0" cy="0"/>
          <a:chOff x="0" y="0"/>
          <a:chExt cx="0" cy="0"/>
        </a:xfrm>
      </p:grpSpPr>
      <p:pic>
        <p:nvPicPr>
          <p:cNvPr id="2" name="Image 0" descr="A network of present-day knowledge on HCI, interfaces and human behaviour: universities, big tech labs, startups, government AI agencies, the UN and UNESCO, design agencies, research communities and civil society. Research hubs are dense and well connected; design agencies and startups are small and loosely linked.">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73625" y="1063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1</a:t>
            </a:r>
            <a:endParaRPr lang="en-US" sz="1200" dirty="0"/>
          </a:p>
        </p:txBody>
      </p:sp>
      <p:sp>
        <p:nvSpPr>
          <p:cNvPr id="4" name="Text 1"/>
          <p:cNvSpPr/>
          <p:nvPr/>
        </p:nvSpPr>
        <p:spPr>
          <a:xfrm>
            <a:off x="4292600" y="1397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MIT Media Lab</a:t>
            </a:r>
            <a:endParaRPr lang="en-US" sz="1200" dirty="0"/>
          </a:p>
        </p:txBody>
      </p:sp>
      <p:sp>
        <p:nvSpPr>
          <p:cNvPr id="5" name="Text 2"/>
          <p:cNvSpPr/>
          <p:nvPr/>
        </p:nvSpPr>
        <p:spPr>
          <a:xfrm>
            <a:off x="4810125" y="227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2</a:t>
            </a:r>
            <a:endParaRPr lang="en-US" sz="1200" dirty="0"/>
          </a:p>
        </p:txBody>
      </p:sp>
      <p:sp>
        <p:nvSpPr>
          <p:cNvPr id="6" name="Text 3"/>
          <p:cNvSpPr/>
          <p:nvPr/>
        </p:nvSpPr>
        <p:spPr>
          <a:xfrm>
            <a:off x="4229100" y="260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Stanford HAI</a:t>
            </a:r>
            <a:endParaRPr lang="en-US" sz="1200" dirty="0"/>
          </a:p>
        </p:txBody>
      </p:sp>
      <p:sp>
        <p:nvSpPr>
          <p:cNvPr id="7" name="Text 4"/>
          <p:cNvSpPr/>
          <p:nvPr/>
        </p:nvSpPr>
        <p:spPr>
          <a:xfrm>
            <a:off x="4873625" y="3476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3</a:t>
            </a:r>
            <a:endParaRPr lang="en-US" sz="1200" dirty="0"/>
          </a:p>
        </p:txBody>
      </p:sp>
      <p:sp>
        <p:nvSpPr>
          <p:cNvPr id="8" name="Text 5"/>
          <p:cNvSpPr/>
          <p:nvPr/>
        </p:nvSpPr>
        <p:spPr>
          <a:xfrm>
            <a:off x="4292600" y="3810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CMU HCII</a:t>
            </a:r>
            <a:endParaRPr lang="en-US" sz="1200" dirty="0"/>
          </a:p>
        </p:txBody>
      </p:sp>
      <p:sp>
        <p:nvSpPr>
          <p:cNvPr id="9" name="Text 6"/>
          <p:cNvSpPr/>
          <p:nvPr/>
        </p:nvSpPr>
        <p:spPr>
          <a:xfrm>
            <a:off x="4810125" y="4619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4</a:t>
            </a:r>
            <a:endParaRPr lang="en-US" sz="1200" dirty="0"/>
          </a:p>
        </p:txBody>
      </p:sp>
      <p:sp>
        <p:nvSpPr>
          <p:cNvPr id="10" name="Text 7"/>
          <p:cNvSpPr/>
          <p:nvPr/>
        </p:nvSpPr>
        <p:spPr>
          <a:xfrm>
            <a:off x="4229100" y="4953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Berkeley CHAI</a:t>
            </a:r>
            <a:endParaRPr lang="en-US" sz="1200" dirty="0"/>
          </a:p>
        </p:txBody>
      </p:sp>
      <p:sp>
        <p:nvSpPr>
          <p:cNvPr id="11" name="Text 8"/>
          <p:cNvSpPr/>
          <p:nvPr/>
        </p:nvSpPr>
        <p:spPr>
          <a:xfrm>
            <a:off x="5953125" y="544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5</a:t>
            </a:r>
            <a:endParaRPr lang="en-US" sz="1200" dirty="0"/>
          </a:p>
        </p:txBody>
      </p:sp>
      <p:sp>
        <p:nvSpPr>
          <p:cNvPr id="12" name="Text 9"/>
          <p:cNvSpPr/>
          <p:nvPr/>
        </p:nvSpPr>
        <p:spPr>
          <a:xfrm>
            <a:off x="5372100" y="5778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Center for Humane Tech</a:t>
            </a:r>
            <a:endParaRPr lang="en-US" sz="1200" dirty="0"/>
          </a:p>
        </p:txBody>
      </p:sp>
      <p:sp>
        <p:nvSpPr>
          <p:cNvPr id="13" name="Text 10"/>
          <p:cNvSpPr/>
          <p:nvPr/>
        </p:nvSpPr>
        <p:spPr>
          <a:xfrm>
            <a:off x="6270625" y="157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6</a:t>
            </a:r>
            <a:endParaRPr lang="en-US" sz="1200" dirty="0"/>
          </a:p>
        </p:txBody>
      </p:sp>
      <p:sp>
        <p:nvSpPr>
          <p:cNvPr id="14" name="Text 11"/>
          <p:cNvSpPr/>
          <p:nvPr/>
        </p:nvSpPr>
        <p:spPr>
          <a:xfrm>
            <a:off x="5689600" y="1905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ACM CHI</a:t>
            </a:r>
            <a:endParaRPr lang="en-US" sz="1200" dirty="0"/>
          </a:p>
        </p:txBody>
      </p:sp>
      <p:sp>
        <p:nvSpPr>
          <p:cNvPr id="15" name="Text 12"/>
          <p:cNvSpPr/>
          <p:nvPr/>
        </p:nvSpPr>
        <p:spPr>
          <a:xfrm>
            <a:off x="6270625" y="398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CFE07E"/>
            </a:solidFill>
            <a:prstDash val="solid"/>
          </a:ln>
        </p:spPr>
        <p:txBody>
          <a:bodyPr wrap="square" lIns="0" tIns="9525" rIns="0" bIns="0" rtlCol="0" anchor="t">
            <a:normAutofit/>
          </a:bodyPr>
          <a:lstStyle/>
          <a:p>
            <a:pPr algn="ctr" indent="0" marL="0">
              <a:lnSpc>
                <a:spcPts val="2100"/>
              </a:lnSpc>
              <a:buNone/>
            </a:pPr>
            <a:r>
              <a:rPr lang="en-US" sz="1200" b="1" dirty="0">
                <a:solidFill>
                  <a:srgbClr val="CFE07E"/>
                </a:solidFill>
                <a:latin typeface="JetBrains Mono" pitchFamily="49" charset="0"/>
                <a:ea typeface="JetBrains Mono" pitchFamily="49" charset="-122"/>
                <a:cs typeface="JetBrains Mono" pitchFamily="49" charset="-120"/>
              </a:rPr>
              <a:t>7</a:t>
            </a:r>
            <a:endParaRPr lang="en-US" sz="1200" dirty="0"/>
          </a:p>
        </p:txBody>
      </p:sp>
      <p:sp>
        <p:nvSpPr>
          <p:cNvPr id="16" name="Text 13"/>
          <p:cNvSpPr/>
          <p:nvPr/>
        </p:nvSpPr>
        <p:spPr>
          <a:xfrm>
            <a:off x="5689600" y="431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MLCommons</a:t>
            </a:r>
            <a:endParaRPr lang="en-US" sz="1200" dirty="0"/>
          </a:p>
        </p:txBody>
      </p:sp>
      <p:sp>
        <p:nvSpPr>
          <p:cNvPr id="17" name="Text 14"/>
          <p:cNvSpPr/>
          <p:nvPr/>
        </p:nvSpPr>
        <p:spPr>
          <a:xfrm>
            <a:off x="6207125" y="277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8</a:t>
            </a:r>
            <a:endParaRPr lang="en-US" sz="1200" dirty="0"/>
          </a:p>
        </p:txBody>
      </p:sp>
      <p:sp>
        <p:nvSpPr>
          <p:cNvPr id="18" name="Text 15"/>
          <p:cNvSpPr/>
          <p:nvPr/>
        </p:nvSpPr>
        <p:spPr>
          <a:xfrm>
            <a:off x="5626100" y="311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Data &amp; Society</a:t>
            </a:r>
            <a:endParaRPr lang="en-US" sz="1200" dirty="0"/>
          </a:p>
        </p:txBody>
      </p:sp>
      <p:sp>
        <p:nvSpPr>
          <p:cNvPr id="19" name="Text 16"/>
          <p:cNvSpPr/>
          <p:nvPr/>
        </p:nvSpPr>
        <p:spPr>
          <a:xfrm>
            <a:off x="7667625" y="1063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9</a:t>
            </a:r>
            <a:endParaRPr lang="en-US" sz="1200" dirty="0"/>
          </a:p>
        </p:txBody>
      </p:sp>
      <p:sp>
        <p:nvSpPr>
          <p:cNvPr id="20" name="Text 17"/>
          <p:cNvSpPr/>
          <p:nvPr/>
        </p:nvSpPr>
        <p:spPr>
          <a:xfrm>
            <a:off x="7086600" y="1397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Google</a:t>
            </a:r>
            <a:endParaRPr lang="en-US" sz="1200" dirty="0"/>
          </a:p>
        </p:txBody>
      </p:sp>
      <p:sp>
        <p:nvSpPr>
          <p:cNvPr id="21" name="Text 18"/>
          <p:cNvSpPr/>
          <p:nvPr/>
        </p:nvSpPr>
        <p:spPr>
          <a:xfrm>
            <a:off x="7667625" y="2460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10</a:t>
            </a:r>
            <a:endParaRPr lang="en-US" sz="1200" dirty="0"/>
          </a:p>
        </p:txBody>
      </p:sp>
      <p:sp>
        <p:nvSpPr>
          <p:cNvPr id="22" name="Text 19"/>
          <p:cNvSpPr/>
          <p:nvPr/>
        </p:nvSpPr>
        <p:spPr>
          <a:xfrm>
            <a:off x="7086600" y="2794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Microsoft Research</a:t>
            </a:r>
            <a:endParaRPr lang="en-US" sz="1200" dirty="0"/>
          </a:p>
        </p:txBody>
      </p:sp>
      <p:sp>
        <p:nvSpPr>
          <p:cNvPr id="23" name="Text 20"/>
          <p:cNvSpPr/>
          <p:nvPr/>
        </p:nvSpPr>
        <p:spPr>
          <a:xfrm>
            <a:off x="9001125" y="163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11</a:t>
            </a:r>
            <a:endParaRPr lang="en-US" sz="1200" dirty="0"/>
          </a:p>
        </p:txBody>
      </p:sp>
      <p:sp>
        <p:nvSpPr>
          <p:cNvPr id="24" name="Text 21"/>
          <p:cNvSpPr/>
          <p:nvPr/>
        </p:nvSpPr>
        <p:spPr>
          <a:xfrm>
            <a:off x="8420100" y="1968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AI Now Institute</a:t>
            </a:r>
            <a:endParaRPr lang="en-US" sz="1200" dirty="0"/>
          </a:p>
        </p:txBody>
      </p:sp>
      <p:sp>
        <p:nvSpPr>
          <p:cNvPr id="25" name="Text 22"/>
          <p:cNvSpPr/>
          <p:nvPr/>
        </p:nvSpPr>
        <p:spPr>
          <a:xfrm>
            <a:off x="7667625" y="3921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12</a:t>
            </a:r>
            <a:endParaRPr lang="en-US" sz="1200" dirty="0"/>
          </a:p>
        </p:txBody>
      </p:sp>
      <p:sp>
        <p:nvSpPr>
          <p:cNvPr id="26" name="Text 23"/>
          <p:cNvSpPr/>
          <p:nvPr/>
        </p:nvSpPr>
        <p:spPr>
          <a:xfrm>
            <a:off x="7086600" y="4254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Anthropic</a:t>
            </a:r>
            <a:endParaRPr lang="en-US" sz="1200" dirty="0"/>
          </a:p>
        </p:txBody>
      </p:sp>
      <p:sp>
        <p:nvSpPr>
          <p:cNvPr id="27" name="Text 24"/>
          <p:cNvSpPr/>
          <p:nvPr/>
        </p:nvSpPr>
        <p:spPr>
          <a:xfrm>
            <a:off x="9001125" y="3032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13</a:t>
            </a:r>
            <a:endParaRPr lang="en-US" sz="1200" dirty="0"/>
          </a:p>
        </p:txBody>
      </p:sp>
      <p:sp>
        <p:nvSpPr>
          <p:cNvPr id="28" name="Text 25"/>
          <p:cNvSpPr/>
          <p:nvPr/>
        </p:nvSpPr>
        <p:spPr>
          <a:xfrm>
            <a:off x="8420100" y="3365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Algorithmic Justice League</a:t>
            </a:r>
            <a:endParaRPr lang="en-US" sz="1200" dirty="0"/>
          </a:p>
        </p:txBody>
      </p:sp>
      <p:sp>
        <p:nvSpPr>
          <p:cNvPr id="29" name="Text 26"/>
          <p:cNvSpPr/>
          <p:nvPr/>
        </p:nvSpPr>
        <p:spPr>
          <a:xfrm>
            <a:off x="10461625" y="100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CFE07E"/>
            </a:solidFill>
            <a:prstDash val="solid"/>
          </a:ln>
        </p:spPr>
        <p:txBody>
          <a:bodyPr wrap="square" lIns="0" tIns="9525" rIns="0" bIns="0" rtlCol="0" anchor="t">
            <a:normAutofit/>
          </a:bodyPr>
          <a:lstStyle/>
          <a:p>
            <a:pPr algn="ctr" indent="0" marL="0">
              <a:lnSpc>
                <a:spcPts val="2100"/>
              </a:lnSpc>
              <a:buNone/>
            </a:pPr>
            <a:r>
              <a:rPr lang="en-US" sz="1200" b="1" dirty="0">
                <a:solidFill>
                  <a:srgbClr val="CFE07E"/>
                </a:solidFill>
                <a:latin typeface="JetBrains Mono" pitchFamily="49" charset="0"/>
                <a:ea typeface="JetBrains Mono" pitchFamily="49" charset="-122"/>
                <a:cs typeface="JetBrains Mono" pitchFamily="49" charset="-120"/>
              </a:rPr>
              <a:t>14</a:t>
            </a:r>
            <a:endParaRPr lang="en-US" sz="1200" dirty="0"/>
          </a:p>
        </p:txBody>
      </p:sp>
      <p:sp>
        <p:nvSpPr>
          <p:cNvPr id="30" name="Text 27"/>
          <p:cNvSpPr/>
          <p:nvPr/>
        </p:nvSpPr>
        <p:spPr>
          <a:xfrm>
            <a:off x="9880600" y="133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NIST</a:t>
            </a:r>
            <a:endParaRPr lang="en-US" sz="1200" dirty="0"/>
          </a:p>
        </p:txBody>
      </p:sp>
      <p:sp>
        <p:nvSpPr>
          <p:cNvPr id="31" name="Text 28"/>
          <p:cNvSpPr/>
          <p:nvPr/>
        </p:nvSpPr>
        <p:spPr>
          <a:xfrm>
            <a:off x="10461625" y="214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CFE07E"/>
            </a:solidFill>
            <a:prstDash val="solid"/>
          </a:ln>
        </p:spPr>
        <p:txBody>
          <a:bodyPr wrap="square" lIns="0" tIns="9525" rIns="0" bIns="0" rtlCol="0" anchor="t">
            <a:normAutofit/>
          </a:bodyPr>
          <a:lstStyle/>
          <a:p>
            <a:pPr algn="ctr" indent="0" marL="0">
              <a:lnSpc>
                <a:spcPts val="2100"/>
              </a:lnSpc>
              <a:buNone/>
            </a:pPr>
            <a:r>
              <a:rPr lang="en-US" sz="1200" b="1" dirty="0">
                <a:solidFill>
                  <a:srgbClr val="CFE07E"/>
                </a:solidFill>
                <a:latin typeface="JetBrains Mono" pitchFamily="49" charset="0"/>
                <a:ea typeface="JetBrains Mono" pitchFamily="49" charset="-122"/>
                <a:cs typeface="JetBrains Mono" pitchFamily="49" charset="-120"/>
              </a:rPr>
              <a:t>15</a:t>
            </a:r>
            <a:endParaRPr lang="en-US" sz="1200" dirty="0"/>
          </a:p>
        </p:txBody>
      </p:sp>
      <p:sp>
        <p:nvSpPr>
          <p:cNvPr id="32" name="Text 29"/>
          <p:cNvSpPr/>
          <p:nvPr/>
        </p:nvSpPr>
        <p:spPr>
          <a:xfrm>
            <a:off x="9880600" y="2476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UK AISI</a:t>
            </a:r>
            <a:endParaRPr lang="en-US" sz="1200" dirty="0"/>
          </a:p>
        </p:txBody>
      </p:sp>
      <p:sp>
        <p:nvSpPr>
          <p:cNvPr id="33" name="Text 30"/>
          <p:cNvSpPr/>
          <p:nvPr/>
        </p:nvSpPr>
        <p:spPr>
          <a:xfrm>
            <a:off x="10461625" y="3286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9DBA"/>
            </a:solidFill>
            <a:prstDash val="solid"/>
          </a:ln>
        </p:spPr>
        <p:txBody>
          <a:bodyPr wrap="square" lIns="0" tIns="9525" rIns="0" bIns="0" rtlCol="0" anchor="t">
            <a:normAutofit/>
          </a:bodyPr>
          <a:lstStyle/>
          <a:p>
            <a:pPr algn="ctr" indent="0" marL="0">
              <a:lnSpc>
                <a:spcPts val="2100"/>
              </a:lnSpc>
              <a:buNone/>
            </a:pPr>
            <a:r>
              <a:rPr lang="en-US" sz="1200" b="1" dirty="0">
                <a:solidFill>
                  <a:srgbClr val="F29DBA"/>
                </a:solidFill>
                <a:latin typeface="JetBrains Mono" pitchFamily="49" charset="0"/>
                <a:ea typeface="JetBrains Mono" pitchFamily="49" charset="-122"/>
                <a:cs typeface="JetBrains Mono" pitchFamily="49" charset="-120"/>
              </a:rPr>
              <a:t>16</a:t>
            </a:r>
            <a:endParaRPr lang="en-US" sz="1200" dirty="0"/>
          </a:p>
        </p:txBody>
      </p:sp>
      <p:sp>
        <p:nvSpPr>
          <p:cNvPr id="34" name="Text 31"/>
          <p:cNvSpPr/>
          <p:nvPr/>
        </p:nvSpPr>
        <p:spPr>
          <a:xfrm>
            <a:off x="9880600" y="3619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EU AI Office</a:t>
            </a:r>
            <a:endParaRPr lang="en-US" sz="1200" dirty="0"/>
          </a:p>
        </p:txBody>
      </p:sp>
      <p:sp>
        <p:nvSpPr>
          <p:cNvPr id="35" name="Text 32"/>
          <p:cNvSpPr/>
          <p:nvPr/>
        </p:nvSpPr>
        <p:spPr>
          <a:xfrm>
            <a:off x="104616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F6A4D"/>
            </a:solidFill>
            <a:prstDash val="solid"/>
          </a:ln>
        </p:spPr>
        <p:txBody>
          <a:bodyPr wrap="square" lIns="0" tIns="9525" rIns="0" bIns="0" rtlCol="0" anchor="t">
            <a:normAutofit/>
          </a:bodyPr>
          <a:lstStyle/>
          <a:p>
            <a:pPr algn="ctr" indent="0" marL="0">
              <a:lnSpc>
                <a:spcPts val="2100"/>
              </a:lnSpc>
              <a:buNone/>
            </a:pPr>
            <a:r>
              <a:rPr lang="en-US" sz="1200" b="1" dirty="0">
                <a:solidFill>
                  <a:srgbClr val="FF6A4D"/>
                </a:solidFill>
                <a:latin typeface="JetBrains Mono" pitchFamily="49" charset="0"/>
                <a:ea typeface="JetBrains Mono" pitchFamily="49" charset="-122"/>
                <a:cs typeface="JetBrains Mono" pitchFamily="49" charset="-120"/>
              </a:rPr>
              <a:t>17</a:t>
            </a:r>
            <a:endParaRPr lang="en-US" sz="1200" dirty="0"/>
          </a:p>
        </p:txBody>
      </p:sp>
      <p:sp>
        <p:nvSpPr>
          <p:cNvPr id="36" name="Text 33"/>
          <p:cNvSpPr/>
          <p:nvPr/>
        </p:nvSpPr>
        <p:spPr>
          <a:xfrm>
            <a:off x="98806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Singapore IMDA</a:t>
            </a:r>
            <a:endParaRPr lang="en-US" sz="1200" dirty="0"/>
          </a:p>
        </p:txBody>
      </p:sp>
      <p:sp>
        <p:nvSpPr>
          <p:cNvPr id="37" name="Text 34"/>
          <p:cNvSpPr/>
          <p:nvPr/>
        </p:nvSpPr>
        <p:spPr>
          <a:xfrm>
            <a:off x="7604125" y="531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18</a:t>
            </a:r>
            <a:endParaRPr lang="en-US" sz="1200" dirty="0"/>
          </a:p>
        </p:txBody>
      </p:sp>
      <p:sp>
        <p:nvSpPr>
          <p:cNvPr id="38" name="Text 35"/>
          <p:cNvSpPr/>
          <p:nvPr/>
        </p:nvSpPr>
        <p:spPr>
          <a:xfrm>
            <a:off x="7023100" y="565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Hugging Face</a:t>
            </a:r>
            <a:endParaRPr lang="en-US" sz="1200" dirty="0"/>
          </a:p>
        </p:txBody>
      </p:sp>
      <p:sp>
        <p:nvSpPr>
          <p:cNvPr id="39" name="Text 36"/>
          <p:cNvSpPr/>
          <p:nvPr/>
        </p:nvSpPr>
        <p:spPr>
          <a:xfrm>
            <a:off x="90011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19</a:t>
            </a:r>
            <a:endParaRPr lang="en-US" sz="1200" dirty="0"/>
          </a:p>
        </p:txBody>
      </p:sp>
      <p:sp>
        <p:nvSpPr>
          <p:cNvPr id="40" name="Text 37"/>
          <p:cNvSpPr/>
          <p:nvPr/>
        </p:nvSpPr>
        <p:spPr>
          <a:xfrm>
            <a:off x="84201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Figma</a:t>
            </a:r>
            <a:endParaRPr lang="en-US" sz="1200" dirty="0"/>
          </a:p>
        </p:txBody>
      </p:sp>
      <p:sp>
        <p:nvSpPr>
          <p:cNvPr id="41" name="Text 38"/>
          <p:cNvSpPr/>
          <p:nvPr/>
        </p:nvSpPr>
        <p:spPr>
          <a:xfrm>
            <a:off x="10207625" y="544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20</a:t>
            </a:r>
            <a:endParaRPr lang="en-US" sz="1200" dirty="0"/>
          </a:p>
        </p:txBody>
      </p:sp>
      <p:sp>
        <p:nvSpPr>
          <p:cNvPr id="42" name="Text 39"/>
          <p:cNvSpPr/>
          <p:nvPr/>
        </p:nvSpPr>
        <p:spPr>
          <a:xfrm>
            <a:off x="9626600" y="5778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IDEO</a:t>
            </a:r>
            <a:endParaRPr lang="en-US" sz="1200" dirty="0"/>
          </a:p>
        </p:txBody>
      </p:sp>
      <p:sp>
        <p:nvSpPr>
          <p:cNvPr id="43" name="Text 40"/>
          <p:cNvSpPr/>
          <p:nvPr/>
        </p:nvSpPr>
        <p:spPr>
          <a:xfrm>
            <a:off x="9001125" y="5572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21</a:t>
            </a:r>
            <a:endParaRPr lang="en-US" sz="1200" dirty="0"/>
          </a:p>
        </p:txBody>
      </p:sp>
      <p:sp>
        <p:nvSpPr>
          <p:cNvPr id="44" name="Text 41"/>
          <p:cNvSpPr/>
          <p:nvPr/>
        </p:nvSpPr>
        <p:spPr>
          <a:xfrm>
            <a:off x="8420100" y="5905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NN/g</a:t>
            </a:r>
            <a:endParaRPr lang="en-US" sz="1200" dirty="0"/>
          </a:p>
        </p:txBody>
      </p:sp>
      <p:sp>
        <p:nvSpPr>
          <p:cNvPr id="45" name="Text 42"/>
          <p:cNvSpPr/>
          <p:nvPr/>
        </p:nvSpPr>
        <p:spPr>
          <a:xfrm>
            <a:off x="6270625" y="555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F6A4D"/>
            </a:solidFill>
            <a:prstDash val="solid"/>
          </a:ln>
        </p:spPr>
        <p:txBody>
          <a:bodyPr wrap="square" lIns="0" tIns="9525" rIns="0" bIns="0" rtlCol="0" anchor="t">
            <a:normAutofit/>
          </a:bodyPr>
          <a:lstStyle/>
          <a:p>
            <a:pPr algn="ctr" indent="0" marL="0">
              <a:lnSpc>
                <a:spcPts val="2100"/>
              </a:lnSpc>
              <a:buNone/>
            </a:pPr>
            <a:r>
              <a:rPr lang="en-US" sz="1200" b="1" dirty="0">
                <a:solidFill>
                  <a:srgbClr val="FF6A4D"/>
                </a:solidFill>
                <a:latin typeface="JetBrains Mono" pitchFamily="49" charset="0"/>
                <a:ea typeface="JetBrains Mono" pitchFamily="49" charset="-122"/>
                <a:cs typeface="JetBrains Mono" pitchFamily="49" charset="-120"/>
              </a:rPr>
              <a:t>22</a:t>
            </a:r>
            <a:endParaRPr lang="en-US" sz="1200" dirty="0"/>
          </a:p>
        </p:txBody>
      </p:sp>
      <p:sp>
        <p:nvSpPr>
          <p:cNvPr id="46" name="Text 43"/>
          <p:cNvSpPr/>
          <p:nvPr/>
        </p:nvSpPr>
        <p:spPr>
          <a:xfrm>
            <a:off x="5689600" y="889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UN · UNESCO</a:t>
            </a:r>
            <a:endParaRPr lang="en-US" sz="1200" dirty="0"/>
          </a:p>
        </p:txBody>
      </p:sp>
      <p:sp>
        <p:nvSpPr>
          <p:cNvPr id="47" name="Text 44"/>
          <p:cNvSpPr/>
          <p:nvPr/>
        </p:nvSpPr>
        <p:spPr>
          <a:xfrm>
            <a:off x="812800" y="81280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PART 4 · THE NETWORK TODAY</a:t>
            </a:r>
            <a:endParaRPr lang="en-US" sz="1200" dirty="0"/>
          </a:p>
        </p:txBody>
      </p:sp>
      <p:sp>
        <p:nvSpPr>
          <p:cNvPr id="48" name="Text 45"/>
          <p:cNvSpPr/>
          <p:nvPr>
            <p:ph type="title"/>
          </p:nvPr>
        </p:nvSpPr>
        <p:spPr>
          <a:xfrm>
            <a:off x="812800" y="1127720"/>
            <a:ext cx="3270250"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2F1EC"/>
                </a:solidFill>
                <a:latin typeface="JetBrains Mono" pitchFamily="49" charset="0"/>
                <a:ea typeface="JetBrains Mono" pitchFamily="49" charset="-122"/>
                <a:cs typeface="JetBrains Mono" pitchFamily="49" charset="-120"/>
              </a:rPr>
              <a:t>Today’s cast</a:t>
            </a:r>
            <a:endParaRPr lang="en-US" sz="3200" dirty="0"/>
          </a:p>
        </p:txBody>
      </p:sp>
      <p:sp>
        <p:nvSpPr>
          <p:cNvPr id="49" name="Shape 46"/>
          <p:cNvSpPr/>
          <p:nvPr/>
        </p:nvSpPr>
        <p:spPr>
          <a:xfrm>
            <a:off x="812800" y="1679525"/>
            <a:ext cx="3175000" cy="0"/>
          </a:xfrm>
          <a:prstGeom prst="line">
            <a:avLst/>
          </a:prstGeom>
          <a:noFill/>
          <a:ln w="6350">
            <a:solidFill>
              <a:srgbClr val="2A2A28"/>
            </a:solidFill>
            <a:prstDash val="solid"/>
          </a:ln>
        </p:spPr>
      </p:sp>
      <p:sp>
        <p:nvSpPr>
          <p:cNvPr id="50" name="Shape 47"/>
          <p:cNvSpPr/>
          <p:nvPr/>
        </p:nvSpPr>
        <p:spPr>
          <a:xfrm>
            <a:off x="812800" y="4230638"/>
            <a:ext cx="3175000" cy="0"/>
          </a:xfrm>
          <a:prstGeom prst="line">
            <a:avLst/>
          </a:prstGeom>
          <a:noFill/>
          <a:ln w="6350">
            <a:solidFill>
              <a:srgbClr val="2A2A28"/>
            </a:solidFill>
            <a:prstDash val="solid"/>
          </a:ln>
        </p:spPr>
      </p:sp>
      <p:pic>
        <p:nvPicPr>
          <p:cNvPr id="51" name="Image 1" descr="ellipse">    </p:cNvPr>
          <p:cNvPicPr>
            <a:picLocks noChangeAspect="1"/>
          </p:cNvPicPr>
          <p:nvPr/>
        </p:nvPicPr>
        <p:blipFill>
          <a:blip r:embed="rId2"/>
          <a:srcRect l="0" r="0" t="0" b="0"/>
          <a:stretch/>
        </p:blipFill>
        <p:spPr>
          <a:xfrm>
            <a:off x="812800" y="1878261"/>
            <a:ext cx="127000" cy="127000"/>
          </a:xfrm>
          <a:prstGeom prst="rect">
            <a:avLst/>
          </a:prstGeom>
        </p:spPr>
      </p:pic>
      <p:sp>
        <p:nvSpPr>
          <p:cNvPr id="52" name="Text 48"/>
          <p:cNvSpPr/>
          <p:nvPr/>
        </p:nvSpPr>
        <p:spPr>
          <a:xfrm>
            <a:off x="1041400" y="1835100"/>
            <a:ext cx="224944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7ADFF"/>
                </a:solidFill>
                <a:latin typeface="JetBrains Mono" pitchFamily="49" charset="0"/>
                <a:ea typeface="JetBrains Mono" pitchFamily="49" charset="-122"/>
                <a:cs typeface="JetBrains Mono" pitchFamily="49" charset="-120"/>
              </a:rPr>
              <a:t>GENERATE KNOWLEDGE</a:t>
            </a:r>
            <a:endParaRPr lang="en-US" sz="1200" dirty="0"/>
          </a:p>
        </p:txBody>
      </p:sp>
      <p:pic>
        <p:nvPicPr>
          <p:cNvPr id="53" name="Image 2" descr="ellipse">    </p:cNvPr>
          <p:cNvPicPr>
            <a:picLocks noChangeAspect="1"/>
          </p:cNvPicPr>
          <p:nvPr/>
        </p:nvPicPr>
        <p:blipFill>
          <a:blip r:embed="rId3"/>
          <a:srcRect l="0" r="0" t="0" b="0"/>
          <a:stretch/>
        </p:blipFill>
        <p:spPr>
          <a:xfrm>
            <a:off x="812800" y="2167781"/>
            <a:ext cx="127000" cy="127000"/>
          </a:xfrm>
          <a:prstGeom prst="rect">
            <a:avLst/>
          </a:prstGeom>
        </p:spPr>
      </p:pic>
      <p:sp>
        <p:nvSpPr>
          <p:cNvPr id="54" name="Text 49"/>
          <p:cNvSpPr/>
          <p:nvPr/>
        </p:nvSpPr>
        <p:spPr>
          <a:xfrm>
            <a:off x="1041400" y="2124621"/>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DBAF6"/>
                </a:solidFill>
                <a:latin typeface="JetBrains Mono" pitchFamily="49" charset="0"/>
                <a:ea typeface="JetBrains Mono" pitchFamily="49" charset="-122"/>
                <a:cs typeface="JetBrains Mono" pitchFamily="49" charset="-120"/>
              </a:rPr>
              <a:t>BUILD TECHNOLOGY</a:t>
            </a:r>
            <a:endParaRPr lang="en-US" sz="1200" dirty="0"/>
          </a:p>
        </p:txBody>
      </p:sp>
      <p:pic>
        <p:nvPicPr>
          <p:cNvPr id="55" name="Image 3" descr="ellipse">    </p:cNvPr>
          <p:cNvPicPr>
            <a:picLocks noChangeAspect="1"/>
          </p:cNvPicPr>
          <p:nvPr/>
        </p:nvPicPr>
        <p:blipFill>
          <a:blip r:embed="rId4"/>
          <a:srcRect l="0" r="0" t="0" b="0"/>
          <a:stretch/>
        </p:blipFill>
        <p:spPr>
          <a:xfrm>
            <a:off x="812800" y="2457301"/>
            <a:ext cx="127000" cy="127000"/>
          </a:xfrm>
          <a:prstGeom prst="rect">
            <a:avLst/>
          </a:prstGeom>
        </p:spPr>
      </p:pic>
      <p:sp>
        <p:nvSpPr>
          <p:cNvPr id="56" name="Text 50"/>
          <p:cNvSpPr/>
          <p:nvPr/>
        </p:nvSpPr>
        <p:spPr>
          <a:xfrm>
            <a:off x="1041400" y="2414141"/>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D9C4"/>
                </a:solidFill>
                <a:latin typeface="JetBrains Mono" pitchFamily="49" charset="0"/>
                <a:ea typeface="JetBrains Mono" pitchFamily="49" charset="-122"/>
                <a:cs typeface="JetBrains Mono" pitchFamily="49" charset="-120"/>
              </a:rPr>
              <a:t>TRANSLATE &amp; EDUCATE</a:t>
            </a:r>
            <a:endParaRPr lang="en-US" sz="1200" dirty="0"/>
          </a:p>
        </p:txBody>
      </p:sp>
      <p:pic>
        <p:nvPicPr>
          <p:cNvPr id="57" name="Image 4" descr="ellipse">    </p:cNvPr>
          <p:cNvPicPr>
            <a:picLocks noChangeAspect="1"/>
          </p:cNvPicPr>
          <p:nvPr/>
        </p:nvPicPr>
        <p:blipFill>
          <a:blip r:embed="rId5"/>
          <a:srcRect l="0" r="0" t="0" b="0"/>
          <a:stretch/>
        </p:blipFill>
        <p:spPr>
          <a:xfrm>
            <a:off x="812800" y="2746821"/>
            <a:ext cx="127000" cy="127000"/>
          </a:xfrm>
          <a:prstGeom prst="rect">
            <a:avLst/>
          </a:prstGeom>
        </p:spPr>
      </p:pic>
      <p:sp>
        <p:nvSpPr>
          <p:cNvPr id="58" name="Text 51"/>
          <p:cNvSpPr/>
          <p:nvPr/>
        </p:nvSpPr>
        <p:spPr>
          <a:xfrm>
            <a:off x="1041400" y="2703661"/>
            <a:ext cx="18745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BD78"/>
                </a:solidFill>
                <a:latin typeface="JetBrains Mono" pitchFamily="49" charset="0"/>
                <a:ea typeface="JetBrains Mono" pitchFamily="49" charset="-122"/>
                <a:cs typeface="JetBrains Mono" pitchFamily="49" charset="-120"/>
              </a:rPr>
              <a:t>SHARE &amp; CONVENE</a:t>
            </a:r>
            <a:endParaRPr lang="en-US" sz="1200" dirty="0"/>
          </a:p>
        </p:txBody>
      </p:sp>
      <p:pic>
        <p:nvPicPr>
          <p:cNvPr id="59" name="Image 5" descr="ellipse">    </p:cNvPr>
          <p:cNvPicPr>
            <a:picLocks noChangeAspect="1"/>
          </p:cNvPicPr>
          <p:nvPr/>
        </p:nvPicPr>
        <p:blipFill>
          <a:blip r:embed="rId6"/>
          <a:srcRect l="0" r="0" t="0" b="0"/>
          <a:stretch/>
        </p:blipFill>
        <p:spPr>
          <a:xfrm>
            <a:off x="812800" y="3036342"/>
            <a:ext cx="127000" cy="127000"/>
          </a:xfrm>
          <a:prstGeom prst="rect">
            <a:avLst/>
          </a:prstGeom>
        </p:spPr>
      </p:pic>
      <p:sp>
        <p:nvSpPr>
          <p:cNvPr id="60" name="Text 52"/>
          <p:cNvSpPr/>
          <p:nvPr/>
        </p:nvSpPr>
        <p:spPr>
          <a:xfrm>
            <a:off x="1041400" y="2993182"/>
            <a:ext cx="262437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FE07E"/>
                </a:solidFill>
                <a:latin typeface="JetBrains Mono" pitchFamily="49" charset="0"/>
                <a:ea typeface="JetBrains Mono" pitchFamily="49" charset="-122"/>
                <a:cs typeface="JetBrains Mono" pitchFamily="49" charset="-120"/>
              </a:rPr>
              <a:t>MEASURE &amp; STANDARDISE</a:t>
            </a:r>
            <a:endParaRPr lang="en-US" sz="1200" dirty="0"/>
          </a:p>
        </p:txBody>
      </p:sp>
      <p:pic>
        <p:nvPicPr>
          <p:cNvPr id="61" name="Image 6" descr="ellipse">    </p:cNvPr>
          <p:cNvPicPr>
            <a:picLocks noChangeAspect="1"/>
          </p:cNvPicPr>
          <p:nvPr/>
        </p:nvPicPr>
        <p:blipFill>
          <a:blip r:embed="rId7"/>
          <a:srcRect l="0" r="0" t="0" b="0"/>
          <a:stretch/>
        </p:blipFill>
        <p:spPr>
          <a:xfrm>
            <a:off x="812800" y="3325862"/>
            <a:ext cx="127000" cy="127000"/>
          </a:xfrm>
          <a:prstGeom prst="rect">
            <a:avLst/>
          </a:prstGeom>
        </p:spPr>
      </p:pic>
      <p:sp>
        <p:nvSpPr>
          <p:cNvPr id="62" name="Text 53"/>
          <p:cNvSpPr/>
          <p:nvPr/>
        </p:nvSpPr>
        <p:spPr>
          <a:xfrm>
            <a:off x="1041400" y="3282702"/>
            <a:ext cx="1249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6A4D"/>
                </a:solidFill>
                <a:latin typeface="JetBrains Mono" pitchFamily="49" charset="0"/>
                <a:ea typeface="JetBrains Mono" pitchFamily="49" charset="-122"/>
                <a:cs typeface="JetBrains Mono" pitchFamily="49" charset="-120"/>
              </a:rPr>
              <a:t>SET POLICY</a:t>
            </a:r>
            <a:endParaRPr lang="en-US" sz="1200" dirty="0"/>
          </a:p>
        </p:txBody>
      </p:sp>
      <p:pic>
        <p:nvPicPr>
          <p:cNvPr id="63" name="Image 7" descr="ellipse">    </p:cNvPr>
          <p:cNvPicPr>
            <a:picLocks noChangeAspect="1"/>
          </p:cNvPicPr>
          <p:nvPr/>
        </p:nvPicPr>
        <p:blipFill>
          <a:blip r:embed="rId8"/>
          <a:srcRect l="0" r="0" t="0" b="0"/>
          <a:stretch/>
        </p:blipFill>
        <p:spPr>
          <a:xfrm>
            <a:off x="812800" y="3615382"/>
            <a:ext cx="127000" cy="127000"/>
          </a:xfrm>
          <a:prstGeom prst="rect">
            <a:avLst/>
          </a:prstGeom>
        </p:spPr>
      </p:pic>
      <p:sp>
        <p:nvSpPr>
          <p:cNvPr id="64" name="Text 54"/>
          <p:cNvSpPr/>
          <p:nvPr/>
        </p:nvSpPr>
        <p:spPr>
          <a:xfrm>
            <a:off x="1041400" y="3572222"/>
            <a:ext cx="13746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DBA"/>
                </a:solidFill>
                <a:latin typeface="JetBrains Mono" pitchFamily="49" charset="0"/>
                <a:ea typeface="JetBrains Mono" pitchFamily="49" charset="-122"/>
                <a:cs typeface="JetBrains Mono" pitchFamily="49" charset="-120"/>
              </a:rPr>
              <a:t>ENFORCE LAW</a:t>
            </a:r>
            <a:endParaRPr lang="en-US" sz="1200" dirty="0"/>
          </a:p>
        </p:txBody>
      </p:sp>
      <p:pic>
        <p:nvPicPr>
          <p:cNvPr id="65" name="Image 8" descr="ellipse">    </p:cNvPr>
          <p:cNvPicPr>
            <a:picLocks noChangeAspect="1"/>
          </p:cNvPicPr>
          <p:nvPr/>
        </p:nvPicPr>
        <p:blipFill>
          <a:blip r:embed="rId9"/>
          <a:srcRect l="0" r="0" t="0" b="0"/>
          <a:stretch/>
        </p:blipFill>
        <p:spPr>
          <a:xfrm>
            <a:off x="812800" y="3904903"/>
            <a:ext cx="127000" cy="127000"/>
          </a:xfrm>
          <a:prstGeom prst="rect">
            <a:avLst/>
          </a:prstGeom>
        </p:spPr>
      </p:pic>
      <p:sp>
        <p:nvSpPr>
          <p:cNvPr id="66" name="Text 55"/>
          <p:cNvSpPr/>
          <p:nvPr/>
        </p:nvSpPr>
        <p:spPr>
          <a:xfrm>
            <a:off x="1041400" y="3861743"/>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F1EC"/>
                </a:solidFill>
                <a:latin typeface="JetBrains Mono" pitchFamily="49" charset="0"/>
                <a:ea typeface="JetBrains Mono" pitchFamily="49" charset="-122"/>
                <a:cs typeface="JetBrains Mono" pitchFamily="49" charset="-120"/>
              </a:rPr>
              <a:t>CRITIQUE &amp; ADVOCATE</a:t>
            </a:r>
            <a:endParaRPr lang="en-US" sz="1200" dirty="0"/>
          </a:p>
        </p:txBody>
      </p:sp>
      <p:sp>
        <p:nvSpPr>
          <p:cNvPr id="67" name="Text 56"/>
          <p:cNvSpPr/>
          <p:nvPr/>
        </p:nvSpPr>
        <p:spPr>
          <a:xfrm>
            <a:off x="812800" y="4335413"/>
            <a:ext cx="327025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Colour = role. Each dot is a person doing that kind of work. Plenty of makers, builders and rule-setters. Very little teal: the translators.</a:t>
            </a:r>
            <a:endParaRPr lang="en-US" sz="1200" dirty="0"/>
          </a:p>
        </p:txBody>
      </p:sp>
      <p:sp>
        <p:nvSpPr>
          <p:cNvPr id="68" name="Text 57"/>
          <p:cNvSpPr/>
          <p:nvPr/>
        </p:nvSpPr>
        <p:spPr>
          <a:xfrm>
            <a:off x="812800" y="6238280"/>
            <a:ext cx="81229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LINES: RESEARCH, FUNDING, PUBLISHING AND TESTING TIES, SIMPLIFIED</a:t>
            </a:r>
            <a:endParaRPr lang="en-US" sz="1200" dirty="0"/>
          </a:p>
        </p:txBody>
      </p:sp>
      <p:sp>
        <p:nvSpPr>
          <p:cNvPr id="69" name="Text 5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PART 4 · WHAT WE NEED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Two ends of the same pipe</a:t>
            </a:r>
            <a:endParaRPr lang="en-US" sz="3600" dirty="0"/>
          </a:p>
        </p:txBody>
      </p:sp>
      <p:sp>
        <p:nvSpPr>
          <p:cNvPr id="4" name="Shape 2"/>
          <p:cNvSpPr/>
          <p:nvPr/>
        </p:nvSpPr>
        <p:spPr>
          <a:xfrm>
            <a:off x="812800" y="2171799"/>
            <a:ext cx="3128863" cy="0"/>
          </a:xfrm>
          <a:prstGeom prst="line">
            <a:avLst/>
          </a:prstGeom>
          <a:noFill/>
          <a:ln w="12700">
            <a:solidFill>
              <a:srgbClr val="7FD9C4"/>
            </a:solidFill>
            <a:prstDash val="solid"/>
          </a:ln>
        </p:spPr>
      </p:sp>
      <p:sp>
        <p:nvSpPr>
          <p:cNvPr id="5" name="Text 3"/>
          <p:cNvSpPr/>
          <p:nvPr/>
        </p:nvSpPr>
        <p:spPr>
          <a:xfrm>
            <a:off x="812800"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UPSTREAM · TRANSLATORS</a:t>
            </a:r>
            <a:endParaRPr lang="en-US" sz="1200" dirty="0"/>
          </a:p>
        </p:txBody>
      </p:sp>
      <p:sp>
        <p:nvSpPr>
          <p:cNvPr id="6" name="Text 4"/>
          <p:cNvSpPr/>
          <p:nvPr/>
        </p:nvSpPr>
        <p:spPr>
          <a:xfrm>
            <a:off x="812800" y="2696270"/>
            <a:ext cx="3222729" cy="69592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7FD9C4"/>
                </a:solidFill>
                <a:latin typeface="JetBrains Mono" pitchFamily="49" charset="0"/>
                <a:ea typeface="JetBrains Mono" pitchFamily="49" charset="-122"/>
                <a:cs typeface="JetBrains Mono" pitchFamily="49" charset="-120"/>
              </a:rPr>
              <a:t>Make sense of what we observe</a:t>
            </a:r>
            <a:endParaRPr lang="en-US" sz="2400" dirty="0"/>
          </a:p>
        </p:txBody>
      </p:sp>
      <p:sp>
        <p:nvSpPr>
          <p:cNvPr id="7" name="Text 5"/>
          <p:cNvSpPr/>
          <p:nvPr/>
        </p:nvSpPr>
        <p:spPr>
          <a:xfrm>
            <a:off x="812800" y="3493790"/>
            <a:ext cx="3222729" cy="139685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Turn research and observation into something we can build on. What Don Norman did for UX.</a:t>
            </a:r>
            <a:endParaRPr lang="en-US" sz="1600" dirty="0"/>
          </a:p>
        </p:txBody>
      </p:sp>
      <p:sp>
        <p:nvSpPr>
          <p:cNvPr id="8" name="Text 6"/>
          <p:cNvSpPr/>
          <p:nvPr/>
        </p:nvSpPr>
        <p:spPr>
          <a:xfrm>
            <a:off x="4144863" y="2775049"/>
            <a:ext cx="234305" cy="2176562"/>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9" name="Shape 7"/>
          <p:cNvSpPr/>
          <p:nvPr/>
        </p:nvSpPr>
        <p:spPr>
          <a:xfrm>
            <a:off x="4531568" y="2171799"/>
            <a:ext cx="3128863" cy="0"/>
          </a:xfrm>
          <a:prstGeom prst="line">
            <a:avLst/>
          </a:prstGeom>
          <a:noFill/>
          <a:ln w="12700">
            <a:solidFill>
              <a:srgbClr val="8DBAF6"/>
            </a:solidFill>
            <a:prstDash val="solid"/>
          </a:ln>
        </p:spPr>
      </p:sp>
      <p:sp>
        <p:nvSpPr>
          <p:cNvPr id="10" name="Text 8"/>
          <p:cNvSpPr/>
          <p:nvPr/>
        </p:nvSpPr>
        <p:spPr>
          <a:xfrm>
            <a:off x="4531568"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MIDDLE · BUILD</a:t>
            </a:r>
            <a:endParaRPr lang="en-US" sz="1200" dirty="0"/>
          </a:p>
        </p:txBody>
      </p:sp>
      <p:sp>
        <p:nvSpPr>
          <p:cNvPr id="11" name="Text 9"/>
          <p:cNvSpPr/>
          <p:nvPr/>
        </p:nvSpPr>
        <p:spPr>
          <a:xfrm>
            <a:off x="4531568" y="2696270"/>
            <a:ext cx="3222729" cy="69592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8DBAF6"/>
                </a:solidFill>
                <a:latin typeface="JetBrains Mono" pitchFamily="49" charset="0"/>
                <a:ea typeface="JetBrains Mono" pitchFamily="49" charset="-122"/>
                <a:cs typeface="JetBrains Mono" pitchFamily="49" charset="-120"/>
              </a:rPr>
              <a:t>AI closed this gap</a:t>
            </a:r>
            <a:endParaRPr lang="en-US" sz="2400" dirty="0"/>
          </a:p>
        </p:txBody>
      </p:sp>
      <p:sp>
        <p:nvSpPr>
          <p:cNvPr id="12" name="Text 10"/>
          <p:cNvSpPr/>
          <p:nvPr/>
        </p:nvSpPr>
        <p:spPr>
          <a:xfrm>
            <a:off x="4531568" y="3493790"/>
            <a:ext cx="3222729"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Design to code, in an afternoon.</a:t>
            </a:r>
            <a:endParaRPr lang="en-US" sz="1600" dirty="0"/>
          </a:p>
        </p:txBody>
      </p:sp>
      <p:sp>
        <p:nvSpPr>
          <p:cNvPr id="13" name="Text 11"/>
          <p:cNvSpPr/>
          <p:nvPr/>
        </p:nvSpPr>
        <p:spPr>
          <a:xfrm>
            <a:off x="7863632" y="2775049"/>
            <a:ext cx="234305" cy="2176562"/>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14" name="Shape 12"/>
          <p:cNvSpPr/>
          <p:nvPr/>
        </p:nvSpPr>
        <p:spPr>
          <a:xfrm>
            <a:off x="8250337" y="2171799"/>
            <a:ext cx="3128863" cy="0"/>
          </a:xfrm>
          <a:prstGeom prst="line">
            <a:avLst/>
          </a:prstGeom>
          <a:noFill/>
          <a:ln w="12700">
            <a:solidFill>
              <a:srgbClr val="CFE07E"/>
            </a:solidFill>
            <a:prstDash val="solid"/>
          </a:ln>
        </p:spPr>
      </p:sp>
      <p:sp>
        <p:nvSpPr>
          <p:cNvPr id="15" name="Text 13"/>
          <p:cNvSpPr/>
          <p:nvPr/>
        </p:nvSpPr>
        <p:spPr>
          <a:xfrm>
            <a:off x="8250337"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FE07E"/>
                </a:solidFill>
                <a:latin typeface="JetBrains Mono" pitchFamily="49" charset="0"/>
                <a:ea typeface="JetBrains Mono" pitchFamily="49" charset="-122"/>
                <a:cs typeface="JetBrains Mono" pitchFamily="49" charset="-120"/>
              </a:rPr>
              <a:t>DOWNSTREAM · VALIDATION</a:t>
            </a:r>
            <a:endParaRPr lang="en-US" sz="1200" dirty="0"/>
          </a:p>
        </p:txBody>
      </p:sp>
      <p:sp>
        <p:nvSpPr>
          <p:cNvPr id="16" name="Text 14"/>
          <p:cNvSpPr/>
          <p:nvPr/>
        </p:nvSpPr>
        <p:spPr>
          <a:xfrm>
            <a:off x="8250337" y="2696270"/>
            <a:ext cx="3222729" cy="10311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CFE07E"/>
                </a:solidFill>
                <a:latin typeface="JetBrains Mono" pitchFamily="49" charset="0"/>
                <a:ea typeface="JetBrains Mono" pitchFamily="49" charset="-122"/>
                <a:cs typeface="JetBrains Mono" pitchFamily="49" charset="-120"/>
              </a:rPr>
              <a:t>Check what happens after we ship</a:t>
            </a:r>
            <a:endParaRPr lang="en-US" sz="2400" dirty="0"/>
          </a:p>
        </p:txBody>
      </p:sp>
      <p:sp>
        <p:nvSpPr>
          <p:cNvPr id="17" name="Text 15"/>
          <p:cNvSpPr/>
          <p:nvPr/>
        </p:nvSpPr>
        <p:spPr>
          <a:xfrm>
            <a:off x="8250337" y="3829050"/>
            <a:ext cx="3222729"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Consequences, not just conversion. Measured against people, not tokens.</a:t>
            </a:r>
            <a:endParaRPr lang="en-US" sz="1600" dirty="0"/>
          </a:p>
        </p:txBody>
      </p:sp>
      <p:sp>
        <p:nvSpPr>
          <p:cNvPr id="18" name="Text 16"/>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AI closed the middle. The two ends are on us.</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PART 4 · THE PATH FORWARD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Three moves</a:t>
            </a:r>
            <a:endParaRPr lang="en-US" sz="3600" dirty="0"/>
          </a:p>
        </p:txBody>
      </p:sp>
      <p:pic>
        <p:nvPicPr>
          <p:cNvPr id="4" name="Image 0" descr="connector">    </p:cNvPr>
          <p:cNvPicPr>
            <a:picLocks noChangeAspect="1"/>
          </p:cNvPicPr>
          <p:nvPr/>
        </p:nvPicPr>
        <p:blipFill>
          <a:blip r:embed="rId1"/>
          <a:srcRect l="0" r="0" t="0" b="0"/>
          <a:stretch/>
        </p:blipFill>
        <p:spPr>
          <a:xfrm>
            <a:off x="812800" y="2297013"/>
            <a:ext cx="10579100" cy="76200"/>
          </a:xfrm>
          <a:prstGeom prst="rect">
            <a:avLst/>
          </a:prstGeom>
        </p:spPr>
      </p:pic>
      <p:pic>
        <p:nvPicPr>
          <p:cNvPr id="5" name="Image 1" descr="ellipse">    </p:cNvPr>
          <p:cNvPicPr>
            <a:picLocks noChangeAspect="1"/>
          </p:cNvPicPr>
          <p:nvPr/>
        </p:nvPicPr>
        <p:blipFill>
          <a:blip r:embed="rId2"/>
          <a:srcRect l="0" r="0" t="0" b="0"/>
          <a:stretch/>
        </p:blipFill>
        <p:spPr>
          <a:xfrm>
            <a:off x="2419350" y="2246213"/>
            <a:ext cx="177800" cy="177800"/>
          </a:xfrm>
          <a:prstGeom prst="rect">
            <a:avLst/>
          </a:prstGeom>
        </p:spPr>
      </p:pic>
      <p:sp>
        <p:nvSpPr>
          <p:cNvPr id="6" name="Text 2"/>
          <p:cNvSpPr/>
          <p:nvPr/>
        </p:nvSpPr>
        <p:spPr>
          <a:xfrm>
            <a:off x="120015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B7ADFF"/>
                </a:solidFill>
                <a:latin typeface="JetBrains Mono" pitchFamily="49" charset="0"/>
                <a:ea typeface="JetBrains Mono" pitchFamily="49" charset="-122"/>
                <a:cs typeface="JetBrains Mono" pitchFamily="49" charset="-120"/>
              </a:rPr>
              <a:t>LOOK BACK</a:t>
            </a:r>
            <a:endParaRPr lang="en-US" sz="1200" dirty="0"/>
          </a:p>
        </p:txBody>
      </p:sp>
      <p:pic>
        <p:nvPicPr>
          <p:cNvPr id="7" name="Image 2" descr="ellipse">    </p:cNvPr>
          <p:cNvPicPr>
            <a:picLocks noChangeAspect="1"/>
          </p:cNvPicPr>
          <p:nvPr/>
        </p:nvPicPr>
        <p:blipFill>
          <a:blip r:embed="rId3"/>
          <a:srcRect l="0" r="0" t="0" b="0"/>
          <a:stretch/>
        </p:blipFill>
        <p:spPr>
          <a:xfrm>
            <a:off x="6007100" y="2246213"/>
            <a:ext cx="177800" cy="177800"/>
          </a:xfrm>
          <a:prstGeom prst="rect">
            <a:avLst/>
          </a:prstGeom>
        </p:spPr>
      </p:pic>
      <p:sp>
        <p:nvSpPr>
          <p:cNvPr id="8" name="Text 3"/>
          <p:cNvSpPr/>
          <p:nvPr/>
        </p:nvSpPr>
        <p:spPr>
          <a:xfrm>
            <a:off x="478790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FF6A4D"/>
                </a:solidFill>
                <a:latin typeface="JetBrains Mono" pitchFamily="49" charset="0"/>
                <a:ea typeface="JetBrains Mono" pitchFamily="49" charset="-122"/>
                <a:cs typeface="JetBrains Mono" pitchFamily="49" charset="-120"/>
              </a:rPr>
              <a:t>TODAY</a:t>
            </a:r>
            <a:endParaRPr lang="en-US" sz="1200" dirty="0"/>
          </a:p>
        </p:txBody>
      </p:sp>
      <p:pic>
        <p:nvPicPr>
          <p:cNvPr id="9" name="Image 3" descr="ellipse">    </p:cNvPr>
          <p:cNvPicPr>
            <a:picLocks noChangeAspect="1"/>
          </p:cNvPicPr>
          <p:nvPr/>
        </p:nvPicPr>
        <p:blipFill>
          <a:blip r:embed="rId4"/>
          <a:srcRect l="0" r="0" t="0" b="0"/>
          <a:stretch/>
        </p:blipFill>
        <p:spPr>
          <a:xfrm>
            <a:off x="9594850" y="2246213"/>
            <a:ext cx="177800" cy="177800"/>
          </a:xfrm>
          <a:prstGeom prst="rect">
            <a:avLst/>
          </a:prstGeom>
        </p:spPr>
      </p:pic>
      <p:sp>
        <p:nvSpPr>
          <p:cNvPr id="10" name="Text 4"/>
          <p:cNvSpPr/>
          <p:nvPr/>
        </p:nvSpPr>
        <p:spPr>
          <a:xfrm>
            <a:off x="837565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E8BD78"/>
                </a:solidFill>
                <a:latin typeface="JetBrains Mono" pitchFamily="49" charset="0"/>
                <a:ea typeface="JetBrains Mono" pitchFamily="49" charset="-122"/>
                <a:cs typeface="JetBrains Mono" pitchFamily="49" charset="-120"/>
              </a:rPr>
              <a:t>LOOK FORWARD</a:t>
            </a:r>
            <a:endParaRPr lang="en-US" sz="1200" dirty="0"/>
          </a:p>
        </p:txBody>
      </p:sp>
      <p:sp>
        <p:nvSpPr>
          <p:cNvPr id="11" name="Shape 5"/>
          <p:cNvSpPr/>
          <p:nvPr/>
        </p:nvSpPr>
        <p:spPr>
          <a:xfrm>
            <a:off x="812800" y="2842816"/>
            <a:ext cx="3386634" cy="0"/>
          </a:xfrm>
          <a:prstGeom prst="line">
            <a:avLst/>
          </a:prstGeom>
          <a:noFill/>
          <a:ln w="12700">
            <a:solidFill>
              <a:srgbClr val="B7ADFF"/>
            </a:solidFill>
            <a:prstDash val="solid"/>
          </a:ln>
        </p:spPr>
      </p:sp>
      <p:sp>
        <p:nvSpPr>
          <p:cNvPr id="12" name="Text 6"/>
          <p:cNvSpPr/>
          <p:nvPr/>
        </p:nvSpPr>
        <p:spPr>
          <a:xfrm>
            <a:off x="812800" y="3026966"/>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RECONNECT</a:t>
            </a:r>
            <a:endParaRPr lang="en-US" sz="1200" dirty="0"/>
          </a:p>
        </p:txBody>
      </p:sp>
      <p:sp>
        <p:nvSpPr>
          <p:cNvPr id="13" name="Text 7"/>
          <p:cNvSpPr/>
          <p:nvPr/>
        </p:nvSpPr>
        <p:spPr>
          <a:xfrm>
            <a:off x="812800" y="3341886"/>
            <a:ext cx="3488233"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B7ADFF"/>
                </a:solidFill>
                <a:latin typeface="JetBrains Mono" pitchFamily="49" charset="0"/>
                <a:ea typeface="JetBrains Mono" pitchFamily="49" charset="-122"/>
                <a:cs typeface="JetBrains Mono" pitchFamily="49" charset="-120"/>
              </a:rPr>
              <a:t>Find the lines</a:t>
            </a:r>
            <a:endParaRPr lang="en-US" sz="2800" dirty="0"/>
          </a:p>
        </p:txBody>
      </p:sp>
      <p:sp>
        <p:nvSpPr>
          <p:cNvPr id="14" name="Text 8"/>
          <p:cNvSpPr/>
          <p:nvPr/>
        </p:nvSpPr>
        <p:spPr>
          <a:xfrm>
            <a:off x="812800" y="3834606"/>
            <a:ext cx="3488233"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Read the research. Talk to academics. The value is in the lines between the nodes.</a:t>
            </a:r>
            <a:endParaRPr lang="en-US" sz="1600" dirty="0"/>
          </a:p>
        </p:txBody>
      </p:sp>
      <p:sp>
        <p:nvSpPr>
          <p:cNvPr id="15" name="Shape 9"/>
          <p:cNvSpPr/>
          <p:nvPr/>
        </p:nvSpPr>
        <p:spPr>
          <a:xfrm>
            <a:off x="4402634" y="2842816"/>
            <a:ext cx="3386683" cy="0"/>
          </a:xfrm>
          <a:prstGeom prst="line">
            <a:avLst/>
          </a:prstGeom>
          <a:noFill/>
          <a:ln w="12700">
            <a:solidFill>
              <a:srgbClr val="FF6A4D"/>
            </a:solidFill>
            <a:prstDash val="solid"/>
          </a:ln>
        </p:spPr>
      </p:sp>
      <p:sp>
        <p:nvSpPr>
          <p:cNvPr id="16" name="Text 10"/>
          <p:cNvSpPr/>
          <p:nvPr/>
        </p:nvSpPr>
        <p:spPr>
          <a:xfrm>
            <a:off x="4402634" y="3026966"/>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REDEFINE</a:t>
            </a:r>
            <a:endParaRPr lang="en-US" sz="1200" dirty="0"/>
          </a:p>
        </p:txBody>
      </p:sp>
      <p:sp>
        <p:nvSpPr>
          <p:cNvPr id="17" name="Text 11"/>
          <p:cNvSpPr/>
          <p:nvPr/>
        </p:nvSpPr>
        <p:spPr>
          <a:xfrm>
            <a:off x="4402634" y="3341886"/>
            <a:ext cx="3488284"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FF6A4D"/>
                </a:solidFill>
                <a:latin typeface="JetBrains Mono" pitchFamily="49" charset="0"/>
                <a:ea typeface="JetBrains Mono" pitchFamily="49" charset="-122"/>
                <a:cs typeface="JetBrains Mono" pitchFamily="49" charset="-120"/>
              </a:rPr>
              <a:t>Be the translator</a:t>
            </a:r>
            <a:endParaRPr lang="en-US" sz="2800" dirty="0"/>
          </a:p>
        </p:txBody>
      </p:sp>
      <p:sp>
        <p:nvSpPr>
          <p:cNvPr id="18" name="Text 12"/>
          <p:cNvSpPr/>
          <p:nvPr/>
        </p:nvSpPr>
        <p:spPr>
          <a:xfrm>
            <a:off x="4402634" y="4225727"/>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AI can make the screen. Observe, make sense of it, check what happens after.</a:t>
            </a:r>
            <a:endParaRPr lang="en-US" sz="1600" dirty="0"/>
          </a:p>
        </p:txBody>
      </p:sp>
      <p:sp>
        <p:nvSpPr>
          <p:cNvPr id="19" name="Shape 13"/>
          <p:cNvSpPr/>
          <p:nvPr/>
        </p:nvSpPr>
        <p:spPr>
          <a:xfrm>
            <a:off x="7992517" y="2842816"/>
            <a:ext cx="3386683" cy="0"/>
          </a:xfrm>
          <a:prstGeom prst="line">
            <a:avLst/>
          </a:prstGeom>
          <a:noFill/>
          <a:ln w="12700">
            <a:solidFill>
              <a:srgbClr val="E8BD78"/>
            </a:solidFill>
            <a:prstDash val="solid"/>
          </a:ln>
        </p:spPr>
      </p:sp>
      <p:sp>
        <p:nvSpPr>
          <p:cNvPr id="20" name="Text 14"/>
          <p:cNvSpPr/>
          <p:nvPr/>
        </p:nvSpPr>
        <p:spPr>
          <a:xfrm>
            <a:off x="7992517" y="3026966"/>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LEAN INTO CRAFT</a:t>
            </a:r>
            <a:endParaRPr lang="en-US" sz="1200" dirty="0"/>
          </a:p>
        </p:txBody>
      </p:sp>
      <p:sp>
        <p:nvSpPr>
          <p:cNvPr id="21" name="Text 15"/>
          <p:cNvSpPr/>
          <p:nvPr/>
        </p:nvSpPr>
        <p:spPr>
          <a:xfrm>
            <a:off x="7992517" y="3341886"/>
            <a:ext cx="3488284"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8BD78"/>
                </a:solidFill>
                <a:latin typeface="JetBrains Mono" pitchFamily="49" charset="0"/>
                <a:ea typeface="JetBrains Mono" pitchFamily="49" charset="-122"/>
                <a:cs typeface="JetBrains Mono" pitchFamily="49" charset="-120"/>
              </a:rPr>
              <a:t>Keep the rigour</a:t>
            </a:r>
            <a:endParaRPr lang="en-US" sz="2800" dirty="0"/>
          </a:p>
        </p:txBody>
      </p:sp>
      <p:sp>
        <p:nvSpPr>
          <p:cNvPr id="22" name="Text 16"/>
          <p:cNvSpPr/>
          <p:nvPr/>
        </p:nvSpPr>
        <p:spPr>
          <a:xfrm>
            <a:off x="7992517" y="3834606"/>
            <a:ext cx="3488284"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Observation and judgement: the part that can’t be automated, and the part we let slip.</a:t>
            </a:r>
            <a:endParaRPr lang="en-US" sz="1600" dirty="0"/>
          </a:p>
        </p:txBody>
      </p:sp>
      <p:sp>
        <p:nvSpPr>
          <p:cNvPr id="23" name="Text 17"/>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8BD78"/>
                </a:solidFill>
                <a:latin typeface="JetBrains Mono" pitchFamily="49" charset="0"/>
                <a:ea typeface="JetBrains Mono" pitchFamily="49" charset="-122"/>
                <a:cs typeface="JetBrains Mono" pitchFamily="49" charset="-120"/>
              </a:rPr>
              <a:t>Go back to go forward.</a:t>
            </a:r>
            <a:endParaRPr lang="en-US" sz="2800" dirty="0"/>
          </a:p>
        </p:txBody>
      </p:sp>
      <p:sp>
        <p:nvSpPr>
          <p:cNvPr id="24"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5" name="Text 19"/>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8BD7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41413"/>
                </a:solidFill>
                <a:latin typeface="JetBrains Mono" pitchFamily="49" charset="0"/>
                <a:ea typeface="JetBrains Mono" pitchFamily="49" charset="-122"/>
                <a:cs typeface="JetBrains Mono" pitchFamily="49" charset="-120"/>
              </a:rPr>
              <a:t>CLOSING · POGGIO, AGAIN</a:t>
            </a:r>
            <a:endParaRPr lang="en-US" sz="1200" dirty="0"/>
          </a:p>
        </p:txBody>
      </p:sp>
      <p:sp>
        <p:nvSpPr>
          <p:cNvPr id="3" name="Text 1"/>
          <p:cNvSpPr/>
          <p:nvPr>
            <p:ph type="title"/>
          </p:nvPr>
        </p:nvSpPr>
        <p:spPr>
          <a:xfrm>
            <a:off x="812800" y="2024360"/>
            <a:ext cx="10883392"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141413"/>
                </a:solidFill>
                <a:latin typeface="JetBrains Mono" pitchFamily="49" charset="0"/>
                <a:ea typeface="JetBrains Mono" pitchFamily="49" charset="-122"/>
                <a:cs typeface="JetBrains Mono" pitchFamily="49" charset="-120"/>
              </a:rPr>
              <a:t>Somebody has to</a:t>
            </a:r>
            <a:endParaRPr lang="en-US" sz="7200" dirty="0"/>
          </a:p>
          <a:p>
            <a:pPr algn="l" indent="0" marL="0">
              <a:lnSpc>
                <a:spcPts val="7200"/>
              </a:lnSpc>
              <a:buNone/>
            </a:pPr>
            <a:r>
              <a:rPr lang="en-US" sz="7200" b="0" i="0" spc="-200" kern="0" dirty="0">
                <a:solidFill>
                  <a:srgbClr val="141413"/>
                </a:solidFill>
                <a:latin typeface="JetBrains Mono" pitchFamily="49" charset="0"/>
                <a:ea typeface="JetBrains Mono" pitchFamily="49" charset="-122"/>
                <a:cs typeface="JetBrains Mono" pitchFamily="49" charset="-120"/>
              </a:rPr>
              <a:t>go find it.</a:t>
            </a:r>
            <a:endParaRPr lang="en-US" sz="7200" dirty="0"/>
          </a:p>
        </p:txBody>
      </p:sp>
      <p:sp>
        <p:nvSpPr>
          <p:cNvPr id="4" name="Text 2"/>
          <p:cNvSpPr/>
          <p:nvPr/>
        </p:nvSpPr>
        <p:spPr>
          <a:xfrm>
            <a:off x="812800" y="4851400"/>
            <a:ext cx="8502650"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1413"/>
                </a:solidFill>
                <a:latin typeface="JetBrains Mono" pitchFamily="49" charset="0"/>
                <a:ea typeface="JetBrains Mono" pitchFamily="49" charset="-122"/>
                <a:cs typeface="JetBrains Mono" pitchFamily="49" charset="-120"/>
              </a:rPr>
              <a:t>Poggio didn’t write the book. He knew it mattered, and made sure it was copied, translated and passed on. That’s the job.</a:t>
            </a:r>
            <a:endParaRPr lang="en-US" sz="20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3A33"/>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3D3A33"/>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PLAN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Three questions</a:t>
            </a:r>
            <a:endParaRPr lang="en-US" sz="3600" dirty="0"/>
          </a:p>
        </p:txBody>
      </p:sp>
      <p:sp>
        <p:nvSpPr>
          <p:cNvPr id="4" name="Shape 2"/>
          <p:cNvSpPr/>
          <p:nvPr/>
        </p:nvSpPr>
        <p:spPr>
          <a:xfrm>
            <a:off x="812800" y="3246834"/>
            <a:ext cx="10566400" cy="0"/>
          </a:xfrm>
          <a:prstGeom prst="line">
            <a:avLst/>
          </a:prstGeom>
          <a:noFill/>
          <a:ln w="12700">
            <a:solidFill>
              <a:srgbClr val="B7ADFF"/>
            </a:solidFill>
            <a:prstDash val="solid"/>
          </a:ln>
        </p:spPr>
      </p:sp>
      <p:sp>
        <p:nvSpPr>
          <p:cNvPr id="5" name="Text 3"/>
          <p:cNvSpPr/>
          <p:nvPr/>
        </p:nvSpPr>
        <p:spPr>
          <a:xfrm>
            <a:off x="812800" y="3469084"/>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7ADFF"/>
                </a:solidFill>
                <a:latin typeface="JetBrains Mono" pitchFamily="49" charset="0"/>
                <a:ea typeface="JetBrains Mono" pitchFamily="49" charset="-122"/>
                <a:cs typeface="JetBrains Mono" pitchFamily="49" charset="-120"/>
              </a:rPr>
              <a:t>01</a:t>
            </a:r>
            <a:endParaRPr lang="en-US" sz="2000" dirty="0"/>
          </a:p>
        </p:txBody>
      </p:sp>
      <p:sp>
        <p:nvSpPr>
          <p:cNvPr id="6" name="Text 4"/>
          <p:cNvSpPr/>
          <p:nvPr/>
        </p:nvSpPr>
        <p:spPr>
          <a:xfrm>
            <a:off x="1879600" y="3456384"/>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Look back</a:t>
            </a:r>
            <a:endParaRPr lang="en-US" sz="2400" dirty="0"/>
          </a:p>
        </p:txBody>
      </p:sp>
      <p:sp>
        <p:nvSpPr>
          <p:cNvPr id="7" name="Text 5"/>
          <p:cNvSpPr/>
          <p:nvPr/>
        </p:nvSpPr>
        <p:spPr>
          <a:xfrm>
            <a:off x="7010400" y="3535759"/>
            <a:ext cx="4499864"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How knowledge travels: the Renaissance, and UX</a:t>
            </a:r>
            <a:endParaRPr lang="en-US" sz="1600" dirty="0"/>
          </a:p>
        </p:txBody>
      </p:sp>
      <p:sp>
        <p:nvSpPr>
          <p:cNvPr id="8" name="Shape 6"/>
          <p:cNvSpPr/>
          <p:nvPr/>
        </p:nvSpPr>
        <p:spPr>
          <a:xfrm>
            <a:off x="812800" y="4273550"/>
            <a:ext cx="10566400" cy="0"/>
          </a:xfrm>
          <a:prstGeom prst="line">
            <a:avLst/>
          </a:prstGeom>
          <a:noFill/>
          <a:ln w="12700">
            <a:solidFill>
              <a:srgbClr val="FF6A4D"/>
            </a:solidFill>
            <a:prstDash val="solid"/>
          </a:ln>
        </p:spPr>
      </p:sp>
      <p:sp>
        <p:nvSpPr>
          <p:cNvPr id="9" name="Text 7"/>
          <p:cNvSpPr/>
          <p:nvPr/>
        </p:nvSpPr>
        <p:spPr>
          <a:xfrm>
            <a:off x="812800" y="4495800"/>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6A4D"/>
                </a:solidFill>
                <a:latin typeface="JetBrains Mono" pitchFamily="49" charset="0"/>
                <a:ea typeface="JetBrains Mono" pitchFamily="49" charset="-122"/>
                <a:cs typeface="JetBrains Mono" pitchFamily="49" charset="-120"/>
              </a:rPr>
              <a:t>02</a:t>
            </a:r>
            <a:endParaRPr lang="en-US" sz="2000" dirty="0"/>
          </a:p>
        </p:txBody>
      </p:sp>
      <p:sp>
        <p:nvSpPr>
          <p:cNvPr id="10" name="Text 8"/>
          <p:cNvSpPr/>
          <p:nvPr/>
        </p:nvSpPr>
        <p:spPr>
          <a:xfrm>
            <a:off x="1879600" y="4483100"/>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What AI changed</a:t>
            </a:r>
            <a:endParaRPr lang="en-US" sz="2400" dirty="0"/>
          </a:p>
        </p:txBody>
      </p:sp>
      <p:sp>
        <p:nvSpPr>
          <p:cNvPr id="11" name="Text 9"/>
          <p:cNvSpPr/>
          <p:nvPr/>
        </p:nvSpPr>
        <p:spPr>
          <a:xfrm>
            <a:off x="7010400" y="4562475"/>
            <a:ext cx="449986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Trust, and how we work now</a:t>
            </a:r>
            <a:endParaRPr lang="en-US" sz="1600" dirty="0"/>
          </a:p>
        </p:txBody>
      </p:sp>
      <p:sp>
        <p:nvSpPr>
          <p:cNvPr id="12" name="Shape 10"/>
          <p:cNvSpPr/>
          <p:nvPr/>
        </p:nvSpPr>
        <p:spPr>
          <a:xfrm>
            <a:off x="812800" y="5060950"/>
            <a:ext cx="10566400" cy="0"/>
          </a:xfrm>
          <a:prstGeom prst="line">
            <a:avLst/>
          </a:prstGeom>
          <a:noFill/>
          <a:ln w="12700">
            <a:solidFill>
              <a:srgbClr val="E8BD78"/>
            </a:solidFill>
            <a:prstDash val="solid"/>
          </a:ln>
        </p:spPr>
      </p:sp>
      <p:sp>
        <p:nvSpPr>
          <p:cNvPr id="13" name="Text 11"/>
          <p:cNvSpPr/>
          <p:nvPr/>
        </p:nvSpPr>
        <p:spPr>
          <a:xfrm>
            <a:off x="812800" y="5283200"/>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8BD78"/>
                </a:solidFill>
                <a:latin typeface="JetBrains Mono" pitchFamily="49" charset="0"/>
                <a:ea typeface="JetBrains Mono" pitchFamily="49" charset="-122"/>
                <a:cs typeface="JetBrains Mono" pitchFamily="49" charset="-120"/>
              </a:rPr>
              <a:t>03</a:t>
            </a:r>
            <a:endParaRPr lang="en-US" sz="2000" dirty="0"/>
          </a:p>
        </p:txBody>
      </p:sp>
      <p:sp>
        <p:nvSpPr>
          <p:cNvPr id="14" name="Text 12"/>
          <p:cNvSpPr/>
          <p:nvPr/>
        </p:nvSpPr>
        <p:spPr>
          <a:xfrm>
            <a:off x="1879600" y="5270500"/>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What we need</a:t>
            </a:r>
            <a:endParaRPr lang="en-US" sz="2400" dirty="0"/>
          </a:p>
        </p:txBody>
      </p:sp>
      <p:sp>
        <p:nvSpPr>
          <p:cNvPr id="15" name="Text 13"/>
          <p:cNvSpPr/>
          <p:nvPr/>
        </p:nvSpPr>
        <p:spPr>
          <a:xfrm>
            <a:off x="7010400" y="5349875"/>
            <a:ext cx="449986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Build better. Then: map your day</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 name="Text 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ART ↔ SOCIETY</a:t>
            </a:r>
            <a:endParaRPr lang="en-US" sz="1200" dirty="0"/>
          </a:p>
        </p:txBody>
      </p:sp>
      <p:sp>
        <p:nvSpPr>
          <p:cNvPr id="5" name="Text 3"/>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Black Mirror effect</a:t>
            </a:r>
            <a:endParaRPr lang="en-US" sz="3600" dirty="0"/>
          </a:p>
        </p:txBody>
      </p:sp>
      <p:pic>
        <p:nvPicPr>
          <p:cNvPr id="6" name="Image 0" descr="A loop between art and society: art reflects society, and society steers by art.">    </p:cNvPr>
          <p:cNvPicPr>
            <a:picLocks noChangeAspect="1"/>
          </p:cNvPicPr>
          <p:nvPr/>
        </p:nvPicPr>
        <p:blipFill>
          <a:blip r:embed="rId1"/>
          <a:srcRect l="0" r="0" t="-5" b="-5"/>
          <a:stretch/>
        </p:blipFill>
        <p:spPr>
          <a:xfrm>
            <a:off x="1695450" y="2025650"/>
            <a:ext cx="8801100" cy="2540000"/>
          </a:xfrm>
          <a:prstGeom prst="rect">
            <a:avLst/>
          </a:prstGeom>
        </p:spPr>
      </p:pic>
      <p:sp>
        <p:nvSpPr>
          <p:cNvPr id="7" name="Text 4"/>
          <p:cNvSpPr/>
          <p:nvPr/>
        </p:nvSpPr>
        <p:spPr>
          <a:xfrm>
            <a:off x="812800" y="5143500"/>
            <a:ext cx="7388108"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F2F1EC"/>
                </a:solidFill>
                <a:latin typeface="JetBrains Mono" pitchFamily="49" charset="0"/>
                <a:ea typeface="JetBrains Mono" pitchFamily="49" charset="-122"/>
                <a:cs typeface="JetBrains Mono" pitchFamily="49" charset="-120"/>
              </a:rPr>
              <a:t>Why do we keep building things that writers try to warn us from?</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Four rules for AI-era teams</a:t>
            </a:r>
            <a:endParaRPr lang="en-US" sz="3600" dirty="0"/>
          </a:p>
        </p:txBody>
      </p:sp>
      <p:sp>
        <p:nvSpPr>
          <p:cNvPr id="4" name="Shape 2"/>
          <p:cNvSpPr/>
          <p:nvPr/>
        </p:nvSpPr>
        <p:spPr>
          <a:xfrm>
            <a:off x="812800" y="3422848"/>
            <a:ext cx="5207000" cy="0"/>
          </a:xfrm>
          <a:prstGeom prst="line">
            <a:avLst/>
          </a:prstGeom>
          <a:noFill/>
          <a:ln w="12700">
            <a:solidFill>
              <a:srgbClr val="7FD9C4"/>
            </a:solidFill>
            <a:prstDash val="solid"/>
          </a:ln>
        </p:spPr>
      </p:sp>
      <p:sp>
        <p:nvSpPr>
          <p:cNvPr id="5" name="Text 3"/>
          <p:cNvSpPr/>
          <p:nvPr/>
        </p:nvSpPr>
        <p:spPr>
          <a:xfrm>
            <a:off x="812800" y="3581598"/>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Protect deep research</a:t>
            </a:r>
            <a:endParaRPr lang="en-US" sz="2200" dirty="0"/>
          </a:p>
        </p:txBody>
      </p:sp>
      <p:sp>
        <p:nvSpPr>
          <p:cNvPr id="6" name="Text 4"/>
          <p:cNvSpPr/>
          <p:nvPr/>
        </p:nvSpPr>
        <p:spPr>
          <a:xfrm>
            <a:off x="812800" y="4004469"/>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AI for synthesis at scale. People for interpretation and immersion.</a:t>
            </a:r>
            <a:endParaRPr lang="en-US" sz="1600" dirty="0"/>
          </a:p>
        </p:txBody>
      </p:sp>
      <p:sp>
        <p:nvSpPr>
          <p:cNvPr id="7" name="Shape 5"/>
          <p:cNvSpPr/>
          <p:nvPr/>
        </p:nvSpPr>
        <p:spPr>
          <a:xfrm>
            <a:off x="6172200" y="3422848"/>
            <a:ext cx="5207000" cy="0"/>
          </a:xfrm>
          <a:prstGeom prst="line">
            <a:avLst/>
          </a:prstGeom>
          <a:noFill/>
          <a:ln w="12700">
            <a:solidFill>
              <a:srgbClr val="7FD9C4"/>
            </a:solidFill>
            <a:prstDash val="solid"/>
          </a:ln>
        </p:spPr>
      </p:sp>
      <p:sp>
        <p:nvSpPr>
          <p:cNvPr id="8" name="Text 6"/>
          <p:cNvSpPr/>
          <p:nvPr/>
        </p:nvSpPr>
        <p:spPr>
          <a:xfrm>
            <a:off x="6172200" y="3581598"/>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Set team norms</a:t>
            </a:r>
            <a:endParaRPr lang="en-US" sz="2200" dirty="0"/>
          </a:p>
        </p:txBody>
      </p:sp>
      <p:sp>
        <p:nvSpPr>
          <p:cNvPr id="9" name="Text 7"/>
          <p:cNvSpPr/>
          <p:nvPr/>
        </p:nvSpPr>
        <p:spPr>
          <a:xfrm>
            <a:off x="6172200" y="4004469"/>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Disclosure, review, accountability, skill development.</a:t>
            </a:r>
            <a:endParaRPr lang="en-US" sz="1600" dirty="0"/>
          </a:p>
        </p:txBody>
      </p:sp>
      <p:sp>
        <p:nvSpPr>
          <p:cNvPr id="10" name="Shape 8"/>
          <p:cNvSpPr/>
          <p:nvPr/>
        </p:nvSpPr>
        <p:spPr>
          <a:xfrm>
            <a:off x="812800" y="4711799"/>
            <a:ext cx="5207000" cy="0"/>
          </a:xfrm>
          <a:prstGeom prst="line">
            <a:avLst/>
          </a:prstGeom>
          <a:noFill/>
          <a:ln w="12700">
            <a:solidFill>
              <a:srgbClr val="7FD9C4"/>
            </a:solidFill>
            <a:prstDash val="solid"/>
          </a:ln>
        </p:spPr>
      </p:sp>
      <p:sp>
        <p:nvSpPr>
          <p:cNvPr id="11" name="Text 9"/>
          <p:cNvSpPr/>
          <p:nvPr/>
        </p:nvSpPr>
        <p:spPr>
          <a:xfrm>
            <a:off x="812800" y="4870549"/>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Hypotheses, not conclusions</a:t>
            </a:r>
            <a:endParaRPr lang="en-US" sz="2200" dirty="0"/>
          </a:p>
        </p:txBody>
      </p:sp>
      <p:sp>
        <p:nvSpPr>
          <p:cNvPr id="12" name="Text 10"/>
          <p:cNvSpPr/>
          <p:nvPr/>
        </p:nvSpPr>
        <p:spPr>
          <a:xfrm>
            <a:off x="812800" y="5293420"/>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Use AI to find edge cases and questions, not answers.</a:t>
            </a:r>
            <a:endParaRPr lang="en-US" sz="1600" dirty="0"/>
          </a:p>
        </p:txBody>
      </p:sp>
      <p:sp>
        <p:nvSpPr>
          <p:cNvPr id="13" name="Shape 11"/>
          <p:cNvSpPr/>
          <p:nvPr/>
        </p:nvSpPr>
        <p:spPr>
          <a:xfrm>
            <a:off x="6172200" y="4711799"/>
            <a:ext cx="5207000" cy="0"/>
          </a:xfrm>
          <a:prstGeom prst="line">
            <a:avLst/>
          </a:prstGeom>
          <a:noFill/>
          <a:ln w="12700">
            <a:solidFill>
              <a:srgbClr val="7FD9C4"/>
            </a:solidFill>
            <a:prstDash val="solid"/>
          </a:ln>
        </p:spPr>
      </p:sp>
      <p:sp>
        <p:nvSpPr>
          <p:cNvPr id="14" name="Text 12"/>
          <p:cNvSpPr/>
          <p:nvPr/>
        </p:nvSpPr>
        <p:spPr>
          <a:xfrm>
            <a:off x="6172200" y="4870549"/>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Fix the system, not the person</a:t>
            </a:r>
            <a:endParaRPr lang="en-US" sz="2200" dirty="0"/>
          </a:p>
        </p:txBody>
      </p:sp>
      <p:sp>
        <p:nvSpPr>
          <p:cNvPr id="15" name="Text 13"/>
          <p:cNvSpPr/>
          <p:nvPr/>
        </p:nvSpPr>
        <p:spPr>
          <a:xfrm>
            <a:off x="6172200" y="5293420"/>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Uneven adoption is a systems problem, not a personal failing.</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HOW TO BUILD A PRODUCT</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RESEARCH</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DESIGN</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ENGINEER</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8DBAF6"/>
                </a:solidFill>
                <a:latin typeface="JetBrains Mono" pitchFamily="49" charset="0"/>
                <a:ea typeface="JetBrains Mono" pitchFamily="49" charset="-122"/>
                <a:cs typeface="JetBrains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FE07E"/>
                </a:solidFill>
                <a:latin typeface="JetBrains Mono" pitchFamily="49" charset="0"/>
                <a:ea typeface="JetBrains Mono" pitchFamily="49" charset="-122"/>
                <a:cs typeface="JetBrains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TEST</a:t>
            </a:r>
            <a:endParaRPr lang="en-US" sz="1700" dirty="0"/>
          </a:p>
        </p:txBody>
      </p:sp>
      <p:sp>
        <p:nvSpPr>
          <p:cNvPr id="27" name="Text 16"/>
          <p:cNvSpPr/>
          <p:nvPr/>
        </p:nvSpPr>
        <p:spPr>
          <a:xfrm>
            <a:off x="6527800" y="1625600"/>
            <a:ext cx="510159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With AI, it is much easier to close the gap</a:t>
            </a:r>
            <a:endParaRPr lang="en-US" sz="1400" dirty="0"/>
          </a:p>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between visualisation and building.</a:t>
            </a:r>
            <a:endParaRPr lang="en-US" sz="1400" dirty="0"/>
          </a:p>
        </p:txBody>
      </p:sp>
      <p:pic>
        <p:nvPicPr>
          <p:cNvPr id="28" name="Image 9" descr="connector">    </p:cNvPr>
          <p:cNvPicPr>
            <a:picLocks noChangeAspect="1"/>
          </p:cNvPicPr>
          <p:nvPr/>
        </p:nvPicPr>
        <p:blipFill>
          <a:blip r:embed="rId10"/>
          <a:srcRect l="0" r="0" t="0" b="0"/>
          <a:stretch/>
        </p:blipFill>
        <p:spPr>
          <a:xfrm>
            <a:off x="6489700" y="2374900"/>
            <a:ext cx="1841500" cy="76200"/>
          </a:xfrm>
          <a:prstGeom prst="rect">
            <a:avLst/>
          </a:prstGeom>
        </p:spPr>
      </p:pic>
      <p:pic>
        <p:nvPicPr>
          <p:cNvPr id="29" name="Image 10" descr="connector">    </p:cNvPr>
          <p:cNvPicPr>
            <a:picLocks noChangeAspect="1"/>
          </p:cNvPicPr>
          <p:nvPr/>
        </p:nvPicPr>
        <p:blipFill>
          <a:blip r:embed="rId11"/>
          <a:srcRect l="0" r="0" t="0" b="0"/>
          <a:stretch/>
        </p:blipFill>
        <p:spPr>
          <a:xfrm>
            <a:off x="2889250" y="4406900"/>
            <a:ext cx="2190750" cy="76200"/>
          </a:xfrm>
          <a:prstGeom prst="rect">
            <a:avLst/>
          </a:prstGeom>
        </p:spPr>
      </p:pic>
      <p:sp>
        <p:nvSpPr>
          <p:cNvPr id="30" name="Text 17"/>
          <p:cNvSpPr/>
          <p:nvPr/>
        </p:nvSpPr>
        <p:spPr>
          <a:xfrm>
            <a:off x="1162050" y="4635500"/>
            <a:ext cx="457835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But it is much harder for us to observe</a:t>
            </a:r>
            <a:endParaRPr lang="en-US" sz="1400" dirty="0"/>
          </a:p>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and derive insights.</a:t>
            </a:r>
            <a:endParaRPr lang="en-US" sz="1400" dirty="0"/>
          </a:p>
        </p:txBody>
      </p:sp>
      <p:pic>
        <p:nvPicPr>
          <p:cNvPr id="31" name="Image 11" descr="connector">    </p:cNvPr>
          <p:cNvPicPr>
            <a:picLocks noChangeAspect="1"/>
          </p:cNvPicPr>
          <p:nvPr/>
        </p:nvPicPr>
        <p:blipFill>
          <a:blip r:embed="rId12"/>
          <a:srcRect l="0" r="0" t="0" b="0"/>
          <a:stretch/>
        </p:blipFill>
        <p:spPr>
          <a:xfrm>
            <a:off x="8521700" y="4406900"/>
            <a:ext cx="2190750" cy="76200"/>
          </a:xfrm>
          <a:prstGeom prst="rect">
            <a:avLst/>
          </a:prstGeom>
        </p:spPr>
      </p:pic>
      <p:sp>
        <p:nvSpPr>
          <p:cNvPr id="32" name="Text 18"/>
          <p:cNvSpPr/>
          <p:nvPr/>
        </p:nvSpPr>
        <p:spPr>
          <a:xfrm>
            <a:off x="7854950" y="4635500"/>
            <a:ext cx="327025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And it is harder</a:t>
            </a:r>
            <a:endParaRPr lang="en-US" sz="1400" dirty="0"/>
          </a:p>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to test products.</a:t>
            </a:r>
            <a:endParaRPr lang="en-US" sz="1400" dirty="0"/>
          </a:p>
        </p:txBody>
      </p:sp>
      <p:sp>
        <p:nvSpPr>
          <p:cNvPr id="33" name="Text 1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4" name="Text 2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BUILD BETTER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Calibrate trust, not dependency</a:t>
            </a:r>
            <a:endParaRPr lang="en-US" sz="3600" dirty="0"/>
          </a:p>
        </p:txBody>
      </p:sp>
      <p:sp>
        <p:nvSpPr>
          <p:cNvPr id="4" name="Text 2"/>
          <p:cNvSpPr/>
          <p:nvPr/>
        </p:nvSpPr>
        <p:spPr>
          <a:xfrm>
            <a:off x="812800" y="2865239"/>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BEFORE YOU GIVE IT A FACE</a:t>
            </a:r>
            <a:endParaRPr lang="en-US" sz="1200" dirty="0"/>
          </a:p>
        </p:txBody>
      </p:sp>
      <p:sp>
        <p:nvSpPr>
          <p:cNvPr id="5" name="Shape 3"/>
          <p:cNvSpPr/>
          <p:nvPr/>
        </p:nvSpPr>
        <p:spPr>
          <a:xfrm>
            <a:off x="815975" y="3183334"/>
            <a:ext cx="2800350" cy="1273770"/>
          </a:xfrm>
          <a:prstGeom prst="roundRect">
            <a:avLst>
              <a:gd name="adj" fmla="val 3739"/>
            </a:avLst>
          </a:prstGeom>
          <a:noFill/>
          <a:ln w="6350">
            <a:solidFill>
              <a:srgbClr val="33332F"/>
            </a:solidFill>
            <a:prstDash val="solid"/>
          </a:ln>
        </p:spPr>
      </p:sp>
      <p:sp>
        <p:nvSpPr>
          <p:cNvPr id="6" name="Text 4"/>
          <p:cNvSpPr/>
          <p:nvPr/>
        </p:nvSpPr>
        <p:spPr>
          <a:xfrm>
            <a:off x="1022350" y="3389709"/>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01</a:t>
            </a:r>
            <a:endParaRPr lang="en-US" sz="1200" dirty="0"/>
          </a:p>
        </p:txBody>
      </p:sp>
      <p:sp>
        <p:nvSpPr>
          <p:cNvPr id="7" name="Text 5"/>
          <p:cNvSpPr/>
          <p:nvPr/>
        </p:nvSpPr>
        <p:spPr>
          <a:xfrm>
            <a:off x="1022350" y="367923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Does it serve the user's goal?</a:t>
            </a:r>
            <a:endParaRPr lang="en-US" sz="1800" dirty="0"/>
          </a:p>
        </p:txBody>
      </p:sp>
      <p:sp>
        <p:nvSpPr>
          <p:cNvPr id="8" name="Shape 6"/>
          <p:cNvSpPr/>
          <p:nvPr/>
        </p:nvSpPr>
        <p:spPr>
          <a:xfrm>
            <a:off x="3724275" y="3183334"/>
            <a:ext cx="2800350" cy="1273770"/>
          </a:xfrm>
          <a:prstGeom prst="roundRect">
            <a:avLst>
              <a:gd name="adj" fmla="val 3739"/>
            </a:avLst>
          </a:prstGeom>
          <a:noFill/>
          <a:ln w="6350">
            <a:solidFill>
              <a:srgbClr val="33332F"/>
            </a:solidFill>
            <a:prstDash val="solid"/>
          </a:ln>
        </p:spPr>
      </p:sp>
      <p:sp>
        <p:nvSpPr>
          <p:cNvPr id="9" name="Text 7"/>
          <p:cNvSpPr/>
          <p:nvPr/>
        </p:nvSpPr>
        <p:spPr>
          <a:xfrm>
            <a:off x="3930650" y="3389709"/>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930650" y="367923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Is the mental model honest?</a:t>
            </a:r>
            <a:endParaRPr lang="en-US" sz="1800" dirty="0"/>
          </a:p>
        </p:txBody>
      </p:sp>
      <p:sp>
        <p:nvSpPr>
          <p:cNvPr id="11" name="Shape 9"/>
          <p:cNvSpPr/>
          <p:nvPr/>
        </p:nvSpPr>
        <p:spPr>
          <a:xfrm>
            <a:off x="815975" y="4565055"/>
            <a:ext cx="2800350" cy="1273770"/>
          </a:xfrm>
          <a:prstGeom prst="roundRect">
            <a:avLst>
              <a:gd name="adj" fmla="val 3739"/>
            </a:avLst>
          </a:prstGeom>
          <a:noFill/>
          <a:ln w="6350">
            <a:solidFill>
              <a:srgbClr val="33332F"/>
            </a:solidFill>
            <a:prstDash val="solid"/>
          </a:ln>
        </p:spPr>
      </p:sp>
      <p:sp>
        <p:nvSpPr>
          <p:cNvPr id="12" name="Text 10"/>
          <p:cNvSpPr/>
          <p:nvPr/>
        </p:nvSpPr>
        <p:spPr>
          <a:xfrm>
            <a:off x="1022350" y="477143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03</a:t>
            </a:r>
            <a:endParaRPr lang="en-US" sz="1200" dirty="0"/>
          </a:p>
        </p:txBody>
      </p:sp>
      <p:sp>
        <p:nvSpPr>
          <p:cNvPr id="13" name="Text 11"/>
          <p:cNvSpPr/>
          <p:nvPr/>
        </p:nvSpPr>
        <p:spPr>
          <a:xfrm>
            <a:off x="1022350" y="506095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Can users opt out?</a:t>
            </a:r>
            <a:endParaRPr lang="en-US" sz="1800" dirty="0"/>
          </a:p>
        </p:txBody>
      </p:sp>
      <p:sp>
        <p:nvSpPr>
          <p:cNvPr id="14" name="Shape 12"/>
          <p:cNvSpPr/>
          <p:nvPr/>
        </p:nvSpPr>
        <p:spPr>
          <a:xfrm>
            <a:off x="3724275" y="4565055"/>
            <a:ext cx="2800350" cy="1273770"/>
          </a:xfrm>
          <a:prstGeom prst="roundRect">
            <a:avLst>
              <a:gd name="adj" fmla="val 3739"/>
            </a:avLst>
          </a:prstGeom>
          <a:noFill/>
          <a:ln w="6350">
            <a:solidFill>
              <a:srgbClr val="33332F"/>
            </a:solidFill>
            <a:prstDash val="solid"/>
          </a:ln>
        </p:spPr>
      </p:sp>
      <p:sp>
        <p:nvSpPr>
          <p:cNvPr id="15" name="Text 13"/>
          <p:cNvSpPr/>
          <p:nvPr/>
        </p:nvSpPr>
        <p:spPr>
          <a:xfrm>
            <a:off x="3930650" y="477143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04</a:t>
            </a:r>
            <a:endParaRPr lang="en-US" sz="1200" dirty="0"/>
          </a:p>
        </p:txBody>
      </p:sp>
      <p:sp>
        <p:nvSpPr>
          <p:cNvPr id="16" name="Text 14"/>
          <p:cNvSpPr/>
          <p:nvPr/>
        </p:nvSpPr>
        <p:spPr>
          <a:xfrm>
            <a:off x="3930650" y="506095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High stakes or low?</a:t>
            </a:r>
            <a:endParaRPr lang="en-US" sz="1800" dirty="0"/>
          </a:p>
        </p:txBody>
      </p:sp>
      <p:sp>
        <p:nvSpPr>
          <p:cNvPr id="17" name="Text 15"/>
          <p:cNvSpPr/>
          <p:nvPr/>
        </p:nvSpPr>
        <p:spPr>
          <a:xfrm>
            <a:off x="6934200" y="3373239"/>
            <a:ext cx="4578350"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Emotional design is not a substitute for interaction design.</a:t>
            </a:r>
            <a:endParaRPr lang="en-US" sz="1800" dirty="0"/>
          </a:p>
        </p:txBody>
      </p:sp>
      <p:sp>
        <p:nvSpPr>
          <p:cNvPr id="18" name="Text 16"/>
          <p:cNvSpPr/>
          <p:nvPr/>
        </p:nvSpPr>
        <p:spPr>
          <a:xfrm>
            <a:off x="6934200" y="4442520"/>
            <a:ext cx="4578350"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People differ: anthropomorphism is a stable trait, not a universal response.</a:t>
            </a:r>
            <a:endParaRPr lang="en-US" sz="1800" dirty="0"/>
          </a:p>
        </p:txBody>
      </p:sp>
      <p:sp>
        <p:nvSpPr>
          <p:cNvPr id="19" name="Text 17"/>
          <p:cNvSpPr/>
          <p:nvPr/>
        </p:nvSpPr>
        <p:spPr>
          <a:xfrm>
            <a:off x="812800" y="6238280"/>
            <a:ext cx="36240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WAYTZ, CACIOPPO &amp; EPLEY, 2010</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BUILD BETTER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Measure what chat actually does</a:t>
            </a:r>
            <a:endParaRPr lang="en-US" sz="3600" dirty="0"/>
          </a:p>
        </p:txBody>
      </p:sp>
      <p:sp>
        <p:nvSpPr>
          <p:cNvPr id="4" name="Shape 2"/>
          <p:cNvSpPr/>
          <p:nvPr/>
        </p:nvSpPr>
        <p:spPr>
          <a:xfrm>
            <a:off x="812800" y="2697510"/>
            <a:ext cx="3386634" cy="0"/>
          </a:xfrm>
          <a:prstGeom prst="line">
            <a:avLst/>
          </a:prstGeom>
          <a:noFill/>
          <a:ln w="12700">
            <a:solidFill>
              <a:srgbClr val="B7ADFF"/>
            </a:solidFill>
            <a:prstDash val="solid"/>
          </a:ln>
        </p:spPr>
      </p:sp>
      <p:sp>
        <p:nvSpPr>
          <p:cNvPr id="5" name="Text 3"/>
          <p:cNvSpPr/>
          <p:nvPr/>
        </p:nvSpPr>
        <p:spPr>
          <a:xfrm>
            <a:off x="812800" y="2881660"/>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TASK SUCCESS</a:t>
            </a:r>
            <a:endParaRPr lang="en-US" sz="1200" dirty="0"/>
          </a:p>
        </p:txBody>
      </p:sp>
      <p:sp>
        <p:nvSpPr>
          <p:cNvPr id="6" name="Text 4"/>
          <p:cNvSpPr/>
          <p:nvPr/>
        </p:nvSpPr>
        <p:spPr>
          <a:xfrm>
            <a:off x="812800" y="319658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Did people get what they came for?</a:t>
            </a:r>
            <a:endParaRPr lang="en-US" sz="1600" dirty="0"/>
          </a:p>
        </p:txBody>
      </p:sp>
      <p:sp>
        <p:nvSpPr>
          <p:cNvPr id="7" name="Shape 5"/>
          <p:cNvSpPr/>
          <p:nvPr/>
        </p:nvSpPr>
        <p:spPr>
          <a:xfrm>
            <a:off x="4402634" y="2697510"/>
            <a:ext cx="3386683" cy="0"/>
          </a:xfrm>
          <a:prstGeom prst="line">
            <a:avLst/>
          </a:prstGeom>
          <a:noFill/>
          <a:ln w="12700">
            <a:solidFill>
              <a:srgbClr val="FF6A4D"/>
            </a:solidFill>
            <a:prstDash val="solid"/>
          </a:ln>
        </p:spPr>
      </p:sp>
      <p:sp>
        <p:nvSpPr>
          <p:cNvPr id="8" name="Text 6"/>
          <p:cNvSpPr/>
          <p:nvPr/>
        </p:nvSpPr>
        <p:spPr>
          <a:xfrm>
            <a:off x="4402634" y="288166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REPAIR RATE</a:t>
            </a:r>
            <a:endParaRPr lang="en-US" sz="1200" dirty="0"/>
          </a:p>
        </p:txBody>
      </p:sp>
      <p:sp>
        <p:nvSpPr>
          <p:cNvPr id="9" name="Text 7"/>
          <p:cNvSpPr/>
          <p:nvPr/>
        </p:nvSpPr>
        <p:spPr>
          <a:xfrm>
            <a:off x="4402634" y="3196580"/>
            <a:ext cx="348828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How often does the conversation need fixing?</a:t>
            </a:r>
            <a:endParaRPr lang="en-US" sz="1600" dirty="0"/>
          </a:p>
        </p:txBody>
      </p:sp>
      <p:sp>
        <p:nvSpPr>
          <p:cNvPr id="10" name="Shape 8"/>
          <p:cNvSpPr/>
          <p:nvPr/>
        </p:nvSpPr>
        <p:spPr>
          <a:xfrm>
            <a:off x="7992517" y="2697510"/>
            <a:ext cx="3386683" cy="0"/>
          </a:xfrm>
          <a:prstGeom prst="line">
            <a:avLst/>
          </a:prstGeom>
          <a:noFill/>
          <a:ln w="12700">
            <a:solidFill>
              <a:srgbClr val="E8BD78"/>
            </a:solidFill>
            <a:prstDash val="solid"/>
          </a:ln>
        </p:spPr>
      </p:sp>
      <p:sp>
        <p:nvSpPr>
          <p:cNvPr id="11" name="Text 9"/>
          <p:cNvSpPr/>
          <p:nvPr/>
        </p:nvSpPr>
        <p:spPr>
          <a:xfrm>
            <a:off x="7992517" y="288166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TRUST CALIBRATION</a:t>
            </a:r>
            <a:endParaRPr lang="en-US" sz="1200" dirty="0"/>
          </a:p>
        </p:txBody>
      </p:sp>
      <p:sp>
        <p:nvSpPr>
          <p:cNvPr id="12" name="Text 10"/>
          <p:cNvSpPr/>
          <p:nvPr/>
        </p:nvSpPr>
        <p:spPr>
          <a:xfrm>
            <a:off x="7992517" y="3196580"/>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Do people trust it as much as it deserves, and no more?</a:t>
            </a:r>
            <a:endParaRPr lang="en-US" sz="1600" dirty="0"/>
          </a:p>
        </p:txBody>
      </p:sp>
      <p:sp>
        <p:nvSpPr>
          <p:cNvPr id="13" name="Text 11"/>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Prompts are interaction specs. Version them, review them, test them.</a:t>
            </a:r>
            <a:endParaRPr lang="en-US" sz="2400" dirty="0"/>
          </a:p>
        </p:txBody>
      </p:sp>
      <p:sp>
        <p:nvSpPr>
          <p:cNvPr id="14" name="Text 1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5" name="Text 13"/>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HOW THE CLASSICS CAME BACK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It took a whole cast</a:t>
            </a:r>
            <a:endParaRPr lang="en-US" sz="3600" dirty="0"/>
          </a:p>
        </p:txBody>
      </p:sp>
      <p:sp>
        <p:nvSpPr>
          <p:cNvPr id="4" name="Shape 2"/>
          <p:cNvSpPr/>
          <p:nvPr/>
        </p:nvSpPr>
        <p:spPr>
          <a:xfrm>
            <a:off x="812800" y="1884611"/>
            <a:ext cx="3318917" cy="25400"/>
          </a:xfrm>
          <a:prstGeom prst="rect">
            <a:avLst/>
          </a:prstGeom>
          <a:solidFill>
            <a:srgbClr val="B7ADFF"/>
          </a:solidFill>
          <a:ln/>
        </p:spPr>
      </p:sp>
      <p:sp>
        <p:nvSpPr>
          <p:cNvPr id="5" name="Text 3"/>
          <p:cNvSpPr/>
          <p:nvPr/>
        </p:nvSpPr>
        <p:spPr>
          <a:xfrm>
            <a:off x="812800" y="2037011"/>
            <a:ext cx="5852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ADFF"/>
                </a:solidFill>
                <a:latin typeface="JetBrains Mono" pitchFamily="49" charset="0"/>
                <a:ea typeface="JetBrains Mono" pitchFamily="49" charset="-122"/>
                <a:cs typeface="JetBrains Mono" pitchFamily="49" charset="-120"/>
              </a:rPr>
              <a:t>FIND</a:t>
            </a:r>
            <a:endParaRPr lang="en-US" sz="1600" dirty="0"/>
          </a:p>
        </p:txBody>
      </p:sp>
      <p:sp>
        <p:nvSpPr>
          <p:cNvPr id="6" name="Text 4"/>
          <p:cNvSpPr/>
          <p:nvPr/>
        </p:nvSpPr>
        <p:spPr>
          <a:xfrm>
            <a:off x="1664543" y="2087811"/>
            <a:ext cx="246717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Where is the knowledge?</a:t>
            </a:r>
            <a:endParaRPr lang="en-US" sz="1200" dirty="0"/>
          </a:p>
        </p:txBody>
      </p:sp>
      <p:sp>
        <p:nvSpPr>
          <p:cNvPr id="7" name="Shape 5"/>
          <p:cNvSpPr/>
          <p:nvPr/>
        </p:nvSpPr>
        <p:spPr>
          <a:xfrm>
            <a:off x="812800" y="2400846"/>
            <a:ext cx="3318917" cy="0"/>
          </a:xfrm>
          <a:prstGeom prst="line">
            <a:avLst/>
          </a:prstGeom>
          <a:noFill/>
          <a:ln w="6350">
            <a:solidFill>
              <a:srgbClr val="2A2A28"/>
            </a:solidFill>
            <a:prstDash val="solid"/>
          </a:ln>
        </p:spPr>
      </p:sp>
      <p:sp>
        <p:nvSpPr>
          <p:cNvPr id="8" name="Text 6"/>
          <p:cNvSpPr/>
          <p:nvPr/>
        </p:nvSpPr>
        <p:spPr>
          <a:xfrm>
            <a:off x="812800" y="250562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7ADFF"/>
                </a:solidFill>
                <a:latin typeface="JetBrains Mono" pitchFamily="49" charset="0"/>
                <a:ea typeface="JetBrains Mono" pitchFamily="49" charset="-122"/>
                <a:cs typeface="JetBrains Mono" pitchFamily="49" charset="-120"/>
              </a:rPr>
              <a:t>HUNTERS</a:t>
            </a:r>
            <a:endParaRPr lang="en-US" sz="1200" dirty="0"/>
          </a:p>
        </p:txBody>
      </p:sp>
      <p:sp>
        <p:nvSpPr>
          <p:cNvPr id="9" name="Text 7"/>
          <p:cNvSpPr/>
          <p:nvPr/>
        </p:nvSpPr>
        <p:spPr>
          <a:xfrm>
            <a:off x="812800" y="2769741"/>
            <a:ext cx="3418484"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Poggio Bracciolini searches monastery libraries and recovers Lucretius, Quintilian and Vitruvius (1415–17).</a:t>
            </a:r>
            <a:endParaRPr lang="en-US" sz="1200" dirty="0"/>
          </a:p>
        </p:txBody>
      </p:sp>
      <p:sp>
        <p:nvSpPr>
          <p:cNvPr id="10" name="Shape 8"/>
          <p:cNvSpPr/>
          <p:nvPr/>
        </p:nvSpPr>
        <p:spPr>
          <a:xfrm>
            <a:off x="812800" y="3717677"/>
            <a:ext cx="3318917" cy="0"/>
          </a:xfrm>
          <a:prstGeom prst="line">
            <a:avLst/>
          </a:prstGeom>
          <a:noFill/>
          <a:ln w="6350">
            <a:solidFill>
              <a:srgbClr val="2A2A28"/>
            </a:solidFill>
            <a:prstDash val="solid"/>
          </a:ln>
        </p:spPr>
      </p:sp>
      <p:sp>
        <p:nvSpPr>
          <p:cNvPr id="11" name="Text 9"/>
          <p:cNvSpPr/>
          <p:nvPr/>
        </p:nvSpPr>
        <p:spPr>
          <a:xfrm>
            <a:off x="812800" y="3822452"/>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KEEPERS</a:t>
            </a:r>
            <a:endParaRPr lang="en-US" sz="1200" dirty="0"/>
          </a:p>
        </p:txBody>
      </p:sp>
      <p:sp>
        <p:nvSpPr>
          <p:cNvPr id="12" name="Text 10"/>
          <p:cNvSpPr/>
          <p:nvPr/>
        </p:nvSpPr>
        <p:spPr>
          <a:xfrm>
            <a:off x="812800" y="4086572"/>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Byzantine and Islamic scholars kept the texts alive. Bessarion gives 746 manuscripts to Venice (1468).</a:t>
            </a:r>
            <a:endParaRPr lang="en-US" sz="1200" dirty="0"/>
          </a:p>
        </p:txBody>
      </p:sp>
      <p:sp>
        <p:nvSpPr>
          <p:cNvPr id="13" name="Shape 11"/>
          <p:cNvSpPr/>
          <p:nvPr/>
        </p:nvSpPr>
        <p:spPr>
          <a:xfrm>
            <a:off x="4436517" y="1884611"/>
            <a:ext cx="3318966" cy="25400"/>
          </a:xfrm>
          <a:prstGeom prst="rect">
            <a:avLst/>
          </a:prstGeom>
          <a:solidFill>
            <a:srgbClr val="7FD9C4"/>
          </a:solidFill>
          <a:ln/>
        </p:spPr>
      </p:sp>
      <p:sp>
        <p:nvSpPr>
          <p:cNvPr id="14" name="Text 12"/>
          <p:cNvSpPr/>
          <p:nvPr/>
        </p:nvSpPr>
        <p:spPr>
          <a:xfrm>
            <a:off x="4436517" y="2037011"/>
            <a:ext cx="131677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TRANSLATE</a:t>
            </a:r>
            <a:endParaRPr lang="en-US" sz="1600" dirty="0"/>
          </a:p>
        </p:txBody>
      </p:sp>
      <p:sp>
        <p:nvSpPr>
          <p:cNvPr id="15" name="Text 13"/>
          <p:cNvSpPr/>
          <p:nvPr/>
        </p:nvSpPr>
        <p:spPr>
          <a:xfrm>
            <a:off x="6109563" y="2087811"/>
            <a:ext cx="16459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Can we read it?</a:t>
            </a:r>
            <a:endParaRPr lang="en-US" sz="1200" dirty="0"/>
          </a:p>
        </p:txBody>
      </p:sp>
      <p:sp>
        <p:nvSpPr>
          <p:cNvPr id="16" name="Shape 14"/>
          <p:cNvSpPr/>
          <p:nvPr/>
        </p:nvSpPr>
        <p:spPr>
          <a:xfrm>
            <a:off x="4436517" y="2400846"/>
            <a:ext cx="3318966" cy="0"/>
          </a:xfrm>
          <a:prstGeom prst="line">
            <a:avLst/>
          </a:prstGeom>
          <a:noFill/>
          <a:ln w="6350">
            <a:solidFill>
              <a:srgbClr val="2A2A28"/>
            </a:solidFill>
            <a:prstDash val="solid"/>
          </a:ln>
        </p:spPr>
      </p:sp>
      <p:sp>
        <p:nvSpPr>
          <p:cNvPr id="17" name="Text 15"/>
          <p:cNvSpPr/>
          <p:nvPr/>
        </p:nvSpPr>
        <p:spPr>
          <a:xfrm>
            <a:off x="4436517" y="2505621"/>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TEACHERS</a:t>
            </a:r>
            <a:endParaRPr lang="en-US" sz="1200" dirty="0"/>
          </a:p>
        </p:txBody>
      </p:sp>
      <p:sp>
        <p:nvSpPr>
          <p:cNvPr id="18" name="Text 16"/>
          <p:cNvSpPr/>
          <p:nvPr/>
        </p:nvSpPr>
        <p:spPr>
          <a:xfrm>
            <a:off x="4436517" y="2769741"/>
            <a:ext cx="341853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Manuel Chrysoloras teaches Greek in Florence from 1397, training the first generation of readers.</a:t>
            </a:r>
            <a:endParaRPr lang="en-US" sz="1200" dirty="0"/>
          </a:p>
        </p:txBody>
      </p:sp>
      <p:sp>
        <p:nvSpPr>
          <p:cNvPr id="19" name="Shape 17"/>
          <p:cNvSpPr/>
          <p:nvPr/>
        </p:nvSpPr>
        <p:spPr>
          <a:xfrm>
            <a:off x="4436517" y="3519587"/>
            <a:ext cx="3318966" cy="0"/>
          </a:xfrm>
          <a:prstGeom prst="line">
            <a:avLst/>
          </a:prstGeom>
          <a:noFill/>
          <a:ln w="6350">
            <a:solidFill>
              <a:srgbClr val="2A2A28"/>
            </a:solidFill>
            <a:prstDash val="solid"/>
          </a:ln>
        </p:spPr>
      </p:sp>
      <p:sp>
        <p:nvSpPr>
          <p:cNvPr id="20" name="Text 18"/>
          <p:cNvSpPr/>
          <p:nvPr/>
        </p:nvSpPr>
        <p:spPr>
          <a:xfrm>
            <a:off x="4436517" y="3624362"/>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TRANSLATORS</a:t>
            </a:r>
            <a:endParaRPr lang="en-US" sz="1200" dirty="0"/>
          </a:p>
        </p:txBody>
      </p:sp>
      <p:sp>
        <p:nvSpPr>
          <p:cNvPr id="21" name="Text 19"/>
          <p:cNvSpPr/>
          <p:nvPr/>
        </p:nvSpPr>
        <p:spPr>
          <a:xfrm>
            <a:off x="4436517" y="3888482"/>
            <a:ext cx="341853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Gerard of Cremona renders 87 works from Arabic in Toledo. Ficino puts all of Plato into Latin (1484).</a:t>
            </a:r>
            <a:endParaRPr lang="en-US" sz="1200" dirty="0"/>
          </a:p>
        </p:txBody>
      </p:sp>
      <p:sp>
        <p:nvSpPr>
          <p:cNvPr id="22" name="Shape 20"/>
          <p:cNvSpPr/>
          <p:nvPr/>
        </p:nvSpPr>
        <p:spPr>
          <a:xfrm>
            <a:off x="8060283" y="1884611"/>
            <a:ext cx="3318917" cy="25400"/>
          </a:xfrm>
          <a:prstGeom prst="rect">
            <a:avLst/>
          </a:prstGeom>
          <a:solidFill>
            <a:srgbClr val="8DBAF6"/>
          </a:solidFill>
          <a:ln/>
        </p:spPr>
      </p:sp>
      <p:sp>
        <p:nvSpPr>
          <p:cNvPr id="23" name="Text 21"/>
          <p:cNvSpPr/>
          <p:nvPr/>
        </p:nvSpPr>
        <p:spPr>
          <a:xfrm>
            <a:off x="8060283" y="2037011"/>
            <a:ext cx="73152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8DBAF6"/>
                </a:solidFill>
                <a:latin typeface="JetBrains Mono" pitchFamily="49" charset="0"/>
                <a:ea typeface="JetBrains Mono" pitchFamily="49" charset="-122"/>
                <a:cs typeface="JetBrains Mono" pitchFamily="49" charset="-120"/>
              </a:rPr>
              <a:t>APPLY</a:t>
            </a:r>
            <a:endParaRPr lang="en-US" sz="1600" dirty="0"/>
          </a:p>
        </p:txBody>
      </p:sp>
      <p:sp>
        <p:nvSpPr>
          <p:cNvPr id="24" name="Text 22"/>
          <p:cNvSpPr/>
          <p:nvPr/>
        </p:nvSpPr>
        <p:spPr>
          <a:xfrm>
            <a:off x="8881542" y="2087811"/>
            <a:ext cx="249765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What do we build with it?</a:t>
            </a:r>
            <a:endParaRPr lang="en-US" sz="1200" dirty="0"/>
          </a:p>
        </p:txBody>
      </p:sp>
      <p:sp>
        <p:nvSpPr>
          <p:cNvPr id="25" name="Shape 23"/>
          <p:cNvSpPr/>
          <p:nvPr/>
        </p:nvSpPr>
        <p:spPr>
          <a:xfrm>
            <a:off x="8060283" y="2400846"/>
            <a:ext cx="3318917" cy="0"/>
          </a:xfrm>
          <a:prstGeom prst="line">
            <a:avLst/>
          </a:prstGeom>
          <a:noFill/>
          <a:ln w="6350">
            <a:solidFill>
              <a:srgbClr val="2A2A28"/>
            </a:solidFill>
            <a:prstDash val="solid"/>
          </a:ln>
        </p:spPr>
      </p:sp>
      <p:sp>
        <p:nvSpPr>
          <p:cNvPr id="26" name="Text 24"/>
          <p:cNvSpPr/>
          <p:nvPr/>
        </p:nvSpPr>
        <p:spPr>
          <a:xfrm>
            <a:off x="8060283" y="250562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6A4D"/>
                </a:solidFill>
                <a:latin typeface="JetBrains Mono" pitchFamily="49" charset="0"/>
                <a:ea typeface="JetBrains Mono" pitchFamily="49" charset="-122"/>
                <a:cs typeface="JetBrains Mono" pitchFamily="49" charset="-120"/>
              </a:rPr>
              <a:t>PATRONS</a:t>
            </a:r>
            <a:endParaRPr lang="en-US" sz="1200" dirty="0"/>
          </a:p>
        </p:txBody>
      </p:sp>
      <p:sp>
        <p:nvSpPr>
          <p:cNvPr id="27" name="Text 25"/>
          <p:cNvSpPr/>
          <p:nvPr/>
        </p:nvSpPr>
        <p:spPr>
          <a:xfrm>
            <a:off x="8060283" y="2769741"/>
            <a:ext cx="341848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Cosimo de’ Medici funds Ficino’s Plato.</a:t>
            </a:r>
            <a:endParaRPr lang="en-US" sz="1200" dirty="0"/>
          </a:p>
        </p:txBody>
      </p:sp>
      <p:sp>
        <p:nvSpPr>
          <p:cNvPr id="28" name="Shape 26"/>
          <p:cNvSpPr/>
          <p:nvPr/>
        </p:nvSpPr>
        <p:spPr>
          <a:xfrm>
            <a:off x="8060283" y="3321496"/>
            <a:ext cx="3318917" cy="0"/>
          </a:xfrm>
          <a:prstGeom prst="line">
            <a:avLst/>
          </a:prstGeom>
          <a:noFill/>
          <a:ln w="6350">
            <a:solidFill>
              <a:srgbClr val="2A2A28"/>
            </a:solidFill>
            <a:prstDash val="solid"/>
          </a:ln>
        </p:spPr>
      </p:sp>
      <p:sp>
        <p:nvSpPr>
          <p:cNvPr id="29" name="Text 27"/>
          <p:cNvSpPr/>
          <p:nvPr/>
        </p:nvSpPr>
        <p:spPr>
          <a:xfrm>
            <a:off x="8060283" y="342627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PRINTERS</a:t>
            </a:r>
            <a:endParaRPr lang="en-US" sz="1200" dirty="0"/>
          </a:p>
        </p:txBody>
      </p:sp>
      <p:sp>
        <p:nvSpPr>
          <p:cNvPr id="30" name="Text 28"/>
          <p:cNvSpPr/>
          <p:nvPr/>
        </p:nvSpPr>
        <p:spPr>
          <a:xfrm>
            <a:off x="8060283" y="3690392"/>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Aldus Manutius prints 30 first editions of Greek texts, in pocket-size books (from 1494).</a:t>
            </a:r>
            <a:endParaRPr lang="en-US" sz="1200" dirty="0"/>
          </a:p>
        </p:txBody>
      </p:sp>
      <p:sp>
        <p:nvSpPr>
          <p:cNvPr id="31" name="Shape 29"/>
          <p:cNvSpPr/>
          <p:nvPr/>
        </p:nvSpPr>
        <p:spPr>
          <a:xfrm>
            <a:off x="8060283" y="4440238"/>
            <a:ext cx="3318917" cy="0"/>
          </a:xfrm>
          <a:prstGeom prst="line">
            <a:avLst/>
          </a:prstGeom>
          <a:noFill/>
          <a:ln w="6350">
            <a:solidFill>
              <a:srgbClr val="2A2A28"/>
            </a:solidFill>
            <a:prstDash val="solid"/>
          </a:ln>
        </p:spPr>
      </p:sp>
      <p:sp>
        <p:nvSpPr>
          <p:cNvPr id="32" name="Text 30"/>
          <p:cNvSpPr/>
          <p:nvPr/>
        </p:nvSpPr>
        <p:spPr>
          <a:xfrm>
            <a:off x="8060283" y="4545013"/>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DBAF6"/>
                </a:solidFill>
                <a:latin typeface="JetBrains Mono" pitchFamily="49" charset="0"/>
                <a:ea typeface="JetBrains Mono" pitchFamily="49" charset="-122"/>
                <a:cs typeface="JetBrains Mono" pitchFamily="49" charset="-120"/>
              </a:rPr>
              <a:t>PRACTITIONERS</a:t>
            </a:r>
            <a:endParaRPr lang="en-US" sz="1200" dirty="0"/>
          </a:p>
        </p:txBody>
      </p:sp>
      <p:sp>
        <p:nvSpPr>
          <p:cNvPr id="33" name="Text 31"/>
          <p:cNvSpPr/>
          <p:nvPr/>
        </p:nvSpPr>
        <p:spPr>
          <a:xfrm>
            <a:off x="8060283" y="4809133"/>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Alberti turns Vitruvius and Roman ruins into the first Renaissance treatise on architecture (1452).</a:t>
            </a:r>
            <a:endParaRPr lang="en-US" sz="1200" dirty="0"/>
          </a:p>
        </p:txBody>
      </p:sp>
      <p:sp>
        <p:nvSpPr>
          <p:cNvPr id="34" name="Text 32"/>
          <p:cNvSpPr/>
          <p:nvPr/>
        </p:nvSpPr>
        <p:spPr>
          <a:xfrm>
            <a:off x="812800" y="6238280"/>
            <a:ext cx="300001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FIND → TRANSLATE → APPLY</a:t>
            </a:r>
            <a:endParaRPr lang="en-US" sz="1200" dirty="0"/>
          </a:p>
        </p:txBody>
      </p:sp>
      <p:sp>
        <p:nvSpPr>
          <p:cNvPr id="35" name="Text 33"/>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HOW TO BUILD A MODEL</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COLLECT DATA</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CREATE MODEL</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DEPLOY MODEL</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8DBAF6"/>
                </a:solidFill>
                <a:latin typeface="JetBrains Mono" pitchFamily="49" charset="0"/>
                <a:ea typeface="JetBrains Mono" pitchFamily="49" charset="-122"/>
                <a:cs typeface="JetBrains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FE07E"/>
                </a:solidFill>
                <a:latin typeface="JetBrains Mono" pitchFamily="49" charset="0"/>
                <a:ea typeface="JetBrains Mono" pitchFamily="49" charset="-122"/>
                <a:cs typeface="JetBrains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TEST</a:t>
            </a:r>
            <a:endParaRPr lang="en-US" sz="1700" dirty="0"/>
          </a:p>
        </p:txBody>
      </p:sp>
      <p:sp>
        <p:nvSpPr>
          <p:cNvPr id="27" name="Text 16"/>
          <p:cNvSpPr/>
          <p:nvPr/>
        </p:nvSpPr>
        <p:spPr>
          <a:xfrm>
            <a:off x="812800" y="4572000"/>
            <a:ext cx="10883392" cy="279400"/>
          </a:xfrm>
          <a:prstGeom prst="rect">
            <a:avLst/>
          </a:prstGeom>
          <a:noFill/>
          <a:ln/>
        </p:spPr>
        <p:txBody>
          <a:bodyPr wrap="none" lIns="0" tIns="0" rIns="0" bIns="0" rtlCol="0" anchor="t">
            <a:normAutofit/>
          </a:bodyPr>
          <a:lstStyle/>
          <a:p>
            <a:pPr algn="l" indent="0" marL="0">
              <a:lnSpc>
                <a:spcPts val="2000"/>
              </a:lnSpc>
              <a:buNone/>
            </a:pPr>
            <a:r>
              <a:rPr lang="en-US" sz="1600" i="1" dirty="0">
                <a:solidFill>
                  <a:srgbClr val="F2F1EC"/>
                </a:solidFill>
                <a:latin typeface="JetBrains Mono" pitchFamily="49" charset="0"/>
                <a:ea typeface="JetBrains Mono" pitchFamily="49" charset="-122"/>
                <a:cs typeface="JetBrains Mono" pitchFamily="49" charset="-120"/>
              </a:rPr>
              <a:t>Building an AI model follows the same broad process as creating human knowledge.</a:t>
            </a:r>
            <a:endParaRPr lang="en-US" sz="1600" dirty="0"/>
          </a:p>
        </p:txBody>
      </p:sp>
      <p:sp>
        <p:nvSpPr>
          <p:cNvPr id="28"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9"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TURN TO A NEIGHBOUR · 2 MIN</a:t>
            </a:r>
            <a:endParaRPr lang="en-US" sz="1200" dirty="0"/>
          </a:p>
        </p:txBody>
      </p:sp>
      <p:sp>
        <p:nvSpPr>
          <p:cNvPr id="3" name="Text 1"/>
          <p:cNvSpPr/>
          <p:nvPr>
            <p:ph type="title"/>
          </p:nvPr>
        </p:nvSpPr>
        <p:spPr>
          <a:xfrm>
            <a:off x="812800" y="268734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F2F1EC"/>
                </a:solidFill>
                <a:latin typeface="JetBrains Mono" pitchFamily="49" charset="0"/>
                <a:ea typeface="JetBrains Mono" pitchFamily="49" charset="-122"/>
                <a:cs typeface="JetBrains Mono" pitchFamily="49" charset="-120"/>
              </a:rPr>
              <a:t>What part of your craft would you refuse to hand off?</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TAP INTO OTHER SCIENCES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answer is not more AI</a:t>
            </a:r>
            <a:endParaRPr lang="en-US" sz="3600" dirty="0"/>
          </a:p>
        </p:txBody>
      </p:sp>
      <p:sp>
        <p:nvSpPr>
          <p:cNvPr id="4" name="Text 2"/>
          <p:cNvSpPr/>
          <p:nvPr/>
        </p:nvSpPr>
        <p:spPr>
          <a:xfrm>
            <a:off x="1066800" y="2085280"/>
            <a:ext cx="300863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8A8985"/>
                </a:solidFill>
                <a:latin typeface="JetBrains Mono" pitchFamily="49" charset="0"/>
                <a:ea typeface="JetBrains Mono" pitchFamily="49" charset="-122"/>
                <a:cs typeface="JetBrains Mono" pitchFamily="49" charset="-120"/>
              </a:rPr>
              <a:t>↑ HUMAN CONTROL</a:t>
            </a:r>
            <a:endParaRPr lang="en-US" sz="1200" dirty="0"/>
          </a:p>
        </p:txBody>
      </p:sp>
      <p:sp>
        <p:nvSpPr>
          <p:cNvPr id="5" name="Text 3"/>
          <p:cNvSpPr/>
          <p:nvPr/>
        </p:nvSpPr>
        <p:spPr>
          <a:xfrm>
            <a:off x="979170" y="5425380"/>
            <a:ext cx="3008630" cy="223490"/>
          </a:xfrm>
          <a:prstGeom prst="rect">
            <a:avLst/>
          </a:prstGeom>
          <a:noFill/>
          <a:ln/>
        </p:spPr>
        <p:txBody>
          <a:bodyPr wrap="square" lIns="0" tIns="0" rIns="0" bIns="0" rtlCol="0" anchor="t">
            <a:normAutofit/>
          </a:bodyPr>
          <a:lstStyle/>
          <a:p>
            <a:pPr algn="r" indent="0" marL="0">
              <a:lnSpc>
                <a:spcPts val="1560"/>
              </a:lnSpc>
              <a:buNone/>
            </a:pPr>
            <a:r>
              <a:rPr lang="en-US" sz="1200" spc="150" kern="0" dirty="0">
                <a:solidFill>
                  <a:srgbClr val="8A8985"/>
                </a:solidFill>
                <a:latin typeface="JetBrains Mono" pitchFamily="49" charset="0"/>
                <a:ea typeface="JetBrains Mono" pitchFamily="49" charset="-122"/>
                <a:cs typeface="JetBrains Mono" pitchFamily="49" charset="-120"/>
              </a:rPr>
              <a:t>COMPUTER AUTOMATION →</a:t>
            </a:r>
            <a:endParaRPr lang="en-US" sz="1200" dirty="0"/>
          </a:p>
        </p:txBody>
      </p:sp>
      <p:pic>
        <p:nvPicPr>
          <p:cNvPr id="6" name="Image 0" descr="rect">    </p:cNvPr>
          <p:cNvPicPr>
            <a:picLocks noChangeAspect="1"/>
          </p:cNvPicPr>
          <p:nvPr/>
        </p:nvPicPr>
        <p:blipFill>
          <a:blip r:embed="rId1"/>
          <a:srcRect l="0" r="0" t="0" b="0"/>
          <a:stretch/>
        </p:blipFill>
        <p:spPr>
          <a:xfrm>
            <a:off x="1066800" y="2402780"/>
            <a:ext cx="1460500" cy="1460500"/>
          </a:xfrm>
          <a:prstGeom prst="rect">
            <a:avLst/>
          </a:prstGeom>
        </p:spPr>
      </p:pic>
      <p:sp>
        <p:nvSpPr>
          <p:cNvPr id="7" name="Text 4"/>
          <p:cNvSpPr/>
          <p:nvPr/>
        </p:nvSpPr>
        <p:spPr>
          <a:xfrm>
            <a:off x="1219200" y="2555180"/>
            <a:ext cx="1206500"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8A8985"/>
                </a:solidFill>
                <a:latin typeface="JetBrains Mono" pitchFamily="49" charset="0"/>
                <a:ea typeface="JetBrains Mono" pitchFamily="49" charset="-122"/>
                <a:cs typeface="JetBrains Mono" pitchFamily="49" charset="-120"/>
              </a:rPr>
              <a:t>Too much human control</a:t>
            </a:r>
            <a:endParaRPr lang="en-US" sz="1300" dirty="0"/>
          </a:p>
        </p:txBody>
      </p:sp>
      <p:pic>
        <p:nvPicPr>
          <p:cNvPr id="8" name="Image 1" descr="rect">    </p:cNvPr>
          <p:cNvPicPr>
            <a:picLocks noChangeAspect="1"/>
          </p:cNvPicPr>
          <p:nvPr/>
        </p:nvPicPr>
        <p:blipFill>
          <a:blip r:embed="rId2"/>
          <a:srcRect l="0" r="0" t="0" b="0"/>
          <a:stretch/>
        </p:blipFill>
        <p:spPr>
          <a:xfrm>
            <a:off x="2527300" y="2402780"/>
            <a:ext cx="1460500" cy="1460500"/>
          </a:xfrm>
          <a:prstGeom prst="rect">
            <a:avLst/>
          </a:prstGeom>
        </p:spPr>
      </p:pic>
      <p:sp>
        <p:nvSpPr>
          <p:cNvPr id="9" name="Text 5"/>
          <p:cNvSpPr/>
          <p:nvPr/>
        </p:nvSpPr>
        <p:spPr>
          <a:xfrm>
            <a:off x="2679700" y="2555180"/>
            <a:ext cx="1206500"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B0A"/>
                </a:solidFill>
                <a:latin typeface="JetBrains Mono" pitchFamily="49" charset="0"/>
                <a:ea typeface="JetBrains Mono" pitchFamily="49" charset="-122"/>
                <a:cs typeface="JetBrains Mono" pitchFamily="49" charset="-120"/>
              </a:rPr>
              <a:t>Reliable, safe, trustworthy</a:t>
            </a:r>
            <a:endParaRPr lang="en-US" sz="1300" dirty="0"/>
          </a:p>
        </p:txBody>
      </p:sp>
      <p:pic>
        <p:nvPicPr>
          <p:cNvPr id="10" name="Image 2" descr="rect">    </p:cNvPr>
          <p:cNvPicPr>
            <a:picLocks noChangeAspect="1"/>
          </p:cNvPicPr>
          <p:nvPr/>
        </p:nvPicPr>
        <p:blipFill>
          <a:blip r:embed="rId3"/>
          <a:srcRect l="0" r="0" t="0" b="0"/>
          <a:stretch/>
        </p:blipFill>
        <p:spPr>
          <a:xfrm>
            <a:off x="1066800" y="3863280"/>
            <a:ext cx="1460500" cy="1460500"/>
          </a:xfrm>
          <a:prstGeom prst="rect">
            <a:avLst/>
          </a:prstGeom>
        </p:spPr>
      </p:pic>
      <p:sp>
        <p:nvSpPr>
          <p:cNvPr id="11" name="Text 6"/>
          <p:cNvSpPr/>
          <p:nvPr/>
        </p:nvSpPr>
        <p:spPr>
          <a:xfrm>
            <a:off x="1219200" y="4015680"/>
            <a:ext cx="12065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5544F"/>
                </a:solidFill>
                <a:latin typeface="JetBrains Mono" pitchFamily="49" charset="0"/>
                <a:ea typeface="JetBrains Mono" pitchFamily="49" charset="-122"/>
                <a:cs typeface="JetBrains Mono" pitchFamily="49" charset="-120"/>
              </a:rPr>
              <a:t>Low on both</a:t>
            </a:r>
            <a:endParaRPr lang="en-US" sz="1300" dirty="0"/>
          </a:p>
        </p:txBody>
      </p:sp>
      <p:pic>
        <p:nvPicPr>
          <p:cNvPr id="12" name="Image 3" descr="rect">    </p:cNvPr>
          <p:cNvPicPr>
            <a:picLocks noChangeAspect="1"/>
          </p:cNvPicPr>
          <p:nvPr/>
        </p:nvPicPr>
        <p:blipFill>
          <a:blip r:embed="rId4"/>
          <a:srcRect l="0" r="0" t="0" b="0"/>
          <a:stretch/>
        </p:blipFill>
        <p:spPr>
          <a:xfrm>
            <a:off x="2527300" y="3863280"/>
            <a:ext cx="1460500" cy="1460500"/>
          </a:xfrm>
          <a:prstGeom prst="rect">
            <a:avLst/>
          </a:prstGeom>
        </p:spPr>
      </p:pic>
      <p:sp>
        <p:nvSpPr>
          <p:cNvPr id="13" name="Text 7"/>
          <p:cNvSpPr/>
          <p:nvPr/>
        </p:nvSpPr>
        <p:spPr>
          <a:xfrm>
            <a:off x="2679700" y="4015680"/>
            <a:ext cx="120650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6A4D"/>
                </a:solidFill>
                <a:latin typeface="JetBrains Mono" pitchFamily="49" charset="0"/>
                <a:ea typeface="JetBrains Mono" pitchFamily="49" charset="-122"/>
                <a:cs typeface="JetBrains Mono" pitchFamily="49" charset="-120"/>
              </a:rPr>
              <a:t>Too much automation</a:t>
            </a:r>
            <a:endParaRPr lang="en-US" sz="1300" dirty="0"/>
          </a:p>
        </p:txBody>
      </p:sp>
      <p:sp>
        <p:nvSpPr>
          <p:cNvPr id="14" name="Shape 8"/>
          <p:cNvSpPr/>
          <p:nvPr/>
        </p:nvSpPr>
        <p:spPr>
          <a:xfrm>
            <a:off x="4876800" y="2516535"/>
            <a:ext cx="6502400" cy="0"/>
          </a:xfrm>
          <a:prstGeom prst="line">
            <a:avLst/>
          </a:prstGeom>
          <a:noFill/>
          <a:ln w="6350">
            <a:solidFill>
              <a:srgbClr val="2A2A28"/>
            </a:solidFill>
            <a:prstDash val="solid"/>
          </a:ln>
        </p:spPr>
      </p:sp>
      <p:sp>
        <p:nvSpPr>
          <p:cNvPr id="15" name="Text 9"/>
          <p:cNvSpPr/>
          <p:nvPr/>
        </p:nvSpPr>
        <p:spPr>
          <a:xfrm>
            <a:off x="4876800" y="2672110"/>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SHNEIDERMAN, 2022</a:t>
            </a:r>
            <a:endParaRPr lang="en-US" sz="1200" dirty="0"/>
          </a:p>
        </p:txBody>
      </p:sp>
      <p:sp>
        <p:nvSpPr>
          <p:cNvPr id="16" name="Text 10"/>
          <p:cNvSpPr/>
          <p:nvPr/>
        </p:nvSpPr>
        <p:spPr>
          <a:xfrm>
            <a:off x="4876800" y="2961630"/>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High automation </a:t>
            </a:r>
            <a:r>
              <a:rPr lang="en-US" sz="1800" i="1" dirty="0">
                <a:solidFill>
                  <a:srgbClr val="F2F1EC"/>
                </a:solidFill>
                <a:latin typeface="JetBrains Mono" pitchFamily="49" charset="0"/>
                <a:ea typeface="JetBrains Mono" pitchFamily="49" charset="-122"/>
                <a:cs typeface="JetBrains Mono" pitchFamily="49" charset="-120"/>
              </a:rPr>
              <a:t>and</a:t>
            </a:r>
            <a:r>
              <a:rPr lang="en-US" sz="1800" dirty="0">
                <a:solidFill>
                  <a:srgbClr val="F2F1EC"/>
                </a:solidFill>
                <a:latin typeface="JetBrains Mono" pitchFamily="49" charset="0"/>
                <a:ea typeface="JetBrains Mono" pitchFamily="49" charset="-122"/>
                <a:cs typeface="JetBrains Mono" pitchFamily="49" charset="-120"/>
              </a:rPr>
              <a:t> high human control.</a:t>
            </a:r>
            <a:endParaRPr lang="en-US" sz="1800" dirty="0"/>
          </a:p>
        </p:txBody>
      </p:sp>
      <p:sp>
        <p:nvSpPr>
          <p:cNvPr id="17" name="Shape 11"/>
          <p:cNvSpPr/>
          <p:nvPr/>
        </p:nvSpPr>
        <p:spPr>
          <a:xfrm>
            <a:off x="4876800" y="3414365"/>
            <a:ext cx="6502400" cy="0"/>
          </a:xfrm>
          <a:prstGeom prst="line">
            <a:avLst/>
          </a:prstGeom>
          <a:noFill/>
          <a:ln w="6350">
            <a:solidFill>
              <a:srgbClr val="2A2A28"/>
            </a:solidFill>
            <a:prstDash val="solid"/>
          </a:ln>
        </p:spPr>
      </p:sp>
      <p:sp>
        <p:nvSpPr>
          <p:cNvPr id="18" name="Text 12"/>
          <p:cNvSpPr/>
          <p:nvPr/>
        </p:nvSpPr>
        <p:spPr>
          <a:xfrm>
            <a:off x="4876800" y="3569940"/>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GABRIEL, 2020</a:t>
            </a:r>
            <a:endParaRPr lang="en-US" sz="1200" dirty="0"/>
          </a:p>
        </p:txBody>
      </p:sp>
      <p:sp>
        <p:nvSpPr>
          <p:cNvPr id="19" name="Text 13"/>
          <p:cNvSpPr/>
          <p:nvPr/>
        </p:nvSpPr>
        <p:spPr>
          <a:xfrm>
            <a:off x="4876800" y="3859461"/>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Alignment is normative, not only technical.</a:t>
            </a:r>
            <a:endParaRPr lang="en-US" sz="1800" dirty="0"/>
          </a:p>
        </p:txBody>
      </p:sp>
      <p:sp>
        <p:nvSpPr>
          <p:cNvPr id="20" name="Shape 14"/>
          <p:cNvSpPr/>
          <p:nvPr/>
        </p:nvSpPr>
        <p:spPr>
          <a:xfrm>
            <a:off x="4876800" y="4312196"/>
            <a:ext cx="6502400" cy="0"/>
          </a:xfrm>
          <a:prstGeom prst="line">
            <a:avLst/>
          </a:prstGeom>
          <a:noFill/>
          <a:ln w="6350">
            <a:solidFill>
              <a:srgbClr val="2A2A28"/>
            </a:solidFill>
            <a:prstDash val="solid"/>
          </a:ln>
        </p:spPr>
      </p:sp>
      <p:sp>
        <p:nvSpPr>
          <p:cNvPr id="21" name="Shape 15"/>
          <p:cNvSpPr/>
          <p:nvPr/>
        </p:nvSpPr>
        <p:spPr>
          <a:xfrm>
            <a:off x="4876800" y="5210026"/>
            <a:ext cx="6502400" cy="0"/>
          </a:xfrm>
          <a:prstGeom prst="line">
            <a:avLst/>
          </a:prstGeom>
          <a:noFill/>
          <a:ln w="6350">
            <a:solidFill>
              <a:srgbClr val="2A2A28"/>
            </a:solidFill>
            <a:prstDash val="solid"/>
          </a:ln>
        </p:spPr>
      </p:sp>
      <p:sp>
        <p:nvSpPr>
          <p:cNvPr id="22" name="Text 16"/>
          <p:cNvSpPr/>
          <p:nvPr/>
        </p:nvSpPr>
        <p:spPr>
          <a:xfrm>
            <a:off x="4876800" y="4467771"/>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GAP</a:t>
            </a:r>
            <a:endParaRPr lang="en-US" sz="1200" dirty="0"/>
          </a:p>
        </p:txBody>
      </p:sp>
      <p:sp>
        <p:nvSpPr>
          <p:cNvPr id="23" name="Text 17"/>
          <p:cNvSpPr/>
          <p:nvPr/>
        </p:nvSpPr>
        <p:spPr>
          <a:xfrm>
            <a:off x="4876800" y="4757291"/>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We don't share a language yet.</a:t>
            </a:r>
            <a:endParaRPr lang="en-US" sz="1800" dirty="0"/>
          </a:p>
        </p:txBody>
      </p:sp>
      <p:sp>
        <p:nvSpPr>
          <p:cNvPr id="24" name="Text 18"/>
          <p:cNvSpPr/>
          <p:nvPr/>
        </p:nvSpPr>
        <p:spPr>
          <a:xfrm>
            <a:off x="812800" y="6238280"/>
            <a:ext cx="48737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SHNEIDERMAN, 2020, 2022 · GABRIEL, 2020</a:t>
            </a:r>
            <a:endParaRPr lang="en-US" sz="1200" dirty="0"/>
          </a:p>
        </p:txBody>
      </p:sp>
      <p:sp>
        <p:nvSpPr>
          <p:cNvPr id="25" name="Text 19"/>
          <p:cNvSpPr/>
          <p:nvPr/>
        </p:nvSpPr>
        <p:spPr>
          <a:xfrm>
            <a:off x="9504680" y="6238280"/>
            <a:ext cx="187452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MOVED TO TALK 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THE UX KNOWLEDGE PROBLEM</a:t>
            </a:r>
            <a:endParaRPr lang="en-US" sz="1200" dirty="0"/>
          </a:p>
        </p:txBody>
      </p:sp>
      <p:sp>
        <p:nvSpPr>
          <p:cNvPr id="3" name="Text 1"/>
          <p:cNvSpPr/>
          <p:nvPr/>
        </p:nvSpPr>
        <p:spPr>
          <a:xfrm>
            <a:off x="812800" y="29845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spc="-50" kern="0" dirty="0">
                <a:solidFill>
                  <a:srgbClr val="8A8985"/>
                </a:solidFill>
                <a:latin typeface="JetBrains Mono" pitchFamily="49" charset="0"/>
                <a:ea typeface="JetBrains Mono" pitchFamily="49" charset="-122"/>
                <a:cs typeface="JetBrains Mono" pitchFamily="49" charset="-120"/>
              </a:rPr>
              <a:t>UX inherited HCI's methods.</a:t>
            </a:r>
            <a:endParaRPr lang="en-US" sz="3600" dirty="0"/>
          </a:p>
        </p:txBody>
      </p:sp>
      <p:sp>
        <p:nvSpPr>
          <p:cNvPr id="4" name="Text 2"/>
          <p:cNvSpPr/>
          <p:nvPr/>
        </p:nvSpPr>
        <p:spPr>
          <a:xfrm>
            <a:off x="812800" y="366266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spc="-50" kern="0" dirty="0">
                <a:solidFill>
                  <a:srgbClr val="F2F1EC"/>
                </a:solidFill>
                <a:latin typeface="JetBrains Mono" pitchFamily="49" charset="0"/>
                <a:ea typeface="JetBrains Mono" pitchFamily="49" charset="-122"/>
                <a:cs typeface="JetBrains Mono" pitchFamily="49" charset="-120"/>
              </a:rPr>
              <a:t>Not how to make new knowledge.</a:t>
            </a:r>
            <a:endParaRPr lang="en-US" sz="3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THE DESIGN RESEARCH CYCLE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Close the loop</a:t>
            </a:r>
            <a:endParaRPr lang="en-US" sz="3600" dirty="0"/>
          </a:p>
        </p:txBody>
      </p:sp>
      <p:pic>
        <p:nvPicPr>
          <p:cNvPr id="4" name="Image 0" descr="rect">    </p:cNvPr>
          <p:cNvPicPr>
            <a:picLocks noChangeAspect="1"/>
          </p:cNvPicPr>
          <p:nvPr/>
        </p:nvPicPr>
        <p:blipFill>
          <a:blip r:embed="rId1"/>
          <a:srcRect l="0" r="0" t="0" b="0"/>
          <a:stretch/>
        </p:blipFill>
        <p:spPr>
          <a:xfrm>
            <a:off x="812800" y="2857500"/>
            <a:ext cx="1657350" cy="25400"/>
          </a:xfrm>
          <a:prstGeom prst="rect">
            <a:avLst/>
          </a:prstGeom>
        </p:spPr>
      </p:pic>
      <p:sp>
        <p:nvSpPr>
          <p:cNvPr id="5" name="Text 2"/>
          <p:cNvSpPr/>
          <p:nvPr/>
        </p:nvSpPr>
        <p:spPr>
          <a:xfrm>
            <a:off x="81280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4D"/>
                </a:solidFill>
                <a:latin typeface="JetBrains Mono" pitchFamily="49" charset="0"/>
                <a:ea typeface="JetBrains Mono" pitchFamily="49" charset="-122"/>
                <a:cs typeface="JetBrains Mono" pitchFamily="49" charset="-120"/>
              </a:rPr>
              <a:t>01</a:t>
            </a:r>
            <a:endParaRPr lang="en-US" sz="1200" dirty="0"/>
          </a:p>
        </p:txBody>
      </p:sp>
      <p:sp>
        <p:nvSpPr>
          <p:cNvPr id="6" name="Text 3"/>
          <p:cNvSpPr/>
          <p:nvPr/>
        </p:nvSpPr>
        <p:spPr>
          <a:xfrm>
            <a:off x="81280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OBSERVE</a:t>
            </a:r>
            <a:endParaRPr lang="en-US" sz="1600" dirty="0"/>
          </a:p>
        </p:txBody>
      </p:sp>
      <p:sp>
        <p:nvSpPr>
          <p:cNvPr id="7" name="Text 4"/>
          <p:cNvSpPr/>
          <p:nvPr/>
        </p:nvSpPr>
        <p:spPr>
          <a:xfrm>
            <a:off x="81280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Notice something in the world</a:t>
            </a:r>
            <a:endParaRPr lang="en-US" sz="1300" dirty="0"/>
          </a:p>
        </p:txBody>
      </p:sp>
      <p:pic>
        <p:nvPicPr>
          <p:cNvPr id="8" name="Image 1" descr="rect">    </p:cNvPr>
          <p:cNvPicPr>
            <a:picLocks noChangeAspect="1"/>
          </p:cNvPicPr>
          <p:nvPr/>
        </p:nvPicPr>
        <p:blipFill>
          <a:blip r:embed="rId2"/>
          <a:srcRect l="0" r="0" t="0" b="0"/>
          <a:stretch/>
        </p:blipFill>
        <p:spPr>
          <a:xfrm>
            <a:off x="2571750" y="2857500"/>
            <a:ext cx="1657350" cy="25400"/>
          </a:xfrm>
          <a:prstGeom prst="rect">
            <a:avLst/>
          </a:prstGeom>
        </p:spPr>
      </p:pic>
      <p:sp>
        <p:nvSpPr>
          <p:cNvPr id="9" name="Text 5"/>
          <p:cNvSpPr/>
          <p:nvPr/>
        </p:nvSpPr>
        <p:spPr>
          <a:xfrm>
            <a:off x="25717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0" name="Text 6"/>
          <p:cNvSpPr/>
          <p:nvPr/>
        </p:nvSpPr>
        <p:spPr>
          <a:xfrm>
            <a:off x="25717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STRUCTURE</a:t>
            </a:r>
            <a:endParaRPr lang="en-US" sz="1600" dirty="0"/>
          </a:p>
        </p:txBody>
      </p:sp>
      <p:sp>
        <p:nvSpPr>
          <p:cNvPr id="11" name="Text 7"/>
          <p:cNvSpPr/>
          <p:nvPr/>
        </p:nvSpPr>
        <p:spPr>
          <a:xfrm>
            <a:off x="25717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Check the literature and the lineage</a:t>
            </a:r>
            <a:endParaRPr lang="en-US" sz="1300" dirty="0"/>
          </a:p>
        </p:txBody>
      </p:sp>
      <p:pic>
        <p:nvPicPr>
          <p:cNvPr id="12" name="Image 2" descr="rect">    </p:cNvPr>
          <p:cNvPicPr>
            <a:picLocks noChangeAspect="1"/>
          </p:cNvPicPr>
          <p:nvPr/>
        </p:nvPicPr>
        <p:blipFill>
          <a:blip r:embed="rId3"/>
          <a:srcRect l="0" r="0" t="0" b="0"/>
          <a:stretch/>
        </p:blipFill>
        <p:spPr>
          <a:xfrm>
            <a:off x="4337050" y="2857500"/>
            <a:ext cx="1657350" cy="25400"/>
          </a:xfrm>
          <a:prstGeom prst="rect">
            <a:avLst/>
          </a:prstGeom>
        </p:spPr>
      </p:pic>
      <p:sp>
        <p:nvSpPr>
          <p:cNvPr id="13" name="Text 8"/>
          <p:cNvSpPr/>
          <p:nvPr/>
        </p:nvSpPr>
        <p:spPr>
          <a:xfrm>
            <a:off x="43370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4" name="Text 9"/>
          <p:cNvSpPr/>
          <p:nvPr/>
        </p:nvSpPr>
        <p:spPr>
          <a:xfrm>
            <a:off x="43370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ABSTRACTION</a:t>
            </a:r>
            <a:endParaRPr lang="en-US" sz="1600" dirty="0"/>
          </a:p>
        </p:txBody>
      </p:sp>
      <p:sp>
        <p:nvSpPr>
          <p:cNvPr id="15" name="Text 10"/>
          <p:cNvSpPr/>
          <p:nvPr/>
        </p:nvSpPr>
        <p:spPr>
          <a:xfrm>
            <a:off x="4337050" y="3594100"/>
            <a:ext cx="158115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Find precedents and patterns</a:t>
            </a:r>
            <a:endParaRPr lang="en-US" sz="1300" dirty="0"/>
          </a:p>
        </p:txBody>
      </p:sp>
      <p:pic>
        <p:nvPicPr>
          <p:cNvPr id="16" name="Image 3" descr="rect">    </p:cNvPr>
          <p:cNvPicPr>
            <a:picLocks noChangeAspect="1"/>
          </p:cNvPicPr>
          <p:nvPr/>
        </p:nvPicPr>
        <p:blipFill>
          <a:blip r:embed="rId4"/>
          <a:srcRect l="0" r="0" t="0" b="0"/>
          <a:stretch/>
        </p:blipFill>
        <p:spPr>
          <a:xfrm>
            <a:off x="6096000" y="2857500"/>
            <a:ext cx="1657350" cy="25400"/>
          </a:xfrm>
          <a:prstGeom prst="rect">
            <a:avLst/>
          </a:prstGeom>
        </p:spPr>
      </p:pic>
      <p:sp>
        <p:nvSpPr>
          <p:cNvPr id="17" name="Text 11"/>
          <p:cNvSpPr/>
          <p:nvPr/>
        </p:nvSpPr>
        <p:spPr>
          <a:xfrm>
            <a:off x="609600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04</a:t>
            </a:r>
            <a:endParaRPr lang="en-US" sz="1200" dirty="0"/>
          </a:p>
        </p:txBody>
      </p:sp>
      <p:sp>
        <p:nvSpPr>
          <p:cNvPr id="18" name="Text 12"/>
          <p:cNvSpPr/>
          <p:nvPr/>
        </p:nvSpPr>
        <p:spPr>
          <a:xfrm>
            <a:off x="609600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REFINEMENT</a:t>
            </a:r>
            <a:endParaRPr lang="en-US" sz="1600" dirty="0"/>
          </a:p>
        </p:txBody>
      </p:sp>
      <p:sp>
        <p:nvSpPr>
          <p:cNvPr id="19" name="Text 13"/>
          <p:cNvSpPr/>
          <p:nvPr/>
        </p:nvSpPr>
        <p:spPr>
          <a:xfrm>
            <a:off x="609600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Define the outcome and the trade-offs</a:t>
            </a:r>
            <a:endParaRPr lang="en-US" sz="1300" dirty="0"/>
          </a:p>
        </p:txBody>
      </p:sp>
      <p:pic>
        <p:nvPicPr>
          <p:cNvPr id="20" name="Image 4" descr="rect">    </p:cNvPr>
          <p:cNvPicPr>
            <a:picLocks noChangeAspect="1"/>
          </p:cNvPicPr>
          <p:nvPr/>
        </p:nvPicPr>
        <p:blipFill>
          <a:blip r:embed="rId5"/>
          <a:srcRect l="0" r="0" t="0" b="0"/>
          <a:stretch/>
        </p:blipFill>
        <p:spPr>
          <a:xfrm>
            <a:off x="7854950" y="2857500"/>
            <a:ext cx="1657350" cy="25400"/>
          </a:xfrm>
          <a:prstGeom prst="rect">
            <a:avLst/>
          </a:prstGeom>
        </p:spPr>
      </p:pic>
      <p:sp>
        <p:nvSpPr>
          <p:cNvPr id="21" name="Text 14"/>
          <p:cNvSpPr/>
          <p:nvPr/>
        </p:nvSpPr>
        <p:spPr>
          <a:xfrm>
            <a:off x="78549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1EC"/>
                </a:solidFill>
                <a:latin typeface="JetBrains Mono" pitchFamily="49" charset="0"/>
                <a:ea typeface="JetBrains Mono" pitchFamily="49" charset="-122"/>
                <a:cs typeface="JetBrains Mono" pitchFamily="49" charset="-120"/>
              </a:rPr>
              <a:t>05</a:t>
            </a:r>
            <a:endParaRPr lang="en-US" sz="1200" dirty="0"/>
          </a:p>
        </p:txBody>
      </p:sp>
      <p:sp>
        <p:nvSpPr>
          <p:cNvPr id="22" name="Text 15"/>
          <p:cNvSpPr/>
          <p:nvPr/>
        </p:nvSpPr>
        <p:spPr>
          <a:xfrm>
            <a:off x="78549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BUILD</a:t>
            </a:r>
            <a:endParaRPr lang="en-US" sz="1600" dirty="0"/>
          </a:p>
        </p:txBody>
      </p:sp>
      <p:sp>
        <p:nvSpPr>
          <p:cNvPr id="23" name="Text 16"/>
          <p:cNvSpPr/>
          <p:nvPr/>
        </p:nvSpPr>
        <p:spPr>
          <a:xfrm>
            <a:off x="78549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Make the smallest thing that tests it</a:t>
            </a:r>
            <a:endParaRPr lang="en-US" sz="1300" dirty="0"/>
          </a:p>
        </p:txBody>
      </p:sp>
      <p:pic>
        <p:nvPicPr>
          <p:cNvPr id="24" name="Image 5" descr="rect">    </p:cNvPr>
          <p:cNvPicPr>
            <a:picLocks noChangeAspect="1"/>
          </p:cNvPicPr>
          <p:nvPr/>
        </p:nvPicPr>
        <p:blipFill>
          <a:blip r:embed="rId6"/>
          <a:srcRect l="0" r="0" t="0" b="0"/>
          <a:stretch/>
        </p:blipFill>
        <p:spPr>
          <a:xfrm>
            <a:off x="9620250" y="2857500"/>
            <a:ext cx="1657350" cy="25400"/>
          </a:xfrm>
          <a:prstGeom prst="rect">
            <a:avLst/>
          </a:prstGeom>
        </p:spPr>
      </p:pic>
      <p:sp>
        <p:nvSpPr>
          <p:cNvPr id="25" name="Text 17"/>
          <p:cNvSpPr/>
          <p:nvPr/>
        </p:nvSpPr>
        <p:spPr>
          <a:xfrm>
            <a:off x="96202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4D"/>
                </a:solidFill>
                <a:latin typeface="JetBrains Mono" pitchFamily="49" charset="0"/>
                <a:ea typeface="JetBrains Mono" pitchFamily="49" charset="-122"/>
                <a:cs typeface="JetBrains Mono" pitchFamily="49" charset="-120"/>
              </a:rPr>
              <a:t>06</a:t>
            </a:r>
            <a:endParaRPr lang="en-US" sz="1200" dirty="0"/>
          </a:p>
        </p:txBody>
      </p:sp>
      <p:sp>
        <p:nvSpPr>
          <p:cNvPr id="26" name="Text 18"/>
          <p:cNvSpPr/>
          <p:nvPr/>
        </p:nvSpPr>
        <p:spPr>
          <a:xfrm>
            <a:off x="96202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TEST</a:t>
            </a:r>
            <a:endParaRPr lang="en-US" sz="1600" dirty="0"/>
          </a:p>
        </p:txBody>
      </p:sp>
      <p:sp>
        <p:nvSpPr>
          <p:cNvPr id="27" name="Text 19"/>
          <p:cNvSpPr/>
          <p:nvPr/>
        </p:nvSpPr>
        <p:spPr>
          <a:xfrm>
            <a:off x="96202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Evaluate against what you defined</a:t>
            </a:r>
            <a:endParaRPr lang="en-US" sz="1300" dirty="0"/>
          </a:p>
        </p:txBody>
      </p:sp>
      <p:pic>
        <p:nvPicPr>
          <p:cNvPr id="28" name="Image 6" descr="connector">    </p:cNvPr>
          <p:cNvPicPr>
            <a:picLocks noChangeAspect="1"/>
          </p:cNvPicPr>
          <p:nvPr/>
        </p:nvPicPr>
        <p:blipFill>
          <a:blip r:embed="rId7"/>
          <a:srcRect l="0" r="0" t="0" b="0"/>
          <a:stretch/>
        </p:blipFill>
        <p:spPr>
          <a:xfrm>
            <a:off x="9823450" y="4394200"/>
            <a:ext cx="101600" cy="419100"/>
          </a:xfrm>
          <a:prstGeom prst="rect">
            <a:avLst/>
          </a:prstGeom>
        </p:spPr>
      </p:pic>
      <p:pic>
        <p:nvPicPr>
          <p:cNvPr id="29" name="Image 7" descr="connector">    </p:cNvPr>
          <p:cNvPicPr>
            <a:picLocks noChangeAspect="1"/>
          </p:cNvPicPr>
          <p:nvPr/>
        </p:nvPicPr>
        <p:blipFill>
          <a:blip r:embed="rId8"/>
          <a:srcRect l="0" r="0" t="0" b="0"/>
          <a:stretch/>
        </p:blipFill>
        <p:spPr>
          <a:xfrm>
            <a:off x="1016000" y="4711700"/>
            <a:ext cx="8909050" cy="101600"/>
          </a:xfrm>
          <a:prstGeom prst="rect">
            <a:avLst/>
          </a:prstGeom>
        </p:spPr>
      </p:pic>
      <p:pic>
        <p:nvPicPr>
          <p:cNvPr id="30" name="Image 8" descr="connector">    </p:cNvPr>
          <p:cNvPicPr>
            <a:picLocks noChangeAspect="1"/>
          </p:cNvPicPr>
          <p:nvPr/>
        </p:nvPicPr>
        <p:blipFill>
          <a:blip r:embed="rId9"/>
          <a:srcRect l="0" r="0" t="0" b="0"/>
          <a:stretch/>
        </p:blipFill>
        <p:spPr>
          <a:xfrm>
            <a:off x="1016000" y="4394200"/>
            <a:ext cx="101600" cy="419100"/>
          </a:xfrm>
          <a:prstGeom prst="rect">
            <a:avLst/>
          </a:prstGeom>
        </p:spPr>
      </p:pic>
      <p:sp>
        <p:nvSpPr>
          <p:cNvPr id="31" name="Text 20"/>
          <p:cNvSpPr/>
          <p:nvPr/>
        </p:nvSpPr>
        <p:spPr>
          <a:xfrm>
            <a:off x="1320800" y="4889500"/>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What we build goes into the wild.</a:t>
            </a:r>
            <a:endParaRPr lang="en-US" sz="1600" dirty="0"/>
          </a:p>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We need to continue observing it to understand it's impact.</a:t>
            </a:r>
            <a:endParaRPr lang="en-US" sz="1600" dirty="0"/>
          </a:p>
        </p:txBody>
      </p:sp>
      <p:sp>
        <p:nvSpPr>
          <p:cNvPr id="32" name="Text 2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3" name="Text 22"/>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Things are not the same</a:t>
            </a:r>
            <a:endParaRPr lang="en-US" sz="3600" dirty="0"/>
          </a:p>
        </p:txBody>
      </p:sp>
      <p:sp>
        <p:nvSpPr>
          <p:cNvPr id="4" name="Text 2"/>
          <p:cNvSpPr/>
          <p:nvPr/>
        </p:nvSpPr>
        <p:spPr>
          <a:xfrm>
            <a:off x="812800" y="1935411"/>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In recent times, it is hard to deny that creating and designing software has changed significantly.</a:t>
            </a:r>
            <a:endParaRPr lang="en-US" sz="1800" dirty="0"/>
          </a:p>
        </p:txBody>
      </p:sp>
      <p:sp>
        <p:nvSpPr>
          <p:cNvPr id="5" name="Text 3"/>
          <p:cNvSpPr/>
          <p:nvPr/>
        </p:nvSpPr>
        <p:spPr>
          <a:xfrm>
            <a:off x="812800" y="2704951"/>
            <a:ext cx="113792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As designers, it feels like we are being pulled in different directions.</a:t>
            </a:r>
            <a:endParaRPr lang="en-US" sz="1800" dirty="0"/>
          </a:p>
        </p:txBody>
      </p:sp>
      <p:sp>
        <p:nvSpPr>
          <p:cNvPr id="6" name="Text 4"/>
          <p:cNvSpPr/>
          <p:nvPr/>
        </p:nvSpPr>
        <p:spPr>
          <a:xfrm>
            <a:off x="812800" y="3165921"/>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Some people are saying “UX” is dead; others claim that “taste” will be the next moat.</a:t>
            </a:r>
            <a:endParaRPr lang="en-US" sz="1800" dirty="0"/>
          </a:p>
        </p:txBody>
      </p:sp>
      <p:sp>
        <p:nvSpPr>
          <p:cNvPr id="7" name="Text 5"/>
          <p:cNvSpPr/>
          <p:nvPr/>
        </p:nvSpPr>
        <p:spPr>
          <a:xfrm>
            <a:off x="812800" y="3935462"/>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In this workshop, instead of leaning into current trends, we will examine, think through, and discuss the implications of these changes.</a:t>
            </a:r>
            <a:endParaRPr lang="en-US" sz="1800" dirty="0"/>
          </a:p>
        </p:txBody>
      </p:sp>
      <p:sp>
        <p:nvSpPr>
          <p:cNvPr id="8" name="Text 6"/>
          <p:cNvSpPr/>
          <p:nvPr/>
        </p:nvSpPr>
        <p:spPr>
          <a:xfrm>
            <a:off x="812800" y="4705003"/>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Hopefully, using those methods, we will be able to decide for ourselves what these changes mean for us.</a:t>
            </a:r>
            <a:endParaRPr lang="en-US" sz="1800" dirty="0"/>
          </a:p>
        </p:txBody>
      </p:sp>
      <p:sp>
        <p:nvSpPr>
          <p:cNvPr id="9" name="Text 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0" name="Text 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Focusing on a few observations</a:t>
            </a:r>
            <a:endParaRPr lang="en-US" sz="3600" dirty="0"/>
          </a:p>
        </p:txBody>
      </p:sp>
      <p:sp>
        <p:nvSpPr>
          <p:cNvPr id="4" name="Text 2"/>
          <p:cNvSpPr/>
          <p:nvPr/>
        </p:nvSpPr>
        <p:spPr>
          <a:xfrm>
            <a:off x="812800" y="188461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Recent developments in AI have caused </a:t>
            </a:r>
            <a:r>
              <a:rPr lang="en-US" sz="1800" dirty="0">
                <a:solidFill>
                  <a:srgbClr val="E8BD78"/>
                </a:solidFill>
                <a:latin typeface="JetBrains Mono" pitchFamily="49" charset="0"/>
                <a:ea typeface="JetBrains Mono" pitchFamily="49" charset="-122"/>
                <a:cs typeface="JetBrains Mono" pitchFamily="49" charset="-120"/>
              </a:rPr>
              <a:t>ripples</a:t>
            </a:r>
            <a:r>
              <a:rPr lang="en-US" sz="1800" dirty="0">
                <a:solidFill>
                  <a:srgbClr val="F2F1EC"/>
                </a:solidFill>
                <a:latin typeface="JetBrains Mono" pitchFamily="49" charset="0"/>
                <a:ea typeface="JetBrains Mono" pitchFamily="49" charset="-122"/>
                <a:cs typeface="JetBrains Mono" pitchFamily="49" charset="-120"/>
              </a:rPr>
              <a:t> in many industries, fields, and the world we live in.</a:t>
            </a:r>
            <a:endParaRPr lang="en-US" sz="1800" dirty="0"/>
          </a:p>
        </p:txBody>
      </p:sp>
      <p:sp>
        <p:nvSpPr>
          <p:cNvPr id="5" name="Text 3"/>
          <p:cNvSpPr/>
          <p:nvPr/>
        </p:nvSpPr>
        <p:spPr>
          <a:xfrm>
            <a:off x="812800" y="260335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5B4AE"/>
                </a:solidFill>
                <a:latin typeface="JetBrains Mono" pitchFamily="49" charset="0"/>
                <a:ea typeface="JetBrains Mono" pitchFamily="49" charset="-122"/>
                <a:cs typeface="JetBrains Mono" pitchFamily="49" charset="-120"/>
              </a:rPr>
              <a:t>Our goal today is to look at a few of these ripples, observe them, understand them, and make sense of what we can do about them.</a:t>
            </a:r>
            <a:endParaRPr lang="en-US" sz="1800" dirty="0"/>
          </a:p>
        </p:txBody>
      </p:sp>
      <p:pic>
        <p:nvPicPr>
          <p:cNvPr id="6" name="Image 0" descr="Ripples spreading from several points across a field of dots">    </p:cNvPr>
          <p:cNvPicPr>
            <a:picLocks noChangeAspect="1"/>
          </p:cNvPicPr>
          <p:nvPr/>
        </p:nvPicPr>
        <p:blipFill>
          <a:blip r:embed="rId1"/>
          <a:srcRect l="0" r="0" t="-9" b="-9"/>
          <a:stretch/>
        </p:blipFill>
        <p:spPr>
          <a:xfrm>
            <a:off x="812800" y="3474492"/>
            <a:ext cx="10566400" cy="2286000"/>
          </a:xfrm>
          <a:prstGeom prst="rect">
            <a:avLst/>
          </a:prstGeom>
        </p:spPr>
      </p:pic>
      <p:sp>
        <p:nvSpPr>
          <p:cNvPr id="7"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8" name="Text 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WHY SAMANTHA'S VOICE?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Trust was the point</a:t>
            </a:r>
            <a:endParaRPr lang="en-US" sz="3600" dirty="0"/>
          </a:p>
        </p:txBody>
      </p:sp>
      <p:sp>
        <p:nvSpPr>
          <p:cNvPr id="4" name="Text 2"/>
          <p:cNvSpPr/>
          <p:nvPr/>
        </p:nvSpPr>
        <p:spPr>
          <a:xfrm>
            <a:off x="812800" y="2708920"/>
            <a:ext cx="9810750" cy="914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F2F1EC"/>
                </a:solidFill>
                <a:latin typeface="JetBrains Mono" pitchFamily="49" charset="0"/>
                <a:ea typeface="JetBrains Mono" pitchFamily="49" charset="-122"/>
                <a:cs typeface="JetBrains Mono" pitchFamily="49" charset="-120"/>
              </a:rPr>
              <a:t>Altman's pitch: her voice could help people feel </a:t>
            </a:r>
            <a:r>
              <a:rPr lang="en-US" sz="2800" spc="-50" kern="0" dirty="0">
                <a:solidFill>
                  <a:srgbClr val="E8BD78"/>
                </a:solidFill>
                <a:latin typeface="JetBrains Mono" pitchFamily="49" charset="0"/>
                <a:ea typeface="JetBrains Mono" pitchFamily="49" charset="-122"/>
                <a:cs typeface="JetBrains Mono" pitchFamily="49" charset="-120"/>
              </a:rPr>
              <a:t>comfortable</a:t>
            </a:r>
            <a:r>
              <a:rPr lang="en-US" sz="2800" spc="-50" kern="0" dirty="0">
                <a:solidFill>
                  <a:srgbClr val="F2F1EC"/>
                </a:solidFill>
                <a:latin typeface="JetBrains Mono" pitchFamily="49" charset="0"/>
                <a:ea typeface="JetBrains Mono" pitchFamily="49" charset="-122"/>
                <a:cs typeface="JetBrains Mono" pitchFamily="49" charset="-120"/>
              </a:rPr>
              <a:t> with AI.</a:t>
            </a:r>
            <a:endParaRPr lang="en-US" sz="2800" dirty="0"/>
          </a:p>
        </p:txBody>
      </p:sp>
      <p:sp>
        <p:nvSpPr>
          <p:cNvPr id="5" name="Shape 3"/>
          <p:cNvSpPr/>
          <p:nvPr/>
        </p:nvSpPr>
        <p:spPr>
          <a:xfrm>
            <a:off x="812800" y="4682530"/>
            <a:ext cx="5181600" cy="0"/>
          </a:xfrm>
          <a:prstGeom prst="line">
            <a:avLst/>
          </a:prstGeom>
          <a:noFill/>
          <a:ln w="12700">
            <a:solidFill>
              <a:srgbClr val="FF6A4D"/>
            </a:solidFill>
            <a:prstDash val="solid"/>
          </a:ln>
        </p:spPr>
      </p:sp>
      <p:sp>
        <p:nvSpPr>
          <p:cNvPr id="6" name="Text 4"/>
          <p:cNvSpPr/>
          <p:nvPr/>
        </p:nvSpPr>
        <p:spPr>
          <a:xfrm>
            <a:off x="812800" y="48666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THE PROBLEM</a:t>
            </a:r>
            <a:endParaRPr lang="en-US" sz="1200" dirty="0"/>
          </a:p>
        </p:txBody>
      </p:sp>
      <p:sp>
        <p:nvSpPr>
          <p:cNvPr id="7" name="Text 5"/>
          <p:cNvSpPr/>
          <p:nvPr/>
        </p:nvSpPr>
        <p:spPr>
          <a:xfrm>
            <a:off x="812800" y="51816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People don’t trust AI</a:t>
            </a:r>
            <a:endParaRPr lang="en-US" sz="2000" dirty="0"/>
          </a:p>
        </p:txBody>
      </p:sp>
      <p:sp>
        <p:nvSpPr>
          <p:cNvPr id="8" name="Shape 6"/>
          <p:cNvSpPr/>
          <p:nvPr/>
        </p:nvSpPr>
        <p:spPr>
          <a:xfrm>
            <a:off x="6197600" y="4682530"/>
            <a:ext cx="5181600" cy="0"/>
          </a:xfrm>
          <a:prstGeom prst="line">
            <a:avLst/>
          </a:prstGeom>
          <a:noFill/>
          <a:ln w="12700">
            <a:solidFill>
              <a:srgbClr val="E8BD78"/>
            </a:solidFill>
            <a:prstDash val="solid"/>
          </a:ln>
        </p:spPr>
      </p:sp>
      <p:sp>
        <p:nvSpPr>
          <p:cNvPr id="9" name="Text 7"/>
          <p:cNvSpPr/>
          <p:nvPr/>
        </p:nvSpPr>
        <p:spPr>
          <a:xfrm>
            <a:off x="6197600" y="48666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FIX</a:t>
            </a:r>
            <a:endParaRPr lang="en-US" sz="1200" dirty="0"/>
          </a:p>
        </p:txBody>
      </p:sp>
      <p:sp>
        <p:nvSpPr>
          <p:cNvPr id="10" name="Text 8"/>
          <p:cNvSpPr/>
          <p:nvPr/>
        </p:nvSpPr>
        <p:spPr>
          <a:xfrm>
            <a:off x="6197600" y="518160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Using a “familiar” voice to create trust</a:t>
            </a:r>
            <a:endParaRPr lang="en-US" sz="2000" dirty="0"/>
          </a:p>
        </p:txBody>
      </p:sp>
      <p:sp>
        <p:nvSpPr>
          <p:cNvPr id="11" name="Text 9"/>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JOHANSSON, PUBLIC STATEMENT, MAY 2024</a:t>
            </a:r>
            <a:endParaRPr lang="en-US" sz="1200" dirty="0"/>
          </a:p>
        </p:txBody>
      </p:sp>
      <p:sp>
        <p:nvSpPr>
          <p:cNvPr id="12" name="Text 1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WHAT IT MEANS FOR DESIGNERS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problem gap</a:t>
            </a:r>
            <a:endParaRPr lang="en-US" sz="3600" dirty="0"/>
          </a:p>
        </p:txBody>
      </p:sp>
      <p:sp>
        <p:nvSpPr>
          <p:cNvPr id="4" name="Text 2"/>
          <p:cNvSpPr/>
          <p:nvPr/>
        </p:nvSpPr>
        <p:spPr>
          <a:xfrm>
            <a:off x="812800" y="2999680"/>
            <a:ext cx="9810750" cy="1803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F2F1EC"/>
                </a:solidFill>
                <a:latin typeface="JetBrains Mono" pitchFamily="49" charset="0"/>
                <a:ea typeface="JetBrains Mono" pitchFamily="49" charset="-122"/>
                <a:cs typeface="JetBrains Mono" pitchFamily="49" charset="-120"/>
              </a:rPr>
              <a:t>As building software becomes easy, the gap that widens is in how we derive new knowledge, and how we check that what we build is working.</a:t>
            </a:r>
            <a:endParaRPr lang="en-US" sz="28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E8BD7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41413"/>
                </a:solidFill>
                <a:latin typeface="JetBrains Mono" pitchFamily="49" charset="0"/>
                <a:ea typeface="JetBrains Mono" pitchFamily="49" charset="-122"/>
                <a:cs typeface="JetBrains Mono" pitchFamily="49" charset="-120"/>
              </a:rPr>
              <a:t>PART 2 · WHAT IT MEANS FOR DESIGNERS</a:t>
            </a:r>
            <a:endParaRPr lang="en-US" sz="1200" dirty="0"/>
          </a:p>
        </p:txBody>
      </p:sp>
      <p:sp>
        <p:nvSpPr>
          <p:cNvPr id="3" name="Text 1"/>
          <p:cNvSpPr/>
          <p:nvPr>
            <p:ph type="title"/>
          </p:nvPr>
        </p:nvSpPr>
        <p:spPr>
          <a:xfrm>
            <a:off x="812800" y="2189460"/>
            <a:ext cx="10883392"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141413"/>
                </a:solidFill>
                <a:latin typeface="JetBrains Mono" pitchFamily="49" charset="0"/>
                <a:ea typeface="JetBrains Mono" pitchFamily="49" charset="-122"/>
                <a:cs typeface="JetBrains Mono" pitchFamily="49" charset="-120"/>
              </a:rPr>
              <a:t>None of this</a:t>
            </a:r>
            <a:endParaRPr lang="en-US" sz="7200" dirty="0"/>
          </a:p>
          <a:p>
            <a:pPr algn="l" indent="0" marL="0">
              <a:lnSpc>
                <a:spcPts val="7200"/>
              </a:lnSpc>
              <a:buNone/>
            </a:pPr>
            <a:r>
              <a:rPr lang="en-US" sz="7200" b="0" i="0" spc="-200" kern="0" dirty="0">
                <a:solidFill>
                  <a:srgbClr val="141413"/>
                </a:solidFill>
                <a:latin typeface="JetBrains Mono" pitchFamily="49" charset="0"/>
                <a:ea typeface="JetBrains Mono" pitchFamily="49" charset="-122"/>
                <a:cs typeface="JetBrains Mono" pitchFamily="49" charset="-120"/>
              </a:rPr>
              <a:t>is new.</a:t>
            </a:r>
            <a:endParaRPr lang="en-US" sz="7200" dirty="0"/>
          </a:p>
        </p:txBody>
      </p:sp>
      <p:sp>
        <p:nvSpPr>
          <p:cNvPr id="4" name="Text 2"/>
          <p:cNvSpPr/>
          <p:nvPr/>
        </p:nvSpPr>
        <p:spPr>
          <a:xfrm>
            <a:off x="812800" y="5181600"/>
            <a:ext cx="78486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1413"/>
                </a:solidFill>
                <a:latin typeface="JetBrains Mono" pitchFamily="49" charset="0"/>
                <a:ea typeface="JetBrains Mono" pitchFamily="49" charset="-122"/>
                <a:cs typeface="JetBrains Mono" pitchFamily="49" charset="-120"/>
              </a:rPr>
              <a:t>To see where this is going, we have to look back. The research already exists.</a:t>
            </a:r>
            <a:endParaRPr lang="en-US" sz="20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3A33"/>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3D3A33"/>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WHAT COUNTS AS RIGOUR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Research sits differently in design</a:t>
            </a:r>
            <a:endParaRPr lang="en-US" sz="3600" dirty="0"/>
          </a:p>
        </p:txBody>
      </p:sp>
      <p:sp>
        <p:nvSpPr>
          <p:cNvPr id="4" name="Shape 2"/>
          <p:cNvSpPr/>
          <p:nvPr/>
        </p:nvSpPr>
        <p:spPr>
          <a:xfrm>
            <a:off x="815975" y="2470795"/>
            <a:ext cx="5175250" cy="2150070"/>
          </a:xfrm>
          <a:prstGeom prst="roundRect">
            <a:avLst>
              <a:gd name="adj" fmla="val 2215"/>
            </a:avLst>
          </a:prstGeom>
          <a:noFill/>
          <a:ln w="6350">
            <a:solidFill>
              <a:srgbClr val="33332F"/>
            </a:solidFill>
            <a:prstDash val="solid"/>
          </a:ln>
        </p:spPr>
      </p:sp>
      <p:sp>
        <p:nvSpPr>
          <p:cNvPr id="5" name="Text 3"/>
          <p:cNvSpPr/>
          <p:nvPr/>
        </p:nvSpPr>
        <p:spPr>
          <a:xfrm>
            <a:off x="1098550" y="275337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NARROW RIGOUR</a:t>
            </a:r>
            <a:endParaRPr lang="en-US" sz="1200" dirty="0"/>
          </a:p>
        </p:txBody>
      </p:sp>
      <p:sp>
        <p:nvSpPr>
          <p:cNvPr id="6" name="Text 4"/>
          <p:cNvSpPr/>
          <p:nvPr/>
        </p:nvSpPr>
        <p:spPr>
          <a:xfrm>
            <a:off x="1098550" y="30936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Summative evaluation</a:t>
            </a:r>
            <a:endParaRPr lang="en-US" sz="2000" dirty="0"/>
          </a:p>
        </p:txBody>
      </p:sp>
      <p:sp>
        <p:nvSpPr>
          <p:cNvPr id="7" name="Text 5"/>
          <p:cNvSpPr/>
          <p:nvPr/>
        </p:nvSpPr>
        <p:spPr>
          <a:xfrm>
            <a:off x="1098550" y="35508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Control and replication</a:t>
            </a:r>
            <a:endParaRPr lang="en-US" sz="2000" dirty="0"/>
          </a:p>
        </p:txBody>
      </p:sp>
      <p:sp>
        <p:nvSpPr>
          <p:cNvPr id="8" name="Text 6"/>
          <p:cNvSpPr/>
          <p:nvPr/>
        </p:nvSpPr>
        <p:spPr>
          <a:xfrm>
            <a:off x="1098550" y="40080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One “gold standard”</a:t>
            </a:r>
            <a:endParaRPr lang="en-US" sz="2000" dirty="0"/>
          </a:p>
        </p:txBody>
      </p:sp>
      <p:sp>
        <p:nvSpPr>
          <p:cNvPr id="9" name="Shape 7"/>
          <p:cNvSpPr/>
          <p:nvPr/>
        </p:nvSpPr>
        <p:spPr>
          <a:xfrm>
            <a:off x="6200775" y="2470795"/>
            <a:ext cx="5175250" cy="2150070"/>
          </a:xfrm>
          <a:prstGeom prst="roundRect">
            <a:avLst>
              <a:gd name="adj" fmla="val 2215"/>
            </a:avLst>
          </a:prstGeom>
          <a:noFill/>
          <a:ln w="6350">
            <a:solidFill>
              <a:srgbClr val="E8BD78"/>
            </a:solidFill>
            <a:prstDash val="solid"/>
          </a:ln>
        </p:spPr>
      </p:sp>
      <p:sp>
        <p:nvSpPr>
          <p:cNvPr id="10" name="Text 8"/>
          <p:cNvSpPr/>
          <p:nvPr/>
        </p:nvSpPr>
        <p:spPr>
          <a:xfrm>
            <a:off x="6483350" y="275337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PLURAL RIGOUR</a:t>
            </a:r>
            <a:endParaRPr lang="en-US" sz="1200" dirty="0"/>
          </a:p>
        </p:txBody>
      </p:sp>
      <p:sp>
        <p:nvSpPr>
          <p:cNvPr id="11" name="Text 9"/>
          <p:cNvSpPr/>
          <p:nvPr/>
        </p:nvSpPr>
        <p:spPr>
          <a:xfrm>
            <a:off x="6483350" y="30936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Research through design</a:t>
            </a:r>
            <a:endParaRPr lang="en-US" sz="2000" dirty="0"/>
          </a:p>
        </p:txBody>
      </p:sp>
      <p:sp>
        <p:nvSpPr>
          <p:cNvPr id="12" name="Text 10"/>
          <p:cNvSpPr/>
          <p:nvPr/>
        </p:nvSpPr>
        <p:spPr>
          <a:xfrm>
            <a:off x="6483350" y="35508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Formative situations</a:t>
            </a:r>
            <a:endParaRPr lang="en-US" sz="2000" dirty="0"/>
          </a:p>
        </p:txBody>
      </p:sp>
      <p:sp>
        <p:nvSpPr>
          <p:cNvPr id="13" name="Text 11"/>
          <p:cNvSpPr/>
          <p:nvPr/>
        </p:nvSpPr>
        <p:spPr>
          <a:xfrm>
            <a:off x="6483350" y="40080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Reflection and documentation</a:t>
            </a:r>
            <a:endParaRPr lang="en-US" sz="2000" dirty="0"/>
          </a:p>
        </p:txBody>
      </p:sp>
      <p:sp>
        <p:nvSpPr>
          <p:cNvPr id="14" name="Text 12"/>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Not less rigour. Rigour of more kinds.</a:t>
            </a:r>
            <a:endParaRPr lang="en-US" sz="2400" dirty="0"/>
          </a:p>
        </p:txBody>
      </p:sp>
      <p:sp>
        <p:nvSpPr>
          <p:cNvPr id="15" name="Text 13"/>
          <p:cNvSpPr/>
          <p:nvPr/>
        </p:nvSpPr>
        <p:spPr>
          <a:xfrm>
            <a:off x="812800" y="6238280"/>
            <a:ext cx="71232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ZIMMERMAN ET AL., CHI 2007 · ROBINSON ET AL., CHI EA 2024</a:t>
            </a:r>
            <a:endParaRPr lang="en-US" sz="1200" dirty="0"/>
          </a:p>
        </p:txBody>
      </p:sp>
      <p:sp>
        <p:nvSpPr>
          <p:cNvPr id="16" name="Text 1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NONE OF THIS IS NEW</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Direct manipulation</a:t>
            </a:r>
            <a:endParaRPr lang="en-US" sz="3600" dirty="0"/>
          </a:p>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vs. natural language</a:t>
            </a:r>
            <a:endParaRPr lang="en-US" sz="3600" dirty="0"/>
          </a:p>
        </p:txBody>
      </p:sp>
      <p:sp>
        <p:nvSpPr>
          <p:cNvPr id="4" name="Shape 2"/>
          <p:cNvSpPr/>
          <p:nvPr/>
        </p:nvSpPr>
        <p:spPr>
          <a:xfrm>
            <a:off x="815975" y="2762895"/>
            <a:ext cx="5175250" cy="1687711"/>
          </a:xfrm>
          <a:prstGeom prst="roundRect">
            <a:avLst>
              <a:gd name="adj" fmla="val 2822"/>
            </a:avLst>
          </a:prstGeom>
          <a:noFill/>
          <a:ln w="6350">
            <a:solidFill>
              <a:srgbClr val="33332F"/>
            </a:solidFill>
            <a:prstDash val="solid"/>
          </a:ln>
        </p:spPr>
      </p:sp>
      <p:sp>
        <p:nvSpPr>
          <p:cNvPr id="5" name="Text 3"/>
          <p:cNvSpPr/>
          <p:nvPr/>
        </p:nvSpPr>
        <p:spPr>
          <a:xfrm>
            <a:off x="1123950" y="3070870"/>
            <a:ext cx="469607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DIRECT MANIPULATION</a:t>
            </a:r>
            <a:endParaRPr lang="en-US" sz="1200" dirty="0"/>
          </a:p>
        </p:txBody>
      </p:sp>
      <p:sp>
        <p:nvSpPr>
          <p:cNvPr id="6" name="Text 4"/>
          <p:cNvSpPr/>
          <p:nvPr/>
        </p:nvSpPr>
        <p:spPr>
          <a:xfrm>
            <a:off x="1123950" y="3411190"/>
            <a:ext cx="469607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Faster, and more in control</a:t>
            </a:r>
            <a:endParaRPr lang="en-US" sz="2400" dirty="0"/>
          </a:p>
        </p:txBody>
      </p:sp>
      <p:sp>
        <p:nvSpPr>
          <p:cNvPr id="7" name="Shape 5"/>
          <p:cNvSpPr/>
          <p:nvPr/>
        </p:nvSpPr>
        <p:spPr>
          <a:xfrm>
            <a:off x="6200775" y="2762895"/>
            <a:ext cx="5175250" cy="1687711"/>
          </a:xfrm>
          <a:prstGeom prst="roundRect">
            <a:avLst>
              <a:gd name="adj" fmla="val 2822"/>
            </a:avLst>
          </a:prstGeom>
          <a:noFill/>
          <a:ln w="6350">
            <a:solidFill>
              <a:srgbClr val="33332F"/>
            </a:solidFill>
            <a:prstDash val="solid"/>
          </a:ln>
        </p:spPr>
      </p:sp>
      <p:sp>
        <p:nvSpPr>
          <p:cNvPr id="8" name="Text 6"/>
          <p:cNvSpPr/>
          <p:nvPr/>
        </p:nvSpPr>
        <p:spPr>
          <a:xfrm>
            <a:off x="6508750" y="3070870"/>
            <a:ext cx="469607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NATURAL LANGUAGE</a:t>
            </a:r>
            <a:endParaRPr lang="en-US" sz="1200" dirty="0"/>
          </a:p>
        </p:txBody>
      </p:sp>
      <p:sp>
        <p:nvSpPr>
          <p:cNvPr id="9" name="Text 7"/>
          <p:cNvSpPr/>
          <p:nvPr/>
        </p:nvSpPr>
        <p:spPr>
          <a:xfrm>
            <a:off x="6508750" y="3411190"/>
            <a:ext cx="469607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For what's hard to point at</a:t>
            </a:r>
            <a:endParaRPr lang="en-US" sz="2400" dirty="0"/>
          </a:p>
        </p:txBody>
      </p:sp>
      <p:sp>
        <p:nvSpPr>
          <p:cNvPr id="10" name="Text 8"/>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Offer a menu of intentions.</a:t>
            </a:r>
            <a:endParaRPr lang="en-US" sz="2400" dirty="0"/>
          </a:p>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Don't make people guess.</a:t>
            </a:r>
            <a:endParaRPr lang="en-US" sz="2400" dirty="0"/>
          </a:p>
        </p:txBody>
      </p:sp>
      <p:sp>
        <p:nvSpPr>
          <p:cNvPr id="11" name="Text 9"/>
          <p:cNvSpPr/>
          <p:nvPr/>
        </p:nvSpPr>
        <p:spPr>
          <a:xfrm>
            <a:off x="812800" y="6238280"/>
            <a:ext cx="624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SHNEIDERMAN &amp; MAES, 1997 · MASSON ET AL., CHI 2024</a:t>
            </a:r>
            <a:endParaRPr lang="en-US" sz="1200" dirty="0"/>
          </a:p>
        </p:txBody>
      </p:sp>
      <p:sp>
        <p:nvSpPr>
          <p:cNvPr id="12" name="Text 1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 name="Text 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
        <p:nvSpPr>
          <p:cNvPr id="4" name="Shape 2"/>
          <p:cNvSpPr/>
          <p:nvPr/>
        </p:nvSpPr>
        <p:spPr>
          <a:xfrm>
            <a:off x="812800" y="2622550"/>
            <a:ext cx="2032000" cy="0"/>
          </a:xfrm>
          <a:prstGeom prst="line">
            <a:avLst/>
          </a:prstGeom>
          <a:noFill/>
          <a:ln w="12700">
            <a:solidFill>
              <a:srgbClr val="8DBAF6"/>
            </a:solidFill>
            <a:prstDash val="solid"/>
          </a:ln>
        </p:spPr>
      </p:sp>
      <p:sp>
        <p:nvSpPr>
          <p:cNvPr id="5" name="Text 3"/>
          <p:cNvSpPr/>
          <p:nvPr/>
        </p:nvSpPr>
        <p:spPr>
          <a:xfrm>
            <a:off x="8128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AF6"/>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8128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2F1EC"/>
                </a:solidFill>
                <a:latin typeface="JetBrains Mono" pitchFamily="49" charset="0"/>
                <a:ea typeface="JetBrains Mono" pitchFamily="49" charset="-122"/>
                <a:cs typeface="JetBrains Mono" pitchFamily="49" charset="-120"/>
              </a:rPr>
              <a:t>What do we value?</a:t>
            </a:r>
            <a:endParaRPr lang="en-US" sz="2000" dirty="0"/>
          </a:p>
        </p:txBody>
      </p:sp>
      <p:sp>
        <p:nvSpPr>
          <p:cNvPr id="7" name="Shape 5"/>
          <p:cNvSpPr/>
          <p:nvPr/>
        </p:nvSpPr>
        <p:spPr>
          <a:xfrm>
            <a:off x="2946400" y="2622550"/>
            <a:ext cx="2032000" cy="0"/>
          </a:xfrm>
          <a:prstGeom prst="line">
            <a:avLst/>
          </a:prstGeom>
          <a:noFill/>
          <a:ln w="12700">
            <a:solidFill>
              <a:srgbClr val="FF6A4D"/>
            </a:solidFill>
            <a:prstDash val="solid"/>
          </a:ln>
        </p:spPr>
      </p:sp>
      <p:sp>
        <p:nvSpPr>
          <p:cNvPr id="8" name="Text 6"/>
          <p:cNvSpPr/>
          <p:nvPr/>
        </p:nvSpPr>
        <p:spPr>
          <a:xfrm>
            <a:off x="29464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4D"/>
                </a:solidFill>
                <a:latin typeface="JetBrains Mono" pitchFamily="49" charset="0"/>
                <a:ea typeface="JetBrains Mono" pitchFamily="49" charset="-122"/>
                <a:cs typeface="JetBrains Mono" pitchFamily="49" charset="-120"/>
              </a:rPr>
              <a:t>02</a:t>
            </a:r>
            <a:endParaRPr lang="en-US" sz="1200" dirty="0"/>
          </a:p>
        </p:txBody>
      </p:sp>
      <p:sp>
        <p:nvSpPr>
          <p:cNvPr id="9" name="Text 7"/>
          <p:cNvSpPr/>
          <p:nvPr/>
        </p:nvSpPr>
        <p:spPr>
          <a:xfrm>
            <a:off x="29464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2F1EC"/>
                </a:solidFill>
                <a:latin typeface="JetBrains Mono" pitchFamily="49" charset="0"/>
                <a:ea typeface="JetBrains Mono" pitchFamily="49" charset="-122"/>
                <a:cs typeface="JetBrains Mono" pitchFamily="49" charset="-120"/>
              </a:rPr>
              <a:t>How do we feel?</a:t>
            </a:r>
            <a:endParaRPr lang="en-US" sz="2000" dirty="0"/>
          </a:p>
        </p:txBody>
      </p:sp>
      <p:sp>
        <p:nvSpPr>
          <p:cNvPr id="10" name="Shape 8"/>
          <p:cNvSpPr/>
          <p:nvPr/>
        </p:nvSpPr>
        <p:spPr>
          <a:xfrm>
            <a:off x="5080000" y="2622550"/>
            <a:ext cx="2032000" cy="0"/>
          </a:xfrm>
          <a:prstGeom prst="line">
            <a:avLst/>
          </a:prstGeom>
          <a:noFill/>
          <a:ln w="12700">
            <a:solidFill>
              <a:srgbClr val="7FD9C4"/>
            </a:solidFill>
            <a:prstDash val="solid"/>
          </a:ln>
        </p:spPr>
      </p:sp>
      <p:sp>
        <p:nvSpPr>
          <p:cNvPr id="11" name="Text 9"/>
          <p:cNvSpPr/>
          <p:nvPr/>
        </p:nvSpPr>
        <p:spPr>
          <a:xfrm>
            <a:off x="50800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2" name="Text 10"/>
          <p:cNvSpPr/>
          <p:nvPr/>
        </p:nvSpPr>
        <p:spPr>
          <a:xfrm>
            <a:off x="50800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2F1EC"/>
                </a:solidFill>
                <a:latin typeface="JetBrains Mono" pitchFamily="49" charset="0"/>
                <a:ea typeface="JetBrains Mono" pitchFamily="49" charset="-122"/>
                <a:cs typeface="JetBrains Mono" pitchFamily="49" charset="-120"/>
              </a:rPr>
              <a:t>How do we act?</a:t>
            </a:r>
            <a:endParaRPr lang="en-US" sz="2000" dirty="0"/>
          </a:p>
        </p:txBody>
      </p:sp>
      <p:sp>
        <p:nvSpPr>
          <p:cNvPr id="13" name="Shape 11"/>
          <p:cNvSpPr/>
          <p:nvPr/>
        </p:nvSpPr>
        <p:spPr>
          <a:xfrm>
            <a:off x="7213600" y="2622550"/>
            <a:ext cx="2032000" cy="0"/>
          </a:xfrm>
          <a:prstGeom prst="line">
            <a:avLst/>
          </a:prstGeom>
          <a:noFill/>
          <a:ln w="12700">
            <a:solidFill>
              <a:srgbClr val="B7ADFF"/>
            </a:solidFill>
            <a:prstDash val="solid"/>
          </a:ln>
        </p:spPr>
      </p:sp>
      <p:sp>
        <p:nvSpPr>
          <p:cNvPr id="14" name="Text 12"/>
          <p:cNvSpPr/>
          <p:nvPr/>
        </p:nvSpPr>
        <p:spPr>
          <a:xfrm>
            <a:off x="72136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04</a:t>
            </a:r>
            <a:endParaRPr lang="en-US" sz="1200" dirty="0"/>
          </a:p>
        </p:txBody>
      </p:sp>
      <p:sp>
        <p:nvSpPr>
          <p:cNvPr id="15" name="Text 13"/>
          <p:cNvSpPr/>
          <p:nvPr/>
        </p:nvSpPr>
        <p:spPr>
          <a:xfrm>
            <a:off x="72136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2F1EC"/>
                </a:solidFill>
                <a:latin typeface="JetBrains Mono" pitchFamily="49" charset="0"/>
                <a:ea typeface="JetBrains Mono" pitchFamily="49" charset="-122"/>
                <a:cs typeface="JetBrains Mono" pitchFamily="49" charset="-120"/>
              </a:rPr>
              <a:t>What enables us to act?</a:t>
            </a:r>
            <a:endParaRPr lang="en-US" sz="2000" dirty="0"/>
          </a:p>
        </p:txBody>
      </p:sp>
      <p:sp>
        <p:nvSpPr>
          <p:cNvPr id="16" name="Shape 14"/>
          <p:cNvSpPr/>
          <p:nvPr/>
        </p:nvSpPr>
        <p:spPr>
          <a:xfrm>
            <a:off x="9347200" y="2622550"/>
            <a:ext cx="2032000" cy="0"/>
          </a:xfrm>
          <a:prstGeom prst="line">
            <a:avLst/>
          </a:prstGeom>
          <a:noFill/>
          <a:ln w="12700">
            <a:solidFill>
              <a:srgbClr val="F2F1EC"/>
            </a:solidFill>
            <a:prstDash val="solid"/>
          </a:ln>
        </p:spPr>
      </p:sp>
      <p:sp>
        <p:nvSpPr>
          <p:cNvPr id="17" name="Text 15"/>
          <p:cNvSpPr/>
          <p:nvPr/>
        </p:nvSpPr>
        <p:spPr>
          <a:xfrm>
            <a:off x="93472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1EC"/>
                </a:solidFill>
                <a:latin typeface="JetBrains Mono" pitchFamily="49" charset="0"/>
                <a:ea typeface="JetBrains Mono" pitchFamily="49" charset="-122"/>
                <a:cs typeface="JetBrains Mono" pitchFamily="49" charset="-120"/>
              </a:rPr>
              <a:t>05</a:t>
            </a:r>
            <a:endParaRPr lang="en-US" sz="1200" dirty="0"/>
          </a:p>
        </p:txBody>
      </p:sp>
      <p:sp>
        <p:nvSpPr>
          <p:cNvPr id="18" name="Text 16"/>
          <p:cNvSpPr/>
          <p:nvPr/>
        </p:nvSpPr>
        <p:spPr>
          <a:xfrm>
            <a:off x="93472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2F1EC"/>
                </a:solidFill>
                <a:latin typeface="JetBrains Mono" pitchFamily="49" charset="0"/>
                <a:ea typeface="JetBrains Mono" pitchFamily="49" charset="-122"/>
                <a:cs typeface="JetBrains Mono" pitchFamily="49" charset="-120"/>
              </a:rPr>
              <a:t>Who do we affect?</a:t>
            </a:r>
            <a:endParaRPr lang="en-US" sz="2000" dirty="0"/>
          </a:p>
        </p:txBody>
      </p:sp>
      <p:pic>
        <p:nvPicPr>
          <p:cNvPr id="19" name="Image 0" descr="ellipse">    </p:cNvPr>
          <p:cNvPicPr>
            <a:picLocks noChangeAspect="1"/>
          </p:cNvPicPr>
          <p:nvPr/>
        </p:nvPicPr>
        <p:blipFill>
          <a:blip r:embed="rId1"/>
          <a:srcRect l="0" r="0" t="0" b="0"/>
          <a:stretch/>
        </p:blipFill>
        <p:spPr>
          <a:xfrm>
            <a:off x="0" y="1138535"/>
            <a:ext cx="2946301" cy="2946301"/>
          </a:xfrm>
          <a:prstGeom prst="rect">
            <a:avLst/>
          </a:prstGeom>
        </p:spPr>
      </p:pic>
      <p:pic>
        <p:nvPicPr>
          <p:cNvPr id="20" name="Image 1" descr="ellipse">    </p:cNvPr>
          <p:cNvPicPr>
            <a:picLocks noChangeAspect="1"/>
          </p:cNvPicPr>
          <p:nvPr/>
        </p:nvPicPr>
        <p:blipFill>
          <a:blip r:embed="rId2"/>
          <a:srcRect l="0" r="0" t="0" b="0"/>
          <a:stretch/>
        </p:blipFill>
        <p:spPr>
          <a:xfrm>
            <a:off x="0" y="122535"/>
            <a:ext cx="4978301" cy="4978301"/>
          </a:xfrm>
          <a:prstGeom prst="rect">
            <a:avLst/>
          </a:prstGeom>
        </p:spPr>
      </p:pic>
      <p:pic>
        <p:nvPicPr>
          <p:cNvPr id="21" name="Image 2" descr="ellipse">    </p:cNvPr>
          <p:cNvPicPr>
            <a:picLocks noChangeAspect="1"/>
          </p:cNvPicPr>
          <p:nvPr/>
        </p:nvPicPr>
        <p:blipFill>
          <a:blip r:embed="rId3"/>
          <a:srcRect l="0" r="0" t="0" b="0"/>
          <a:stretch/>
        </p:blipFill>
        <p:spPr>
          <a:xfrm>
            <a:off x="0" y="-918865"/>
            <a:ext cx="7061101" cy="7061101"/>
          </a:xfrm>
          <a:prstGeom prst="rect">
            <a:avLst/>
          </a:prstGeom>
        </p:spPr>
      </p:pic>
      <p:pic>
        <p:nvPicPr>
          <p:cNvPr id="22" name="Image 3" descr="ellipse">    </p:cNvPr>
          <p:cNvPicPr>
            <a:picLocks noChangeAspect="1"/>
          </p:cNvPicPr>
          <p:nvPr/>
        </p:nvPicPr>
        <p:blipFill>
          <a:blip r:embed="rId4"/>
          <a:srcRect l="0" r="0" t="0" b="0"/>
          <a:stretch/>
        </p:blipFill>
        <p:spPr>
          <a:xfrm>
            <a:off x="0" y="-2062014"/>
            <a:ext cx="9347200" cy="93472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TURN TO A NEIGHBOUR · 2 MIN</a:t>
            </a:r>
            <a:endParaRPr lang="en-US" sz="1200" dirty="0"/>
          </a:p>
        </p:txBody>
      </p:sp>
      <p:sp>
        <p:nvSpPr>
          <p:cNvPr id="3" name="Text 1"/>
          <p:cNvSpPr/>
          <p:nvPr>
            <p:ph type="title"/>
          </p:nvPr>
        </p:nvSpPr>
        <p:spPr>
          <a:xfrm>
            <a:off x="812800" y="2994670"/>
            <a:ext cx="9810750" cy="64006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F2F1EC"/>
                </a:solidFill>
                <a:latin typeface="JetBrains Mono" pitchFamily="49" charset="0"/>
                <a:ea typeface="JetBrains Mono" pitchFamily="49" charset="-122"/>
                <a:cs typeface="JetBrains Mono" pitchFamily="49" charset="-120"/>
              </a:rPr>
              <a:t>What does this mean for us?</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PART 2 · DESIGNING FOR CONVERSATION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Measure what chat actually does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654350"/>
          <a:ext cx="5448300" cy="3187650"/>
        </p:xfrm>
        <a:graphic>
          <a:graphicData uri="http://schemas.openxmlformats.org/drawingml/2006/table">
            <a:tbl>
              <a:tblPr/>
              <a:tblGrid>
                <a:gridCol w="2724150"/>
                <a:gridCol w="2724150"/>
              </a:tblGrid>
              <a:tr h="637530">
                <a:tc>
                  <a:txBody>
                    <a:bodyPr/>
                    <a:lstStyle/>
                    <a:p>
                      <a:pPr indent="0" marL="0">
                        <a:lnSpc>
                          <a:spcPts val="2520"/>
                        </a:lnSpc>
                        <a:buNone/>
                      </a:pPr>
                      <a:r>
                        <a:rPr lang="en-US" sz="1800" dirty="0">
                          <a:solidFill>
                            <a:srgbClr val="8A8985"/>
                          </a:solidFill>
                          <a:latin typeface="JetBrains Mono" pitchFamily="49" charset="0"/>
                          <a:ea typeface="JetBrains Mono" pitchFamily="49" charset="-122"/>
                          <a:cs typeface="JetBrains Mono" pitchFamily="49" charset="-120"/>
                        </a:rPr>
                        <a:t>OLD METRIC</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555453"/>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555453"/>
                      </a:solidFill>
                      <a:prstDash val="solid"/>
                      <a:round/>
                      <a:headEnd type="none" w="med" len="med"/>
                      <a:tailEnd type="none" w="med" len="med"/>
                    </a:lnB>
                    <a:solidFill>
                      <a:srgbClr val="262625"/>
                    </a:solidFill>
                  </a:tcPr>
                </a:tc>
                <a:tc>
                  <a:txBody>
                    <a:bodyPr/>
                    <a:lstStyle/>
                    <a:p>
                      <a:pPr indent="0" marL="0">
                        <a:lnSpc>
                          <a:spcPts val="2520"/>
                        </a:lnSpc>
                        <a:buNone/>
                      </a:pPr>
                      <a:r>
                        <a:rPr lang="en-US" sz="1800" dirty="0">
                          <a:solidFill>
                            <a:srgbClr val="8DBAF6"/>
                          </a:solidFill>
                          <a:latin typeface="JetBrains Mono" pitchFamily="49" charset="0"/>
                          <a:ea typeface="JetBrains Mono" pitchFamily="49" charset="-122"/>
                          <a:cs typeface="JetBrains Mono" pitchFamily="49" charset="-120"/>
                        </a:rPr>
                        <a:t>NEW METRIC</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555453"/>
                      </a:solidFill>
                      <a:prstDash val="solid"/>
                      <a:round/>
                      <a:headEnd type="none" w="med" len="med"/>
                      <a:tailEnd type="none" w="med" len="med"/>
                    </a:lnL>
                    <a:lnR w="12700" cap="flat" cmpd="sng" algn="ctr">
                      <a:solidFill>
                        <a:srgbClr val="555453"/>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555453"/>
                      </a:solidFill>
                      <a:prstDash val="solid"/>
                      <a:round/>
                      <a:headEnd type="none" w="med" len="med"/>
                      <a:tailEnd type="none" w="med" len="med"/>
                    </a:lnB>
                    <a:solidFill>
                      <a:srgbClr val="262625"/>
                    </a:solidFill>
                  </a:tcPr>
                </a:tc>
              </a:tr>
              <a:tr h="637530">
                <a:tc>
                  <a:txBody>
                    <a:bodyPr/>
                    <a:lstStyle/>
                    <a:p>
                      <a:pPr indent="0" marL="0">
                        <a:lnSpc>
                          <a:spcPts val="2520"/>
                        </a:lnSpc>
                        <a:buNone/>
                      </a:pPr>
                      <a:r>
                        <a:rPr lang="en-US" sz="1800" dirty="0">
                          <a:solidFill>
                            <a:srgbClr val="8A8985"/>
                          </a:solidFill>
                          <a:latin typeface="JetBrains Mono" pitchFamily="49" charset="0"/>
                          <a:ea typeface="JetBrains Mono" pitchFamily="49" charset="-122"/>
                          <a:cs typeface="JetBrains Mono" pitchFamily="49" charset="-120"/>
                        </a:rPr>
                        <a:t>Click-through</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555453"/>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F2F1EC"/>
                          </a:solidFill>
                          <a:latin typeface="JetBrains Mono" pitchFamily="49" charset="0"/>
                          <a:ea typeface="JetBrains Mono" pitchFamily="49" charset="-122"/>
                          <a:cs typeface="JetBrains Mono" pitchFamily="49" charset="-120"/>
                        </a:rPr>
                        <a:t>Task success</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555453"/>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JetBrains Mono" pitchFamily="49" charset="0"/>
                          <a:ea typeface="JetBrains Mono" pitchFamily="49" charset="-122"/>
                          <a:cs typeface="JetBrains Mono" pitchFamily="49" charset="-120"/>
                        </a:rPr>
                        <a:t>Completion rate</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F2F1EC"/>
                          </a:solidFill>
                          <a:latin typeface="JetBrains Mono" pitchFamily="49" charset="0"/>
                          <a:ea typeface="JetBrains Mono" pitchFamily="49" charset="-122"/>
                          <a:cs typeface="JetBrains Mono" pitchFamily="49" charset="-120"/>
                        </a:rPr>
                        <a:t>Repair rate</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JetBrains Mono" pitchFamily="49" charset="0"/>
                          <a:ea typeface="JetBrains Mono" pitchFamily="49" charset="-122"/>
                          <a:cs typeface="JetBrains Mono" pitchFamily="49" charset="-120"/>
                        </a:rPr>
                        <a:t>Funnel drop-off</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F2F1EC"/>
                          </a:solidFill>
                          <a:latin typeface="JetBrains Mono" pitchFamily="49" charset="0"/>
                          <a:ea typeface="JetBrains Mono" pitchFamily="49" charset="-122"/>
                          <a:cs typeface="JetBrains Mono" pitchFamily="49" charset="-120"/>
                        </a:rPr>
                        <a:t>Escalation rate</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JetBrains Mono" pitchFamily="49" charset="0"/>
                          <a:ea typeface="JetBrains Mono" pitchFamily="49" charset="-122"/>
                          <a:cs typeface="JetBrains Mono" pitchFamily="49" charset="-120"/>
                        </a:rPr>
                        <a:t>Satisfaction score</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F2F1EC"/>
                          </a:solidFill>
                          <a:latin typeface="JetBrains Mono" pitchFamily="49" charset="0"/>
                          <a:ea typeface="JetBrains Mono" pitchFamily="49" charset="-122"/>
                          <a:cs typeface="JetBrains Mono" pitchFamily="49" charset="-120"/>
                        </a:rPr>
                        <a:t>Trust calibration</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bl>
          </a:graphicData>
        </a:graphic>
      </p:graphicFrame>
      <p:sp>
        <p:nvSpPr>
          <p:cNvPr id="5" name="Text 2"/>
          <p:cNvSpPr/>
          <p:nvPr/>
        </p:nvSpPr>
        <p:spPr>
          <a:xfrm>
            <a:off x="6680200" y="2998539"/>
            <a:ext cx="4839970"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2F1EC"/>
                </a:solidFill>
                <a:latin typeface="JetBrains Mono" pitchFamily="49" charset="0"/>
                <a:ea typeface="JetBrains Mono" pitchFamily="49" charset="-122"/>
                <a:cs typeface="JetBrains Mono" pitchFamily="49" charset="-120"/>
              </a:rPr>
              <a:t>Intent menus</a:t>
            </a:r>
            <a:r>
              <a:rPr lang="en-US" sz="1800" dirty="0">
                <a:solidFill>
                  <a:srgbClr val="F2F1EC"/>
                </a:solidFill>
                <a:latin typeface="JetBrains Mono" pitchFamily="49" charset="0"/>
                <a:ea typeface="JetBrains Mono" pitchFamily="49" charset="-122"/>
                <a:cs typeface="JetBrains Mono" pitchFamily="49" charset="-120"/>
              </a:rPr>
              <a:t> for high-stakes tasks. Chat for exploration.</a:t>
            </a:r>
            <a:endParaRPr lang="en-US" sz="1800" dirty="0"/>
          </a:p>
        </p:txBody>
      </p:sp>
      <p:sp>
        <p:nvSpPr>
          <p:cNvPr id="6" name="Text 3"/>
          <p:cNvSpPr/>
          <p:nvPr/>
        </p:nvSpPr>
        <p:spPr>
          <a:xfrm>
            <a:off x="6680200" y="3796060"/>
            <a:ext cx="4839970"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2F1EC"/>
                </a:solidFill>
                <a:latin typeface="JetBrains Mono" pitchFamily="49" charset="0"/>
                <a:ea typeface="JetBrains Mono" pitchFamily="49" charset="-122"/>
                <a:cs typeface="JetBrains Mono" pitchFamily="49" charset="-120"/>
              </a:rPr>
              <a:t>Prompts are interaction specs.</a:t>
            </a:r>
            <a:r>
              <a:rPr lang="en-US" sz="1800" dirty="0">
                <a:solidFill>
                  <a:srgbClr val="F2F1EC"/>
                </a:solidFill>
                <a:latin typeface="JetBrains Mono" pitchFamily="49" charset="0"/>
                <a:ea typeface="JetBrains Mono" pitchFamily="49" charset="-122"/>
                <a:cs typeface="JetBrains Mono" pitchFamily="49" charset="-120"/>
              </a:rPr>
              <a:t> Version, review and test them.</a:t>
            </a:r>
            <a:endParaRPr lang="en-US" sz="1800" dirty="0"/>
          </a:p>
        </p:txBody>
      </p:sp>
      <p:sp>
        <p:nvSpPr>
          <p:cNvPr id="7" name="Text 4"/>
          <p:cNvSpPr/>
          <p:nvPr/>
        </p:nvSpPr>
        <p:spPr>
          <a:xfrm>
            <a:off x="6680200" y="4593580"/>
            <a:ext cx="4839970" cy="9168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2F1EC"/>
                </a:solidFill>
                <a:latin typeface="JetBrains Mono" pitchFamily="49" charset="0"/>
                <a:ea typeface="JetBrains Mono" pitchFamily="49" charset="-122"/>
                <a:cs typeface="JetBrains Mono" pitchFamily="49" charset="-120"/>
              </a:rPr>
              <a:t>Show uncertainty:</a:t>
            </a:r>
            <a:r>
              <a:rPr lang="en-US" sz="1800" dirty="0">
                <a:solidFill>
                  <a:srgbClr val="F2F1EC"/>
                </a:solidFill>
                <a:latin typeface="JetBrains Mono" pitchFamily="49" charset="0"/>
                <a:ea typeface="JetBrains Mono" pitchFamily="49" charset="-122"/>
                <a:cs typeface="JetBrains Mono" pitchFamily="49" charset="-120"/>
              </a:rPr>
              <a:t> colour-coded sources, non-numeric relevance, adaptive hedging.</a:t>
            </a:r>
            <a:endParaRPr lang="en-US" sz="1800" dirty="0"/>
          </a:p>
        </p:txBody>
      </p:sp>
      <p:sp>
        <p:nvSpPr>
          <p:cNvPr id="8" name="Text 5"/>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REEKEN, SALOUS &amp; ABDENEBAOUI, CUI '25</a:t>
            </a:r>
            <a:endParaRPr lang="en-US" sz="1200" dirty="0"/>
          </a:p>
        </p:txBody>
      </p:sp>
      <p:sp>
        <p:nvSpPr>
          <p:cNvPr id="9" name="Text 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19 / 31</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WORKED EXAMPLE · ANTHROPOMORPHISM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Trust without fixing what erodes it?</a:t>
            </a:r>
            <a:endParaRPr lang="en-US" sz="3600" dirty="0"/>
          </a:p>
        </p:txBody>
      </p:sp>
      <p:sp>
        <p:nvSpPr>
          <p:cNvPr id="4" name="Shape 2"/>
          <p:cNvSpPr/>
          <p:nvPr/>
        </p:nvSpPr>
        <p:spPr>
          <a:xfrm>
            <a:off x="812800" y="1887786"/>
            <a:ext cx="3454400" cy="0"/>
          </a:xfrm>
          <a:prstGeom prst="line">
            <a:avLst/>
          </a:prstGeom>
          <a:noFill/>
          <a:ln w="6350">
            <a:solidFill>
              <a:srgbClr val="33332F"/>
            </a:solidFill>
            <a:prstDash val="solid"/>
          </a:ln>
        </p:spPr>
      </p:sp>
      <p:sp>
        <p:nvSpPr>
          <p:cNvPr id="5" name="Text 3"/>
          <p:cNvSpPr/>
          <p:nvPr/>
        </p:nvSpPr>
        <p:spPr>
          <a:xfrm>
            <a:off x="812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1 · OBSERVE</a:t>
            </a:r>
            <a:endParaRPr lang="en-US" sz="1200" dirty="0"/>
          </a:p>
        </p:txBody>
      </p:sp>
      <p:sp>
        <p:nvSpPr>
          <p:cNvPr id="6" name="Text 4"/>
          <p:cNvSpPr/>
          <p:nvPr/>
        </p:nvSpPr>
        <p:spPr>
          <a:xfrm>
            <a:off x="812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AI companions get bodies, faces and personalities.</a:t>
            </a:r>
            <a:endParaRPr lang="en-US" sz="1400" dirty="0"/>
          </a:p>
        </p:txBody>
      </p:sp>
      <p:sp>
        <p:nvSpPr>
          <p:cNvPr id="7" name="Shape 5"/>
          <p:cNvSpPr/>
          <p:nvPr/>
        </p:nvSpPr>
        <p:spPr>
          <a:xfrm>
            <a:off x="4368800" y="1887786"/>
            <a:ext cx="3454400" cy="0"/>
          </a:xfrm>
          <a:prstGeom prst="line">
            <a:avLst/>
          </a:prstGeom>
          <a:noFill/>
          <a:ln w="6350">
            <a:solidFill>
              <a:srgbClr val="33332F"/>
            </a:solidFill>
            <a:prstDash val="solid"/>
          </a:ln>
        </p:spPr>
      </p:sp>
      <p:sp>
        <p:nvSpPr>
          <p:cNvPr id="8" name="Text 6"/>
          <p:cNvSpPr/>
          <p:nvPr/>
        </p:nvSpPr>
        <p:spPr>
          <a:xfrm>
            <a:off x="4368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2 · LITERATURE</a:t>
            </a:r>
            <a:endParaRPr lang="en-US" sz="1200" dirty="0"/>
          </a:p>
        </p:txBody>
      </p:sp>
      <p:sp>
        <p:nvSpPr>
          <p:cNvPr id="9" name="Text 7"/>
          <p:cNvSpPr/>
          <p:nvPr/>
        </p:nvSpPr>
        <p:spPr>
          <a:xfrm>
            <a:off x="4368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CASA, ELIZA and the Media Equation: well studied.</a:t>
            </a:r>
            <a:endParaRPr lang="en-US" sz="1400" dirty="0"/>
          </a:p>
        </p:txBody>
      </p:sp>
      <p:sp>
        <p:nvSpPr>
          <p:cNvPr id="10" name="Shape 8"/>
          <p:cNvSpPr/>
          <p:nvPr/>
        </p:nvSpPr>
        <p:spPr>
          <a:xfrm>
            <a:off x="7924800" y="1887786"/>
            <a:ext cx="3454400" cy="0"/>
          </a:xfrm>
          <a:prstGeom prst="line">
            <a:avLst/>
          </a:prstGeom>
          <a:noFill/>
          <a:ln w="6350">
            <a:solidFill>
              <a:srgbClr val="33332F"/>
            </a:solidFill>
            <a:prstDash val="solid"/>
          </a:ln>
        </p:spPr>
      </p:sp>
      <p:sp>
        <p:nvSpPr>
          <p:cNvPr id="11" name="Text 9"/>
          <p:cNvSpPr/>
          <p:nvPr/>
        </p:nvSpPr>
        <p:spPr>
          <a:xfrm>
            <a:off x="7924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3 · LINEAGE</a:t>
            </a:r>
            <a:endParaRPr lang="en-US" sz="1200" dirty="0"/>
          </a:p>
        </p:txBody>
      </p:sp>
      <p:sp>
        <p:nvSpPr>
          <p:cNvPr id="12" name="Text 10"/>
          <p:cNvSpPr/>
          <p:nvPr/>
        </p:nvSpPr>
        <p:spPr>
          <a:xfrm>
            <a:off x="7924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Psychology of anthropomorphism, HCI, attachment.</a:t>
            </a:r>
            <a:endParaRPr lang="en-US" sz="1400" dirty="0"/>
          </a:p>
        </p:txBody>
      </p:sp>
      <p:sp>
        <p:nvSpPr>
          <p:cNvPr id="13" name="Shape 11"/>
          <p:cNvSpPr/>
          <p:nvPr/>
        </p:nvSpPr>
        <p:spPr>
          <a:xfrm>
            <a:off x="812800" y="2988816"/>
            <a:ext cx="3454400" cy="0"/>
          </a:xfrm>
          <a:prstGeom prst="line">
            <a:avLst/>
          </a:prstGeom>
          <a:noFill/>
          <a:ln w="6350">
            <a:solidFill>
              <a:srgbClr val="33332F"/>
            </a:solidFill>
            <a:prstDash val="solid"/>
          </a:ln>
        </p:spPr>
      </p:sp>
      <p:sp>
        <p:nvSpPr>
          <p:cNvPr id="14" name="Text 12"/>
          <p:cNvSpPr/>
          <p:nvPr/>
        </p:nvSpPr>
        <p:spPr>
          <a:xfrm>
            <a:off x="812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4 · PRECEDENTS</a:t>
            </a:r>
            <a:endParaRPr lang="en-US" sz="1200" dirty="0"/>
          </a:p>
        </p:txBody>
      </p:sp>
      <p:sp>
        <p:nvSpPr>
          <p:cNvPr id="15" name="Text 13"/>
          <p:cNvSpPr/>
          <p:nvPr/>
        </p:nvSpPr>
        <p:spPr>
          <a:xfrm>
            <a:off x="812800" y="339581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ELIZA, Clippy, Mico. Personality without capability fails.</a:t>
            </a:r>
            <a:endParaRPr lang="en-US" sz="1400" dirty="0"/>
          </a:p>
        </p:txBody>
      </p:sp>
      <p:sp>
        <p:nvSpPr>
          <p:cNvPr id="16" name="Shape 14"/>
          <p:cNvSpPr/>
          <p:nvPr/>
        </p:nvSpPr>
        <p:spPr>
          <a:xfrm>
            <a:off x="4368800" y="2988816"/>
            <a:ext cx="3454400" cy="0"/>
          </a:xfrm>
          <a:prstGeom prst="line">
            <a:avLst/>
          </a:prstGeom>
          <a:noFill/>
          <a:ln w="6350">
            <a:solidFill>
              <a:srgbClr val="33332F"/>
            </a:solidFill>
            <a:prstDash val="solid"/>
          </a:ln>
        </p:spPr>
      </p:sp>
      <p:sp>
        <p:nvSpPr>
          <p:cNvPr id="17" name="Text 15"/>
          <p:cNvSpPr/>
          <p:nvPr/>
        </p:nvSpPr>
        <p:spPr>
          <a:xfrm>
            <a:off x="4368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5 · OUTCOME</a:t>
            </a:r>
            <a:endParaRPr lang="en-US" sz="1200" dirty="0"/>
          </a:p>
        </p:txBody>
      </p:sp>
      <p:sp>
        <p:nvSpPr>
          <p:cNvPr id="18" name="Text 16"/>
          <p:cNvSpPr/>
          <p:nvPr/>
        </p:nvSpPr>
        <p:spPr>
          <a:xfrm>
            <a:off x="4368800" y="339581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More trust, access and connection, honestly earned.</a:t>
            </a:r>
            <a:endParaRPr lang="en-US" sz="1400" dirty="0"/>
          </a:p>
        </p:txBody>
      </p:sp>
      <p:sp>
        <p:nvSpPr>
          <p:cNvPr id="19" name="Shape 17"/>
          <p:cNvSpPr/>
          <p:nvPr/>
        </p:nvSpPr>
        <p:spPr>
          <a:xfrm>
            <a:off x="7924800" y="2988816"/>
            <a:ext cx="3454400" cy="0"/>
          </a:xfrm>
          <a:prstGeom prst="line">
            <a:avLst/>
          </a:prstGeom>
          <a:noFill/>
          <a:ln w="6350">
            <a:solidFill>
              <a:srgbClr val="FF6A4D"/>
            </a:solidFill>
            <a:prstDash val="solid"/>
          </a:ln>
        </p:spPr>
      </p:sp>
      <p:sp>
        <p:nvSpPr>
          <p:cNvPr id="20" name="Text 18"/>
          <p:cNvSpPr/>
          <p:nvPr/>
        </p:nvSpPr>
        <p:spPr>
          <a:xfrm>
            <a:off x="7924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6A4D"/>
                </a:solidFill>
                <a:latin typeface="JetBrains Mono" pitchFamily="49" charset="0"/>
                <a:ea typeface="JetBrains Mono" pitchFamily="49" charset="-122"/>
                <a:cs typeface="JetBrains Mono" pitchFamily="49" charset="-120"/>
              </a:rPr>
              <a:t>6 · TENSION</a:t>
            </a:r>
            <a:endParaRPr lang="en-US" sz="1200" dirty="0"/>
          </a:p>
        </p:txBody>
      </p:sp>
      <p:sp>
        <p:nvSpPr>
          <p:cNvPr id="21" name="Text 19"/>
          <p:cNvSpPr/>
          <p:nvPr/>
        </p:nvSpPr>
        <p:spPr>
          <a:xfrm>
            <a:off x="7924800" y="3395811"/>
            <a:ext cx="3558032"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A friendlier face can mask a system that shouldn't be trusted.</a:t>
            </a:r>
            <a:endParaRPr lang="en-US" sz="1400" dirty="0"/>
          </a:p>
        </p:txBody>
      </p:sp>
      <p:sp>
        <p:nvSpPr>
          <p:cNvPr id="22" name="Shape 20"/>
          <p:cNvSpPr/>
          <p:nvPr/>
        </p:nvSpPr>
        <p:spPr>
          <a:xfrm>
            <a:off x="812800" y="4320977"/>
            <a:ext cx="3454400" cy="0"/>
          </a:xfrm>
          <a:prstGeom prst="line">
            <a:avLst/>
          </a:prstGeom>
          <a:noFill/>
          <a:ln w="6350">
            <a:solidFill>
              <a:srgbClr val="33332F"/>
            </a:solidFill>
            <a:prstDash val="solid"/>
          </a:ln>
        </p:spPr>
      </p:sp>
      <p:sp>
        <p:nvSpPr>
          <p:cNvPr id="23" name="Text 21"/>
          <p:cNvSpPr/>
          <p:nvPr/>
        </p:nvSpPr>
        <p:spPr>
          <a:xfrm>
            <a:off x="812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7 · EVALUATION</a:t>
            </a:r>
            <a:endParaRPr lang="en-US" sz="1200" dirty="0"/>
          </a:p>
        </p:txBody>
      </p:sp>
      <p:sp>
        <p:nvSpPr>
          <p:cNvPr id="24" name="Text 22"/>
          <p:cNvSpPr/>
          <p:nvPr/>
        </p:nvSpPr>
        <p:spPr>
          <a:xfrm>
            <a:off x="812800" y="4727972"/>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ImpactBench, the CHI harms taxonomy, trust calibration.</a:t>
            </a:r>
            <a:endParaRPr lang="en-US" sz="1400" dirty="0"/>
          </a:p>
        </p:txBody>
      </p:sp>
      <p:sp>
        <p:nvSpPr>
          <p:cNvPr id="25" name="Shape 23"/>
          <p:cNvSpPr/>
          <p:nvPr/>
        </p:nvSpPr>
        <p:spPr>
          <a:xfrm>
            <a:off x="4368800" y="4320977"/>
            <a:ext cx="3454400" cy="0"/>
          </a:xfrm>
          <a:prstGeom prst="line">
            <a:avLst/>
          </a:prstGeom>
          <a:noFill/>
          <a:ln w="6350">
            <a:solidFill>
              <a:srgbClr val="33332F"/>
            </a:solidFill>
            <a:prstDash val="solid"/>
          </a:ln>
        </p:spPr>
      </p:sp>
      <p:sp>
        <p:nvSpPr>
          <p:cNvPr id="26" name="Text 24"/>
          <p:cNvSpPr/>
          <p:nvPr/>
        </p:nvSpPr>
        <p:spPr>
          <a:xfrm>
            <a:off x="4368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8 · SCIENCE</a:t>
            </a:r>
            <a:endParaRPr lang="en-US" sz="1200" dirty="0"/>
          </a:p>
        </p:txBody>
      </p:sp>
      <p:sp>
        <p:nvSpPr>
          <p:cNvPr id="27" name="Text 25"/>
          <p:cNvSpPr/>
          <p:nvPr/>
        </p:nvSpPr>
        <p:spPr>
          <a:xfrm>
            <a:off x="4368800" y="4727972"/>
            <a:ext cx="3558032"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Shneiderman on control, Gabriel on values, Nass on mindless response.</a:t>
            </a:r>
            <a:endParaRPr lang="en-US" sz="1400" dirty="0"/>
          </a:p>
        </p:txBody>
      </p:sp>
      <p:sp>
        <p:nvSpPr>
          <p:cNvPr id="28" name="Shape 26"/>
          <p:cNvSpPr/>
          <p:nvPr/>
        </p:nvSpPr>
        <p:spPr>
          <a:xfrm>
            <a:off x="7924800" y="4320977"/>
            <a:ext cx="3454400" cy="0"/>
          </a:xfrm>
          <a:prstGeom prst="line">
            <a:avLst/>
          </a:prstGeom>
          <a:noFill/>
          <a:ln w="6350">
            <a:solidFill>
              <a:srgbClr val="E8BD78"/>
            </a:solidFill>
            <a:prstDash val="solid"/>
          </a:ln>
        </p:spPr>
      </p:sp>
      <p:sp>
        <p:nvSpPr>
          <p:cNvPr id="29" name="Text 27"/>
          <p:cNvSpPr/>
          <p:nvPr/>
        </p:nvSpPr>
        <p:spPr>
          <a:xfrm>
            <a:off x="7924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9 · NAME IT, SHARE IT</a:t>
            </a:r>
            <a:endParaRPr lang="en-US" sz="1200" dirty="0"/>
          </a:p>
        </p:txBody>
      </p:sp>
      <p:sp>
        <p:nvSpPr>
          <p:cNvPr id="30" name="Text 28"/>
          <p:cNvSpPr/>
          <p:nvPr/>
        </p:nvSpPr>
        <p:spPr>
          <a:xfrm>
            <a:off x="7924800" y="4727972"/>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Publish where relational design helps, and where it harms.</a:t>
            </a:r>
            <a:endParaRPr lang="en-US" sz="1400" dirty="0"/>
          </a:p>
        </p:txBody>
      </p:sp>
      <p:sp>
        <p:nvSpPr>
          <p:cNvPr id="31" name="Text 2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2" name="Text 3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24 / 31</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812800" y="812800"/>
            <a:ext cx="5029200" cy="5029200"/>
          </a:xfrm>
          <a:prstGeom prst="roundRect">
            <a:avLst>
              <a:gd name="adj" fmla="val 1010"/>
            </a:avLst>
          </a:prstGeom>
          <a:solidFill>
            <a:srgbClr val="EFECE4"/>
          </a:solidFill>
          <a:ln/>
        </p:spPr>
      </p:sp>
      <p:pic>
        <p:nvPicPr>
          <p:cNvPr id="3" name="Image 0" descr="Fieldwork sketch: a designer reaching users and other people through a research tool, versus a designer embedded in context through ethnography">    </p:cNvPr>
          <p:cNvPicPr>
            <a:picLocks noChangeAspect="1"/>
          </p:cNvPicPr>
          <p:nvPr/>
        </p:nvPicPr>
        <p:blipFill>
          <a:blip r:embed="rId1"/>
          <a:stretch>
            <a:fillRect/>
          </a:stretch>
        </p:blipFill>
        <p:spPr>
          <a:xfrm>
            <a:off x="812800" y="847908"/>
            <a:ext cx="5029200" cy="4958984"/>
          </a:xfrm>
          <a:custGeom>
            <a:avLst/>
            <a:gdLst/>
            <a:ahLst/>
            <a:cxnLst/>
            <a:rect l="l" t="t" r="r" b="b"/>
            <a:pathLst>
              <a:path w="5029200" h="4958984">
                <a:moveTo>
                  <a:pt x="0" y="15692"/>
                </a:moveTo>
                <a:arcTo wR="50800" hR="50800" stAng="10800000" swAng="1079579"/>
                <a:lnTo>
                  <a:pt x="5026716" y="0"/>
                </a:lnTo>
                <a:arcTo wR="50800" hR="50800" stAng="20520421" swAng="1079579"/>
                <a:lnTo>
                  <a:pt x="5029200" y="4943292"/>
                </a:lnTo>
                <a:arcTo wR="50800" hR="50800" stAng="0" swAng="1079579"/>
                <a:lnTo>
                  <a:pt x="2484" y="4958984"/>
                </a:lnTo>
                <a:arcTo wR="50800" hR="50800" stAng="9720421" swAng="1079579"/>
                <a:close/>
              </a:path>
            </a:pathLst>
          </a:custGeom>
        </p:spPr>
      </p:pic>
      <p:sp>
        <p:nvSpPr>
          <p:cNvPr id="4" name="Text 1"/>
          <p:cNvSpPr/>
          <p:nvPr/>
        </p:nvSpPr>
        <p:spPr>
          <a:xfrm>
            <a:off x="6451600" y="81280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PART 3 · A HUMANITY-CENTRED LENS</a:t>
            </a:r>
            <a:endParaRPr lang="en-US" sz="1200" dirty="0"/>
          </a:p>
        </p:txBody>
      </p:sp>
      <p:sp>
        <p:nvSpPr>
          <p:cNvPr id="5" name="Text 2"/>
          <p:cNvSpPr/>
          <p:nvPr>
            <p:ph type="title"/>
          </p:nvPr>
        </p:nvSpPr>
        <p:spPr>
          <a:xfrm>
            <a:off x="6451600" y="1127720"/>
            <a:ext cx="5075428" cy="843260"/>
          </a:xfrm>
          <a:prstGeom prst="rect">
            <a:avLst/>
          </a:prstGeom>
          <a:noFill/>
          <a:ln/>
        </p:spPr>
        <p:txBody>
          <a:bodyPr wrap="square" lIns="0" tIns="0" rIns="0" bIns="0" rtlCol="0" anchor="t">
            <a:normAutofit/>
          </a:bodyPr>
          <a:lstStyle/>
          <a:p>
            <a:pPr algn="l" indent="0" marL="0">
              <a:lnSpc>
                <a:spcPts val="3220"/>
              </a:lnSpc>
              <a:buNone/>
            </a:pPr>
            <a:r>
              <a:rPr lang="en-US" sz="2800" b="0" i="0" spc="-50" kern="0" dirty="0">
                <a:solidFill>
                  <a:srgbClr val="F2F1EC"/>
                </a:solidFill>
                <a:latin typeface="JetBrains Mono" pitchFamily="49" charset="0"/>
                <a:ea typeface="JetBrains Mono" pitchFamily="49" charset="-122"/>
                <a:cs typeface="JetBrains Mono" pitchFamily="49" charset="-120"/>
              </a:rPr>
              <a:t>Tools shape how we understand the world</a:t>
            </a:r>
            <a:endParaRPr lang="en-US" sz="2800" dirty="0"/>
          </a:p>
        </p:txBody>
      </p:sp>
      <p:sp>
        <p:nvSpPr>
          <p:cNvPr id="6" name="Text 3"/>
          <p:cNvSpPr/>
          <p:nvPr/>
        </p:nvSpPr>
        <p:spPr>
          <a:xfrm>
            <a:off x="6451600" y="3804940"/>
            <a:ext cx="5075428" cy="1198860"/>
          </a:xfrm>
          <a:prstGeom prst="rect">
            <a:avLst/>
          </a:prstGeom>
          <a:noFill/>
          <a:ln/>
        </p:spPr>
        <p:txBody>
          <a:bodyPr wrap="square" lIns="0" tIns="0" rIns="0" bIns="0" rtlCol="0" anchor="t">
            <a:normAutofit/>
          </a:bodyPr>
          <a:lstStyle/>
          <a:p>
            <a:pPr algn="l" indent="0" marL="0">
              <a:lnSpc>
                <a:spcPts val="4620"/>
              </a:lnSpc>
              <a:buNone/>
            </a:pPr>
            <a:r>
              <a:rPr lang="en-US" sz="4400" spc="-100" kern="0" dirty="0">
                <a:solidFill>
                  <a:srgbClr val="E8BD78"/>
                </a:solidFill>
                <a:latin typeface="JetBrains Mono" pitchFamily="49" charset="0"/>
                <a:ea typeface="JetBrains Mono" pitchFamily="49" charset="-122"/>
                <a:cs typeface="JetBrains Mono" pitchFamily="49" charset="-120"/>
              </a:rPr>
              <a:t>More data ≠ feeling heard</a:t>
            </a:r>
            <a:endParaRPr lang="en-US" sz="4400" dirty="0"/>
          </a:p>
        </p:txBody>
      </p:sp>
      <p:sp>
        <p:nvSpPr>
          <p:cNvPr id="7" name="Text 4"/>
          <p:cNvSpPr/>
          <p:nvPr/>
        </p:nvSpPr>
        <p:spPr>
          <a:xfrm>
            <a:off x="6451600" y="5181600"/>
            <a:ext cx="507542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JetBrains Mono" pitchFamily="49" charset="0"/>
                <a:ea typeface="JetBrains Mono" pitchFamily="49" charset="-122"/>
                <a:cs typeface="JetBrains Mono" pitchFamily="49" charset="-120"/>
              </a:rPr>
              <a:t>Feeling heard takes trust. Trust takes people.</a:t>
            </a:r>
            <a:endParaRPr lang="en-US" sz="2000" dirty="0"/>
          </a:p>
        </p:txBody>
      </p:sp>
      <p:sp>
        <p:nvSpPr>
          <p:cNvPr id="8" name="Text 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9" name="Text 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SHIFT 1 — WHERE THIS IS GOING</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From social actors</a:t>
            </a:r>
            <a:endParaRPr lang="en-US" sz="3600" dirty="0"/>
          </a:p>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to social stand-ins</a:t>
            </a:r>
            <a:endParaRPr lang="en-US" sz="3600" dirty="0"/>
          </a:p>
        </p:txBody>
      </p:sp>
      <p:sp>
        <p:nvSpPr>
          <p:cNvPr id="4" name="Shape 2"/>
          <p:cNvSpPr/>
          <p:nvPr/>
        </p:nvSpPr>
        <p:spPr>
          <a:xfrm>
            <a:off x="812800" y="2781350"/>
            <a:ext cx="3196580" cy="0"/>
          </a:xfrm>
          <a:prstGeom prst="line">
            <a:avLst/>
          </a:prstGeom>
          <a:noFill/>
          <a:ln w="12700">
            <a:solidFill>
              <a:srgbClr val="B7ADFF"/>
            </a:solidFill>
            <a:prstDash val="solid"/>
          </a:ln>
        </p:spPr>
      </p:sp>
      <p:sp>
        <p:nvSpPr>
          <p:cNvPr id="5" name="Text 3"/>
          <p:cNvSpPr/>
          <p:nvPr/>
        </p:nvSpPr>
        <p:spPr>
          <a:xfrm>
            <a:off x="812800" y="2965500"/>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1966 – 1994</a:t>
            </a:r>
            <a:endParaRPr lang="en-US" sz="1200" dirty="0"/>
          </a:p>
        </p:txBody>
      </p:sp>
      <p:sp>
        <p:nvSpPr>
          <p:cNvPr id="6" name="Text 4"/>
          <p:cNvSpPr/>
          <p:nvPr/>
        </p:nvSpPr>
        <p:spPr>
          <a:xfrm>
            <a:off x="812800" y="3305820"/>
            <a:ext cx="3292477"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Treated as people</a:t>
            </a:r>
            <a:endParaRPr lang="en-US" sz="2400" dirty="0"/>
          </a:p>
        </p:txBody>
      </p:sp>
      <p:sp>
        <p:nvSpPr>
          <p:cNvPr id="7" name="Text 5"/>
          <p:cNvSpPr/>
          <p:nvPr/>
        </p:nvSpPr>
        <p:spPr>
          <a:xfrm>
            <a:off x="812800" y="3798540"/>
            <a:ext cx="329247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ELIZA · CASA</a:t>
            </a:r>
            <a:endParaRPr lang="en-US" sz="1600" dirty="0"/>
          </a:p>
        </p:txBody>
      </p:sp>
      <p:sp>
        <p:nvSpPr>
          <p:cNvPr id="8" name="Text 6"/>
          <p:cNvSpPr/>
          <p:nvPr/>
        </p:nvSpPr>
        <p:spPr>
          <a:xfrm>
            <a:off x="4161780" y="3232200"/>
            <a:ext cx="234305" cy="123175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9" name="Shape 7"/>
          <p:cNvSpPr/>
          <p:nvPr/>
        </p:nvSpPr>
        <p:spPr>
          <a:xfrm>
            <a:off x="4497685" y="2781350"/>
            <a:ext cx="3196630" cy="0"/>
          </a:xfrm>
          <a:prstGeom prst="line">
            <a:avLst/>
          </a:prstGeom>
          <a:noFill/>
          <a:ln w="12700">
            <a:solidFill>
              <a:srgbClr val="B7ADFF"/>
            </a:solidFill>
            <a:prstDash val="solid"/>
          </a:ln>
        </p:spPr>
      </p:sp>
      <p:sp>
        <p:nvSpPr>
          <p:cNvPr id="10" name="Text 8"/>
          <p:cNvSpPr/>
          <p:nvPr/>
        </p:nvSpPr>
        <p:spPr>
          <a:xfrm>
            <a:off x="4497685" y="2965500"/>
            <a:ext cx="32925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1997 – 2025</a:t>
            </a:r>
            <a:endParaRPr lang="en-US" sz="1200" dirty="0"/>
          </a:p>
        </p:txBody>
      </p:sp>
      <p:sp>
        <p:nvSpPr>
          <p:cNvPr id="11" name="Text 9"/>
          <p:cNvSpPr/>
          <p:nvPr/>
        </p:nvSpPr>
        <p:spPr>
          <a:xfrm>
            <a:off x="4497685" y="3305820"/>
            <a:ext cx="329252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Designed as people</a:t>
            </a:r>
            <a:endParaRPr lang="en-US" sz="2400" dirty="0"/>
          </a:p>
        </p:txBody>
      </p:sp>
      <p:sp>
        <p:nvSpPr>
          <p:cNvPr id="12" name="Text 10"/>
          <p:cNvSpPr/>
          <p:nvPr/>
        </p:nvSpPr>
        <p:spPr>
          <a:xfrm>
            <a:off x="4497685" y="4164261"/>
            <a:ext cx="3292529"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Clippy · Mico</a:t>
            </a:r>
            <a:endParaRPr lang="en-US" sz="1600" dirty="0"/>
          </a:p>
        </p:txBody>
      </p:sp>
      <p:sp>
        <p:nvSpPr>
          <p:cNvPr id="13" name="Text 11"/>
          <p:cNvSpPr/>
          <p:nvPr/>
        </p:nvSpPr>
        <p:spPr>
          <a:xfrm>
            <a:off x="7846715" y="3232200"/>
            <a:ext cx="234305" cy="123175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14" name="Shape 12"/>
          <p:cNvSpPr/>
          <p:nvPr/>
        </p:nvSpPr>
        <p:spPr>
          <a:xfrm>
            <a:off x="8182620" y="2781350"/>
            <a:ext cx="3196580" cy="0"/>
          </a:xfrm>
          <a:prstGeom prst="line">
            <a:avLst/>
          </a:prstGeom>
          <a:noFill/>
          <a:ln w="12700">
            <a:solidFill>
              <a:srgbClr val="E8BD78"/>
            </a:solidFill>
            <a:prstDash val="solid"/>
          </a:ln>
        </p:spPr>
      </p:sp>
      <p:sp>
        <p:nvSpPr>
          <p:cNvPr id="15" name="Text 13"/>
          <p:cNvSpPr/>
          <p:nvPr/>
        </p:nvSpPr>
        <p:spPr>
          <a:xfrm>
            <a:off x="8182620" y="2965500"/>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NOW</a:t>
            </a:r>
            <a:endParaRPr lang="en-US" sz="1200" dirty="0"/>
          </a:p>
        </p:txBody>
      </p:sp>
      <p:sp>
        <p:nvSpPr>
          <p:cNvPr id="16" name="Text 14"/>
          <p:cNvSpPr/>
          <p:nvPr/>
        </p:nvSpPr>
        <p:spPr>
          <a:xfrm>
            <a:off x="8182620" y="3305820"/>
            <a:ext cx="3292477"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Standing in for people</a:t>
            </a:r>
            <a:endParaRPr lang="en-US" sz="2400" dirty="0"/>
          </a:p>
        </p:txBody>
      </p:sp>
      <p:sp>
        <p:nvSpPr>
          <p:cNvPr id="17" name="Text 15"/>
          <p:cNvSpPr/>
          <p:nvPr/>
        </p:nvSpPr>
        <p:spPr>
          <a:xfrm>
            <a:off x="8182620" y="4164261"/>
            <a:ext cx="329247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Companions that can act</a:t>
            </a:r>
            <a:endParaRPr lang="en-US" sz="1600" dirty="0"/>
          </a:p>
        </p:txBody>
      </p:sp>
      <p:sp>
        <p:nvSpPr>
          <p:cNvPr id="18" name="Text 16"/>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They begin to replace the conversations we would have with each other.</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ARGUMENT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Behaviour changed. Work changed.</a:t>
            </a:r>
            <a:endParaRPr lang="en-US" sz="3600" dirty="0"/>
          </a:p>
        </p:txBody>
      </p:sp>
      <p:sp>
        <p:nvSpPr>
          <p:cNvPr id="4" name="Shape 2"/>
          <p:cNvSpPr/>
          <p:nvPr/>
        </p:nvSpPr>
        <p:spPr>
          <a:xfrm>
            <a:off x="812800" y="2517180"/>
            <a:ext cx="3386634" cy="0"/>
          </a:xfrm>
          <a:prstGeom prst="line">
            <a:avLst/>
          </a:prstGeom>
          <a:noFill/>
          <a:ln w="12700">
            <a:solidFill>
              <a:srgbClr val="B7ADFF"/>
            </a:solidFill>
            <a:prstDash val="solid"/>
          </a:ln>
        </p:spPr>
      </p:sp>
      <p:sp>
        <p:nvSpPr>
          <p:cNvPr id="5" name="Text 3"/>
          <p:cNvSpPr/>
          <p:nvPr/>
        </p:nvSpPr>
        <p:spPr>
          <a:xfrm>
            <a:off x="812800" y="2675930"/>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SHIFT 1 · BEHAVIOUR</a:t>
            </a:r>
            <a:endParaRPr lang="en-US" sz="1200" dirty="0"/>
          </a:p>
        </p:txBody>
      </p:sp>
      <p:sp>
        <p:nvSpPr>
          <p:cNvPr id="6" name="Text 4"/>
          <p:cNvSpPr/>
          <p:nvPr/>
        </p:nvSpPr>
        <p:spPr>
          <a:xfrm>
            <a:off x="812800" y="2990850"/>
            <a:ext cx="3488233"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AI gets a body</a:t>
            </a:r>
            <a:endParaRPr lang="en-US" sz="2400" dirty="0"/>
          </a:p>
        </p:txBody>
      </p:sp>
      <p:sp>
        <p:nvSpPr>
          <p:cNvPr id="7" name="Shape 5"/>
          <p:cNvSpPr/>
          <p:nvPr/>
        </p:nvSpPr>
        <p:spPr>
          <a:xfrm>
            <a:off x="4402634" y="2517180"/>
            <a:ext cx="3386683" cy="0"/>
          </a:xfrm>
          <a:prstGeom prst="line">
            <a:avLst/>
          </a:prstGeom>
          <a:noFill/>
          <a:ln w="12700">
            <a:solidFill>
              <a:srgbClr val="8DBAF6"/>
            </a:solidFill>
            <a:prstDash val="solid"/>
          </a:ln>
        </p:spPr>
      </p:sp>
      <p:sp>
        <p:nvSpPr>
          <p:cNvPr id="8" name="Text 6"/>
          <p:cNvSpPr/>
          <p:nvPr/>
        </p:nvSpPr>
        <p:spPr>
          <a:xfrm>
            <a:off x="4402634" y="267593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SHIFT 2 · INTERACTION</a:t>
            </a:r>
            <a:endParaRPr lang="en-US" sz="1200" dirty="0"/>
          </a:p>
        </p:txBody>
      </p:sp>
      <p:sp>
        <p:nvSpPr>
          <p:cNvPr id="9" name="Text 7"/>
          <p:cNvSpPr/>
          <p:nvPr/>
        </p:nvSpPr>
        <p:spPr>
          <a:xfrm>
            <a:off x="4402634" y="2990850"/>
            <a:ext cx="34882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Chat becomes the interface</a:t>
            </a:r>
            <a:endParaRPr lang="en-US" sz="2400" dirty="0"/>
          </a:p>
        </p:txBody>
      </p:sp>
      <p:sp>
        <p:nvSpPr>
          <p:cNvPr id="10" name="Shape 8"/>
          <p:cNvSpPr/>
          <p:nvPr/>
        </p:nvSpPr>
        <p:spPr>
          <a:xfrm>
            <a:off x="7992517" y="2517180"/>
            <a:ext cx="3386683" cy="0"/>
          </a:xfrm>
          <a:prstGeom prst="line">
            <a:avLst/>
          </a:prstGeom>
          <a:noFill/>
          <a:ln w="12700">
            <a:solidFill>
              <a:srgbClr val="7FD9C4"/>
            </a:solidFill>
            <a:prstDash val="solid"/>
          </a:ln>
        </p:spPr>
      </p:sp>
      <p:sp>
        <p:nvSpPr>
          <p:cNvPr id="11" name="Text 9"/>
          <p:cNvSpPr/>
          <p:nvPr/>
        </p:nvSpPr>
        <p:spPr>
          <a:xfrm>
            <a:off x="7992517" y="267593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SHIFT 3 · WORK</a:t>
            </a:r>
            <a:endParaRPr lang="en-US" sz="1200" dirty="0"/>
          </a:p>
        </p:txBody>
      </p:sp>
      <p:sp>
        <p:nvSpPr>
          <p:cNvPr id="12" name="Text 10"/>
          <p:cNvSpPr/>
          <p:nvPr/>
        </p:nvSpPr>
        <p:spPr>
          <a:xfrm>
            <a:off x="7992517" y="2990850"/>
            <a:ext cx="34882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Tools redraw how we work</a:t>
            </a:r>
            <a:endParaRPr lang="en-US" sz="2400" dirty="0"/>
          </a:p>
        </p:txBody>
      </p:sp>
      <p:sp>
        <p:nvSpPr>
          <p:cNvPr id="13" name="Shape 11"/>
          <p:cNvSpPr/>
          <p:nvPr/>
        </p:nvSpPr>
        <p:spPr>
          <a:xfrm>
            <a:off x="812800" y="4578350"/>
            <a:ext cx="10566400" cy="0"/>
          </a:xfrm>
          <a:prstGeom prst="line">
            <a:avLst/>
          </a:prstGeom>
          <a:noFill/>
          <a:ln w="12700">
            <a:solidFill>
              <a:srgbClr val="FF6A4D"/>
            </a:solidFill>
            <a:prstDash val="solid"/>
          </a:ln>
        </p:spPr>
      </p:sp>
      <p:sp>
        <p:nvSpPr>
          <p:cNvPr id="14" name="Text 12"/>
          <p:cNvSpPr/>
          <p:nvPr/>
        </p:nvSpPr>
        <p:spPr>
          <a:xfrm>
            <a:off x="812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ROOT CAUSE</a:t>
            </a:r>
            <a:endParaRPr lang="en-US" sz="1200" dirty="0"/>
          </a:p>
        </p:txBody>
      </p:sp>
      <p:sp>
        <p:nvSpPr>
          <p:cNvPr id="15" name="Text 13"/>
          <p:cNvSpPr/>
          <p:nvPr/>
        </p:nvSpPr>
        <p:spPr>
          <a:xfrm>
            <a:off x="3276600" y="4737100"/>
            <a:ext cx="8345678"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UX adopted HCI's methods without its rigour.</a:t>
            </a:r>
            <a:endParaRPr lang="en-US" sz="2000" dirty="0"/>
          </a:p>
        </p:txBody>
      </p:sp>
      <p:sp>
        <p:nvSpPr>
          <p:cNvPr id="16" name="Shape 14"/>
          <p:cNvSpPr/>
          <p:nvPr/>
        </p:nvSpPr>
        <p:spPr>
          <a:xfrm>
            <a:off x="812800" y="5213350"/>
            <a:ext cx="10566400" cy="0"/>
          </a:xfrm>
          <a:prstGeom prst="line">
            <a:avLst/>
          </a:prstGeom>
          <a:noFill/>
          <a:ln w="12700">
            <a:solidFill>
              <a:srgbClr val="E8BD78"/>
            </a:solidFill>
            <a:prstDash val="solid"/>
          </a:ln>
        </p:spPr>
      </p:sp>
      <p:sp>
        <p:nvSpPr>
          <p:cNvPr id="17" name="Text 15"/>
          <p:cNvSpPr/>
          <p:nvPr/>
        </p:nvSpPr>
        <p:spPr>
          <a:xfrm>
            <a:off x="812800" y="5461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PRESCRIPTION</a:t>
            </a:r>
            <a:endParaRPr lang="en-US" sz="1200" dirty="0"/>
          </a:p>
        </p:txBody>
      </p:sp>
      <p:sp>
        <p:nvSpPr>
          <p:cNvPr id="18" name="Text 16"/>
          <p:cNvSpPr/>
          <p:nvPr/>
        </p:nvSpPr>
        <p:spPr>
          <a:xfrm>
            <a:off x="3276600" y="5372100"/>
            <a:ext cx="8345678"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Reconnect. Redefine. Lean into craft and humanity.</a:t>
            </a:r>
            <a:endParaRPr lang="en-US" sz="20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ACT IV — WHAT TO DO NOW</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Three moves</a:t>
            </a:r>
            <a:endParaRPr lang="en-US" sz="3600" dirty="0"/>
          </a:p>
        </p:txBody>
      </p:sp>
      <p:sp>
        <p:nvSpPr>
          <p:cNvPr id="4" name="Shape 2"/>
          <p:cNvSpPr/>
          <p:nvPr/>
        </p:nvSpPr>
        <p:spPr>
          <a:xfrm>
            <a:off x="812800" y="1941761"/>
            <a:ext cx="3318917" cy="0"/>
          </a:xfrm>
          <a:prstGeom prst="line">
            <a:avLst/>
          </a:prstGeom>
          <a:noFill/>
          <a:ln w="12700">
            <a:solidFill>
              <a:srgbClr val="B7ADFF"/>
            </a:solidFill>
            <a:prstDash val="solid"/>
          </a:ln>
        </p:spPr>
      </p:sp>
      <p:sp>
        <p:nvSpPr>
          <p:cNvPr id="5" name="Text 3"/>
          <p:cNvSpPr/>
          <p:nvPr/>
        </p:nvSpPr>
        <p:spPr>
          <a:xfrm>
            <a:off x="812800" y="2151311"/>
            <a:ext cx="3418484"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B7ADFF"/>
                </a:solidFill>
                <a:latin typeface="JetBrains Mono" pitchFamily="49" charset="0"/>
                <a:ea typeface="JetBrains Mono" pitchFamily="49" charset="-122"/>
                <a:cs typeface="JetBrains Mono" pitchFamily="49" charset="-120"/>
              </a:rPr>
              <a:t>Reconnect</a:t>
            </a:r>
            <a:endParaRPr lang="en-US" sz="3200" dirty="0"/>
          </a:p>
        </p:txBody>
      </p:sp>
      <p:sp>
        <p:nvSpPr>
          <p:cNvPr id="6" name="Text 4"/>
          <p:cNvSpPr/>
          <p:nvPr/>
        </p:nvSpPr>
        <p:spPr>
          <a:xfrm>
            <a:off x="812800" y="2755801"/>
            <a:ext cx="3418484" cy="173216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Read the lineage: CASA, ELIZA, direct manipulation, Abbott, Shneiderman, Gabriel. Engage with ImpactBench and the CHI harms work.</a:t>
            </a:r>
            <a:endParaRPr lang="en-US" sz="1600" dirty="0"/>
          </a:p>
        </p:txBody>
      </p:sp>
      <p:sp>
        <p:nvSpPr>
          <p:cNvPr id="7" name="Shape 5"/>
          <p:cNvSpPr/>
          <p:nvPr/>
        </p:nvSpPr>
        <p:spPr>
          <a:xfrm>
            <a:off x="4436517" y="1941761"/>
            <a:ext cx="3318966" cy="0"/>
          </a:xfrm>
          <a:prstGeom prst="line">
            <a:avLst/>
          </a:prstGeom>
          <a:noFill/>
          <a:ln w="12700">
            <a:solidFill>
              <a:srgbClr val="8DBAF6"/>
            </a:solidFill>
            <a:prstDash val="solid"/>
          </a:ln>
        </p:spPr>
      </p:sp>
      <p:sp>
        <p:nvSpPr>
          <p:cNvPr id="8" name="Text 6"/>
          <p:cNvSpPr/>
          <p:nvPr/>
        </p:nvSpPr>
        <p:spPr>
          <a:xfrm>
            <a:off x="4436517" y="2151311"/>
            <a:ext cx="3418535"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8DBAF6"/>
                </a:solidFill>
                <a:latin typeface="JetBrains Mono" pitchFamily="49" charset="0"/>
                <a:ea typeface="JetBrains Mono" pitchFamily="49" charset="-122"/>
                <a:cs typeface="JetBrains Mono" pitchFamily="49" charset="-120"/>
              </a:rPr>
              <a:t>Redefine</a:t>
            </a:r>
            <a:endParaRPr lang="en-US" sz="3200" dirty="0"/>
          </a:p>
        </p:txBody>
      </p:sp>
      <p:sp>
        <p:nvSpPr>
          <p:cNvPr id="9" name="Text 7"/>
          <p:cNvSpPr/>
          <p:nvPr/>
        </p:nvSpPr>
        <p:spPr>
          <a:xfrm>
            <a:off x="4436517" y="2755801"/>
            <a:ext cx="3418535" cy="173216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New metrics and failure states. Prompts as interaction specs. Trust calibration as an outcome. Deep research as infrastructure.</a:t>
            </a:r>
            <a:endParaRPr lang="en-US" sz="1600" dirty="0"/>
          </a:p>
        </p:txBody>
      </p:sp>
      <p:sp>
        <p:nvSpPr>
          <p:cNvPr id="10" name="Shape 8"/>
          <p:cNvSpPr/>
          <p:nvPr/>
        </p:nvSpPr>
        <p:spPr>
          <a:xfrm>
            <a:off x="8060283" y="1941761"/>
            <a:ext cx="3318917" cy="0"/>
          </a:xfrm>
          <a:prstGeom prst="line">
            <a:avLst/>
          </a:prstGeom>
          <a:noFill/>
          <a:ln w="12700">
            <a:solidFill>
              <a:srgbClr val="E8BD78"/>
            </a:solidFill>
            <a:prstDash val="solid"/>
          </a:ln>
        </p:spPr>
      </p:sp>
      <p:sp>
        <p:nvSpPr>
          <p:cNvPr id="11" name="Text 9"/>
          <p:cNvSpPr/>
          <p:nvPr/>
        </p:nvSpPr>
        <p:spPr>
          <a:xfrm>
            <a:off x="8060283" y="2151311"/>
            <a:ext cx="3418484" cy="87878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E8BD78"/>
                </a:solidFill>
                <a:latin typeface="JetBrains Mono" pitchFamily="49" charset="0"/>
                <a:ea typeface="JetBrains Mono" pitchFamily="49" charset="-122"/>
                <a:cs typeface="JetBrains Mono" pitchFamily="49" charset="-120"/>
              </a:rPr>
              <a:t>Lean into craft</a:t>
            </a:r>
            <a:endParaRPr lang="en-US" sz="3200" dirty="0"/>
          </a:p>
        </p:txBody>
      </p:sp>
      <p:sp>
        <p:nvSpPr>
          <p:cNvPr id="12" name="Text 10"/>
          <p:cNvSpPr/>
          <p:nvPr/>
        </p:nvSpPr>
        <p:spPr>
          <a:xfrm>
            <a:off x="8060283" y="3182491"/>
            <a:ext cx="341848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Observe, listen, judge. Decide what you want AI to do, then build it.</a:t>
            </a:r>
            <a:endParaRPr lang="en-US" sz="1600" dirty="0"/>
          </a:p>
        </p:txBody>
      </p:sp>
      <p:sp>
        <p:nvSpPr>
          <p:cNvPr id="13" name="Text 1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4" name="Text 12"/>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BLACK MIRROR EFFECT</a:t>
            </a:r>
            <a:endParaRPr lang="en-US" sz="1200" dirty="0"/>
          </a:p>
        </p:txBody>
      </p:sp>
      <p:sp>
        <p:nvSpPr>
          <p:cNvPr id="3" name="Text 1"/>
          <p:cNvSpPr/>
          <p:nvPr>
            <p:ph type="title"/>
          </p:nvPr>
        </p:nvSpPr>
        <p:spPr>
          <a:xfrm>
            <a:off x="812800" y="112772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F2F1EC"/>
                </a:solidFill>
                <a:latin typeface="JetBrains Mono" pitchFamily="49" charset="0"/>
                <a:ea typeface="JetBrains Mono" pitchFamily="49" charset="-122"/>
                <a:cs typeface="JetBrains Mono" pitchFamily="49" charset="-120"/>
              </a:rPr>
              <a:t>Fiction warns.</a:t>
            </a:r>
            <a:endParaRPr lang="en-US" sz="4400" dirty="0"/>
          </a:p>
          <a:p>
            <a:pPr algn="l" indent="0" marL="0">
              <a:lnSpc>
                <a:spcPts val="4840"/>
              </a:lnSpc>
              <a:buNone/>
            </a:pPr>
            <a:r>
              <a:rPr lang="en-US" sz="4400" b="0" i="0" spc="-100" kern="0" dirty="0">
                <a:solidFill>
                  <a:srgbClr val="8A8985"/>
                </a:solidFill>
                <a:latin typeface="JetBrains Mono" pitchFamily="49" charset="0"/>
                <a:ea typeface="JetBrains Mono" pitchFamily="49" charset="-122"/>
                <a:cs typeface="JetBrains Mono" pitchFamily="49" charset="-120"/>
              </a:rPr>
              <a:t>Technology builds.</a:t>
            </a:r>
            <a:endParaRPr lang="en-US" sz="4400" dirty="0"/>
          </a:p>
        </p:txBody>
      </p:sp>
      <p:sp>
        <p:nvSpPr>
          <p:cNvPr id="4" name="Shape 2"/>
          <p:cNvSpPr/>
          <p:nvPr/>
        </p:nvSpPr>
        <p:spPr>
          <a:xfrm>
            <a:off x="812800" y="4194969"/>
            <a:ext cx="3196580" cy="0"/>
          </a:xfrm>
          <a:prstGeom prst="line">
            <a:avLst/>
          </a:prstGeom>
          <a:noFill/>
          <a:ln w="12700">
            <a:solidFill>
              <a:srgbClr val="FF6A4D"/>
            </a:solidFill>
            <a:prstDash val="solid"/>
          </a:ln>
        </p:spPr>
      </p:sp>
      <p:sp>
        <p:nvSpPr>
          <p:cNvPr id="5" name="Text 3"/>
          <p:cNvSpPr/>
          <p:nvPr/>
        </p:nvSpPr>
        <p:spPr>
          <a:xfrm>
            <a:off x="812800" y="4404519"/>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01 · FICTION</a:t>
            </a:r>
            <a:endParaRPr lang="en-US" sz="1200" dirty="0"/>
          </a:p>
        </p:txBody>
      </p:sp>
      <p:sp>
        <p:nvSpPr>
          <p:cNvPr id="6" name="Text 4"/>
          <p:cNvSpPr/>
          <p:nvPr/>
        </p:nvSpPr>
        <p:spPr>
          <a:xfrm>
            <a:off x="812800" y="4744839"/>
            <a:ext cx="3292477"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Raises a red flag</a:t>
            </a:r>
            <a:endParaRPr lang="en-US" sz="2400" dirty="0"/>
          </a:p>
        </p:txBody>
      </p:sp>
      <p:sp>
        <p:nvSpPr>
          <p:cNvPr id="7" name="Text 5"/>
          <p:cNvSpPr/>
          <p:nvPr/>
        </p:nvSpPr>
        <p:spPr>
          <a:xfrm>
            <a:off x="4161780" y="4595019"/>
            <a:ext cx="234305" cy="127238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8" name="Shape 6"/>
          <p:cNvSpPr/>
          <p:nvPr/>
        </p:nvSpPr>
        <p:spPr>
          <a:xfrm>
            <a:off x="4497685" y="4194969"/>
            <a:ext cx="3196630" cy="0"/>
          </a:xfrm>
          <a:prstGeom prst="line">
            <a:avLst/>
          </a:prstGeom>
          <a:noFill/>
          <a:ln w="12700">
            <a:solidFill>
              <a:srgbClr val="F2F1EC"/>
            </a:solidFill>
            <a:prstDash val="solid"/>
          </a:ln>
        </p:spPr>
      </p:sp>
      <p:sp>
        <p:nvSpPr>
          <p:cNvPr id="9" name="Text 7"/>
          <p:cNvSpPr/>
          <p:nvPr/>
        </p:nvSpPr>
        <p:spPr>
          <a:xfrm>
            <a:off x="4497685" y="4404519"/>
            <a:ext cx="32925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02 · BUILDERS</a:t>
            </a:r>
            <a:endParaRPr lang="en-US" sz="1200" dirty="0"/>
          </a:p>
        </p:txBody>
      </p:sp>
      <p:sp>
        <p:nvSpPr>
          <p:cNvPr id="10" name="Text 8"/>
          <p:cNvSpPr/>
          <p:nvPr/>
        </p:nvSpPr>
        <p:spPr>
          <a:xfrm>
            <a:off x="4497685" y="4744839"/>
            <a:ext cx="329252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Read it as a brief</a:t>
            </a:r>
            <a:endParaRPr lang="en-US" sz="2400" dirty="0"/>
          </a:p>
        </p:txBody>
      </p:sp>
      <p:sp>
        <p:nvSpPr>
          <p:cNvPr id="11" name="Text 9"/>
          <p:cNvSpPr/>
          <p:nvPr/>
        </p:nvSpPr>
        <p:spPr>
          <a:xfrm>
            <a:off x="7846715" y="4595019"/>
            <a:ext cx="234305" cy="127238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12" name="Shape 10"/>
          <p:cNvSpPr/>
          <p:nvPr/>
        </p:nvSpPr>
        <p:spPr>
          <a:xfrm>
            <a:off x="8182620" y="4194969"/>
            <a:ext cx="3196580" cy="0"/>
          </a:xfrm>
          <a:prstGeom prst="line">
            <a:avLst/>
          </a:prstGeom>
          <a:noFill/>
          <a:ln w="12700">
            <a:solidFill>
              <a:srgbClr val="E8BD78"/>
            </a:solidFill>
            <a:prstDash val="solid"/>
          </a:ln>
        </p:spPr>
      </p:sp>
      <p:sp>
        <p:nvSpPr>
          <p:cNvPr id="13" name="Text 11"/>
          <p:cNvSpPr/>
          <p:nvPr/>
        </p:nvSpPr>
        <p:spPr>
          <a:xfrm>
            <a:off x="8182620" y="4404519"/>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03 · PRODUCTS</a:t>
            </a:r>
            <a:endParaRPr lang="en-US" sz="1200" dirty="0"/>
          </a:p>
        </p:txBody>
      </p:sp>
      <p:sp>
        <p:nvSpPr>
          <p:cNvPr id="14" name="Text 12"/>
          <p:cNvSpPr/>
          <p:nvPr/>
        </p:nvSpPr>
        <p:spPr>
          <a:xfrm>
            <a:off x="8182620" y="4744839"/>
            <a:ext cx="3292477" cy="112256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The warning becomes a north star</a:t>
            </a:r>
            <a:endParaRPr lang="en-US" sz="24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6" name="Text 1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BACKUP</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THREE OBSERVATIONS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What we're seeing right now</a:t>
            </a:r>
            <a:endParaRPr lang="en-US" sz="3600" dirty="0"/>
          </a:p>
        </p:txBody>
      </p:sp>
      <p:sp>
        <p:nvSpPr>
          <p:cNvPr id="4" name="Text 2"/>
          <p:cNvSpPr/>
          <p:nvPr/>
        </p:nvSpPr>
        <p:spPr>
          <a:xfrm>
            <a:off x="812800" y="3554809"/>
            <a:ext cx="3418484"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B7ADFF"/>
                </a:solidFill>
                <a:latin typeface="JetBrains Mono" pitchFamily="49" charset="0"/>
                <a:ea typeface="JetBrains Mono" pitchFamily="49" charset="-122"/>
                <a:cs typeface="JetBrains Mono" pitchFamily="49" charset="-120"/>
              </a:rPr>
              <a:t>01</a:t>
            </a:r>
            <a:endParaRPr lang="en-US" sz="7200" dirty="0"/>
          </a:p>
        </p:txBody>
      </p:sp>
      <p:sp>
        <p:nvSpPr>
          <p:cNvPr id="5" name="Shape 3"/>
          <p:cNvSpPr/>
          <p:nvPr/>
        </p:nvSpPr>
        <p:spPr>
          <a:xfrm>
            <a:off x="812800" y="4599384"/>
            <a:ext cx="3318917" cy="0"/>
          </a:xfrm>
          <a:prstGeom prst="line">
            <a:avLst/>
          </a:prstGeom>
          <a:noFill/>
          <a:ln w="6350">
            <a:solidFill>
              <a:srgbClr val="2A2A28"/>
            </a:solidFill>
            <a:prstDash val="solid"/>
          </a:ln>
        </p:spPr>
      </p:sp>
      <p:sp>
        <p:nvSpPr>
          <p:cNvPr id="6" name="Text 4"/>
          <p:cNvSpPr/>
          <p:nvPr/>
        </p:nvSpPr>
        <p:spPr>
          <a:xfrm>
            <a:off x="812800" y="4754959"/>
            <a:ext cx="3418484"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AI gets a body</a:t>
            </a:r>
            <a:endParaRPr lang="en-US" sz="2400" dirty="0"/>
          </a:p>
        </p:txBody>
      </p:sp>
      <p:sp>
        <p:nvSpPr>
          <p:cNvPr id="7" name="Text 5"/>
          <p:cNvSpPr/>
          <p:nvPr/>
        </p:nvSpPr>
        <p:spPr>
          <a:xfrm>
            <a:off x="812800" y="5207050"/>
            <a:ext cx="341848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Anthropomorphism</a:t>
            </a:r>
            <a:endParaRPr lang="en-US" sz="1600" dirty="0"/>
          </a:p>
        </p:txBody>
      </p:sp>
      <p:sp>
        <p:nvSpPr>
          <p:cNvPr id="8" name="Text 6"/>
          <p:cNvSpPr/>
          <p:nvPr/>
        </p:nvSpPr>
        <p:spPr>
          <a:xfrm>
            <a:off x="4436517" y="3554809"/>
            <a:ext cx="3418535"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8DBAF6"/>
                </a:solidFill>
                <a:latin typeface="JetBrains Mono" pitchFamily="49" charset="0"/>
                <a:ea typeface="JetBrains Mono" pitchFamily="49" charset="-122"/>
                <a:cs typeface="JetBrains Mono" pitchFamily="49" charset="-120"/>
              </a:rPr>
              <a:t>02</a:t>
            </a:r>
            <a:endParaRPr lang="en-US" sz="7200" dirty="0"/>
          </a:p>
        </p:txBody>
      </p:sp>
      <p:sp>
        <p:nvSpPr>
          <p:cNvPr id="9" name="Shape 7"/>
          <p:cNvSpPr/>
          <p:nvPr/>
        </p:nvSpPr>
        <p:spPr>
          <a:xfrm>
            <a:off x="4436517" y="4599384"/>
            <a:ext cx="3318966" cy="0"/>
          </a:xfrm>
          <a:prstGeom prst="line">
            <a:avLst/>
          </a:prstGeom>
          <a:noFill/>
          <a:ln w="6350">
            <a:solidFill>
              <a:srgbClr val="2A2A28"/>
            </a:solidFill>
            <a:prstDash val="solid"/>
          </a:ln>
        </p:spPr>
      </p:sp>
      <p:sp>
        <p:nvSpPr>
          <p:cNvPr id="10" name="Text 8"/>
          <p:cNvSpPr/>
          <p:nvPr/>
        </p:nvSpPr>
        <p:spPr>
          <a:xfrm>
            <a:off x="4436517" y="4754959"/>
            <a:ext cx="3418535"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Chat becomes the interface</a:t>
            </a:r>
            <a:endParaRPr lang="en-US" sz="2400" dirty="0"/>
          </a:p>
        </p:txBody>
      </p:sp>
      <p:sp>
        <p:nvSpPr>
          <p:cNvPr id="11" name="Text 9"/>
          <p:cNvSpPr/>
          <p:nvPr/>
        </p:nvSpPr>
        <p:spPr>
          <a:xfrm>
            <a:off x="4436517" y="5557540"/>
            <a:ext cx="341853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Conversational UX</a:t>
            </a:r>
            <a:endParaRPr lang="en-US" sz="1600" dirty="0"/>
          </a:p>
        </p:txBody>
      </p:sp>
      <p:sp>
        <p:nvSpPr>
          <p:cNvPr id="12" name="Text 10"/>
          <p:cNvSpPr/>
          <p:nvPr/>
        </p:nvSpPr>
        <p:spPr>
          <a:xfrm>
            <a:off x="8060283" y="3554809"/>
            <a:ext cx="3418484"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7FD9C4"/>
                </a:solidFill>
                <a:latin typeface="JetBrains Mono" pitchFamily="49" charset="0"/>
                <a:ea typeface="JetBrains Mono" pitchFamily="49" charset="-122"/>
                <a:cs typeface="JetBrains Mono" pitchFamily="49" charset="-120"/>
              </a:rPr>
              <a:t>03</a:t>
            </a:r>
            <a:endParaRPr lang="en-US" sz="7200" dirty="0"/>
          </a:p>
        </p:txBody>
      </p:sp>
      <p:sp>
        <p:nvSpPr>
          <p:cNvPr id="13" name="Shape 11"/>
          <p:cNvSpPr/>
          <p:nvPr/>
        </p:nvSpPr>
        <p:spPr>
          <a:xfrm>
            <a:off x="8060283" y="4599384"/>
            <a:ext cx="3318917" cy="0"/>
          </a:xfrm>
          <a:prstGeom prst="line">
            <a:avLst/>
          </a:prstGeom>
          <a:noFill/>
          <a:ln w="6350">
            <a:solidFill>
              <a:srgbClr val="2A2A28"/>
            </a:solidFill>
            <a:prstDash val="solid"/>
          </a:ln>
        </p:spPr>
      </p:sp>
      <p:sp>
        <p:nvSpPr>
          <p:cNvPr id="14" name="Text 12"/>
          <p:cNvSpPr/>
          <p:nvPr/>
        </p:nvSpPr>
        <p:spPr>
          <a:xfrm>
            <a:off x="8060283" y="4754959"/>
            <a:ext cx="34184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Tools reshape how we relate</a:t>
            </a:r>
            <a:endParaRPr lang="en-US" sz="2400" dirty="0"/>
          </a:p>
        </p:txBody>
      </p:sp>
      <p:sp>
        <p:nvSpPr>
          <p:cNvPr id="15" name="Text 13"/>
          <p:cNvSpPr/>
          <p:nvPr/>
        </p:nvSpPr>
        <p:spPr>
          <a:xfrm>
            <a:off x="8060283" y="5557540"/>
            <a:ext cx="341848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Tools and social dynamics</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BACKUP</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03 — TOOLS AND SOCIAL DYNAMICS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Tools mediate how we relate</a:t>
            </a:r>
            <a:endParaRPr lang="en-US" sz="3600" dirty="0"/>
          </a:p>
        </p:txBody>
      </p:sp>
      <p:sp>
        <p:nvSpPr>
          <p:cNvPr id="4" name="Text 2"/>
          <p:cNvSpPr/>
          <p:nvPr/>
        </p:nvSpPr>
        <p:spPr>
          <a:xfrm>
            <a:off x="812800" y="2151360"/>
            <a:ext cx="10883392"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8A8985"/>
                </a:solidFill>
                <a:latin typeface="JetBrains Mono" pitchFamily="49" charset="0"/>
                <a:ea typeface="JetBrains Mono" pitchFamily="49" charset="-122"/>
                <a:cs typeface="JetBrains Mono" pitchFamily="49" charset="-120"/>
              </a:rPr>
              <a:t>Zoom · Slack · Google Docs · Figma</a:t>
            </a:r>
            <a:endParaRPr lang="en-US" sz="2400" dirty="0"/>
          </a:p>
        </p:txBody>
      </p:sp>
      <p:sp>
        <p:nvSpPr>
          <p:cNvPr id="5" name="Shape 3"/>
          <p:cNvSpPr/>
          <p:nvPr/>
        </p:nvSpPr>
        <p:spPr>
          <a:xfrm>
            <a:off x="815975" y="3041005"/>
            <a:ext cx="5175250" cy="1896070"/>
          </a:xfrm>
          <a:prstGeom prst="roundRect">
            <a:avLst>
              <a:gd name="adj" fmla="val 2512"/>
            </a:avLst>
          </a:prstGeom>
          <a:noFill/>
          <a:ln w="6350">
            <a:solidFill>
              <a:srgbClr val="33332F"/>
            </a:solidFill>
            <a:prstDash val="solid"/>
          </a:ln>
        </p:spPr>
      </p:sp>
      <p:sp>
        <p:nvSpPr>
          <p:cNvPr id="6" name="Text 4"/>
          <p:cNvSpPr/>
          <p:nvPr/>
        </p:nvSpPr>
        <p:spPr>
          <a:xfrm>
            <a:off x="1098550" y="332358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SUBSTITUTION</a:t>
            </a:r>
            <a:endParaRPr lang="en-US" sz="1200" dirty="0"/>
          </a:p>
        </p:txBody>
      </p:sp>
      <p:sp>
        <p:nvSpPr>
          <p:cNvPr id="7" name="Text 5"/>
          <p:cNvSpPr/>
          <p:nvPr/>
        </p:nvSpPr>
        <p:spPr>
          <a:xfrm>
            <a:off x="1098550" y="3663900"/>
            <a:ext cx="4748403"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Tools stand in for what we used to rely on each other for.</a:t>
            </a:r>
            <a:endParaRPr lang="en-US" sz="2000" dirty="0"/>
          </a:p>
        </p:txBody>
      </p:sp>
      <p:sp>
        <p:nvSpPr>
          <p:cNvPr id="8" name="Shape 6"/>
          <p:cNvSpPr/>
          <p:nvPr/>
        </p:nvSpPr>
        <p:spPr>
          <a:xfrm>
            <a:off x="6200775" y="3041005"/>
            <a:ext cx="5175250" cy="1896070"/>
          </a:xfrm>
          <a:prstGeom prst="roundRect">
            <a:avLst>
              <a:gd name="adj" fmla="val 2512"/>
            </a:avLst>
          </a:prstGeom>
          <a:noFill/>
          <a:ln w="6350">
            <a:solidFill>
              <a:srgbClr val="33332F"/>
            </a:solidFill>
            <a:prstDash val="solid"/>
          </a:ln>
        </p:spPr>
      </p:sp>
      <p:sp>
        <p:nvSpPr>
          <p:cNvPr id="9" name="Text 7"/>
          <p:cNvSpPr/>
          <p:nvPr/>
        </p:nvSpPr>
        <p:spPr>
          <a:xfrm>
            <a:off x="6483350" y="332358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FRICTION</a:t>
            </a:r>
            <a:endParaRPr lang="en-US" sz="1200" dirty="0"/>
          </a:p>
        </p:txBody>
      </p:sp>
      <p:sp>
        <p:nvSpPr>
          <p:cNvPr id="10" name="Text 8"/>
          <p:cNvSpPr/>
          <p:nvPr/>
        </p:nvSpPr>
        <p:spPr>
          <a:xfrm>
            <a:off x="6483350" y="3663900"/>
            <a:ext cx="4748403"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Tools add confusion and disharmony between people.</a:t>
            </a:r>
            <a:endParaRPr lang="en-US" sz="2000" dirty="0"/>
          </a:p>
        </p:txBody>
      </p:sp>
      <p:sp>
        <p:nvSpPr>
          <p:cNvPr id="11" name="Text 9"/>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The trend: more distance between people.</a:t>
            </a:r>
            <a:endParaRPr lang="en-US" sz="2400" dirty="0"/>
          </a:p>
        </p:txBody>
      </p:sp>
      <p:sp>
        <p:nvSpPr>
          <p:cNvPr id="12" name="Text 1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3" name="Text 1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BACKUP</a:t>
            </a:r>
            <a:endParaRPr lang="en-US" sz="1200" dirty="0"/>
          </a:p>
        </p:txBody>
      </p:sp>
    </p:spTree>
  </p:cSld>
  <p:clrMapOvr>
    <a:masterClrMapping/>
  </p:clrMapOvr>
</p:sld>
</file>

<file path=ppt/theme/theme1.xml><?xml version="1.0" encoding="utf-8"?>
<a:theme xmlns:a="http://schemas.openxmlformats.org/drawingml/2006/main" name="Design Research in the Age of AI">
  <a:themeElements>
    <a:clrScheme name="Design Research in the Age of AI">
      <a:dk1>
        <a:srgbClr val="0B0B0A"/>
      </a:dk1>
      <a:lt1>
        <a:srgbClr val="F2F1EC"/>
      </a:lt1>
      <a:dk2>
        <a:srgbClr val="222221"/>
      </a:dk2>
      <a:lt2>
        <a:srgbClr val="B8B8B4"/>
      </a:lt2>
      <a:accent1>
        <a:srgbClr val="E8BD78"/>
      </a:accent1>
      <a:accent2>
        <a:srgbClr val="7FD9C4"/>
      </a:accent2>
      <a:accent3>
        <a:srgbClr val="B7ADFF"/>
      </a:accent3>
      <a:accent4>
        <a:srgbClr val="FF6A4D"/>
      </a:accent4>
      <a:accent5>
        <a:srgbClr val="8DBAF6"/>
      </a:accent5>
      <a:accent6>
        <a:srgbClr val="CFE07E"/>
      </a:accent6>
      <a:hlink>
        <a:srgbClr val="0563C1"/>
      </a:hlink>
      <a:folHlink>
        <a:srgbClr val="954F72"/>
      </a:folHlink>
    </a:clrScheme>
    <a:fontScheme name="Design Research in the Age of AI">
      <a:majorFont>
        <a:latin typeface="JetBrains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82</Slides>
  <Notes>82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Research in the Age of AI</dc:title>
  <dc:subject/>
  <dc:creator/>
  <cp:lastModifiedBy/>
  <cp:revision>1</cp:revision>
  <dcterms:created xsi:type="dcterms:W3CDTF">2026-10-20T04:18:58Z</dcterms:created>
  <dcterms:modified xsi:type="dcterms:W3CDTF">2026-10-20T04:18:58Z</dcterms:modified>
</cp:coreProperties>
</file>